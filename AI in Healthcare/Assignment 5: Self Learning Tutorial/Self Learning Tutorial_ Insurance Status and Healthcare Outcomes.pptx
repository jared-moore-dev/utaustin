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Nunito"/>
      <p:regular r:id="rId25"/>
      <p:bold r:id="rId26"/>
      <p:italic r:id="rId27"/>
      <p:boldItalic r:id="rId28"/>
    </p:embeddedFont>
    <p:embeddedFont>
      <p:font typeface="Maven Pro"/>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fntdata"/><Relationship Id="rId25" Type="http://schemas.openxmlformats.org/officeDocument/2006/relationships/font" Target="fonts/Nunito-regular.fntdata"/><Relationship Id="rId28" Type="http://schemas.openxmlformats.org/officeDocument/2006/relationships/font" Target="fonts/Nunito-boldItalic.fntdata"/><Relationship Id="rId27"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avenPro-regular.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MavenPro-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https://github.com/jared-moore-dev/UTAUSTIN/blob/main/AI%20in%20Healthcare/Assignment%205%3A%20Self%20Learning%20Tutorial/SLT.ipynb</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4153f55a2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4153f55a2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This slide outlines the key sections of this tutorial.</a:t>
            </a:r>
            <a:endParaRPr/>
          </a:p>
          <a:p>
            <a:pPr indent="-298450" lvl="0" marL="457200" rtl="0" algn="l">
              <a:lnSpc>
                <a:spcPct val="115000"/>
              </a:lnSpc>
              <a:spcBef>
                <a:spcPts val="0"/>
              </a:spcBef>
              <a:spcAft>
                <a:spcPts val="0"/>
              </a:spcAft>
              <a:buClr>
                <a:schemeClr val="dk1"/>
              </a:buClr>
              <a:buSzPts val="1100"/>
              <a:buChar char="●"/>
            </a:pPr>
            <a:r>
              <a:rPr lang="en"/>
              <a:t>We will start with an introduction, covering motivation and project goals.</a:t>
            </a:r>
            <a:endParaRPr/>
          </a:p>
          <a:p>
            <a:pPr indent="-298450" lvl="0" marL="457200" rtl="0" algn="l">
              <a:lnSpc>
                <a:spcPct val="115000"/>
              </a:lnSpc>
              <a:spcBef>
                <a:spcPts val="0"/>
              </a:spcBef>
              <a:spcAft>
                <a:spcPts val="0"/>
              </a:spcAft>
              <a:buClr>
                <a:schemeClr val="dk1"/>
              </a:buClr>
              <a:buSzPts val="1100"/>
              <a:buChar char="●"/>
            </a:pPr>
            <a:r>
              <a:rPr lang="en"/>
              <a:t>Then, we move on to data preparation, exploratory analysis, feature engineering, and specific analyses.</a:t>
            </a:r>
            <a:endParaRPr/>
          </a:p>
          <a:p>
            <a:pPr indent="-298450" lvl="0" marL="457200" rtl="0" algn="l">
              <a:lnSpc>
                <a:spcPct val="115000"/>
              </a:lnSpc>
              <a:spcBef>
                <a:spcPts val="0"/>
              </a:spcBef>
              <a:spcAft>
                <a:spcPts val="0"/>
              </a:spcAft>
              <a:buClr>
                <a:schemeClr val="dk1"/>
              </a:buClr>
              <a:buSzPts val="1100"/>
              <a:buChar char="●"/>
            </a:pPr>
            <a:r>
              <a:rPr lang="en"/>
              <a:t>We’ll cover predictive modeling, PCA, T-SNE, SHAP values, survival analysis, and clustering.</a:t>
            </a:r>
            <a:endParaRPr/>
          </a:p>
          <a:p>
            <a:pPr indent="-298450" lvl="0" marL="457200" rtl="0" algn="l">
              <a:lnSpc>
                <a:spcPct val="115000"/>
              </a:lnSpc>
              <a:spcBef>
                <a:spcPts val="0"/>
              </a:spcBef>
              <a:spcAft>
                <a:spcPts val="0"/>
              </a:spcAft>
              <a:buClr>
                <a:schemeClr val="dk1"/>
              </a:buClr>
              <a:buSzPts val="1100"/>
              <a:buChar char="●"/>
            </a:pPr>
            <a:r>
              <a:rPr lang="en"/>
              <a:t>By the end, you will have a structured approach to analyzing healthcare disparities using ML.</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4153f55a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4153f55a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I have worked in the health insurance industry since 2019, which inspired my interest in this topic.</a:t>
            </a:r>
            <a:endParaRPr/>
          </a:p>
          <a:p>
            <a:pPr indent="-298450" lvl="0" marL="457200" rtl="0" algn="l">
              <a:lnSpc>
                <a:spcPct val="115000"/>
              </a:lnSpc>
              <a:spcBef>
                <a:spcPts val="0"/>
              </a:spcBef>
              <a:spcAft>
                <a:spcPts val="0"/>
              </a:spcAft>
              <a:buClr>
                <a:schemeClr val="dk1"/>
              </a:buClr>
              <a:buSzPts val="1100"/>
              <a:buChar char="●"/>
            </a:pPr>
            <a:r>
              <a:rPr lang="en"/>
              <a:t>Many people experience frustrations with healthcare costs and accessibility in the U.S.</a:t>
            </a:r>
            <a:endParaRPr/>
          </a:p>
          <a:p>
            <a:pPr indent="-298450" lvl="0" marL="457200" rtl="0" algn="l">
              <a:lnSpc>
                <a:spcPct val="115000"/>
              </a:lnSpc>
              <a:spcBef>
                <a:spcPts val="0"/>
              </a:spcBef>
              <a:spcAft>
                <a:spcPts val="0"/>
              </a:spcAft>
              <a:buClr>
                <a:schemeClr val="dk1"/>
              </a:buClr>
              <a:buSzPts val="1100"/>
              <a:buChar char="●"/>
            </a:pPr>
            <a:r>
              <a:rPr lang="en"/>
              <a:t>This project investigates how insurance types correlate with healthcare outcomes.</a:t>
            </a:r>
            <a:endParaRPr/>
          </a:p>
          <a:p>
            <a:pPr indent="-298450" lvl="0" marL="457200" rtl="0" algn="l">
              <a:lnSpc>
                <a:spcPct val="115000"/>
              </a:lnSpc>
              <a:spcBef>
                <a:spcPts val="0"/>
              </a:spcBef>
              <a:spcAft>
                <a:spcPts val="0"/>
              </a:spcAft>
              <a:buClr>
                <a:schemeClr val="dk1"/>
              </a:buClr>
              <a:buSzPts val="1100"/>
              <a:buChar char="●"/>
            </a:pPr>
            <a:r>
              <a:rPr lang="en"/>
              <a:t>Specifically, I aim to analyze disparities in medical care standards across different insurance groups.</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4153f55a2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4153f55a2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project aims to:</a:t>
            </a:r>
            <a:endParaRPr/>
          </a:p>
          <a:p>
            <a:pPr indent="-298450" lvl="0" marL="457200" rtl="0" algn="l">
              <a:lnSpc>
                <a:spcPct val="115000"/>
              </a:lnSpc>
              <a:spcBef>
                <a:spcPts val="1200"/>
              </a:spcBef>
              <a:spcAft>
                <a:spcPts val="0"/>
              </a:spcAft>
              <a:buClr>
                <a:schemeClr val="dk1"/>
              </a:buClr>
              <a:buSzPts val="1100"/>
              <a:buChar char="●"/>
            </a:pPr>
            <a:r>
              <a:rPr lang="en"/>
              <a:t>Explore the distribution of insurance types in the MIMIC-III dataset.</a:t>
            </a:r>
            <a:endParaRPr/>
          </a:p>
          <a:p>
            <a:pPr indent="-298450" lvl="0" marL="457200" rtl="0" algn="l">
              <a:lnSpc>
                <a:spcPct val="115000"/>
              </a:lnSpc>
              <a:spcBef>
                <a:spcPts val="0"/>
              </a:spcBef>
              <a:spcAft>
                <a:spcPts val="0"/>
              </a:spcAft>
              <a:buClr>
                <a:schemeClr val="dk1"/>
              </a:buClr>
              <a:buSzPts val="1100"/>
              <a:buChar char="●"/>
            </a:pPr>
            <a:r>
              <a:rPr lang="en"/>
              <a:t>Analyze relationships between insurance status and healthcare outcomes.</a:t>
            </a:r>
            <a:endParaRPr/>
          </a:p>
          <a:p>
            <a:pPr indent="-298450" lvl="0" marL="457200" rtl="0" algn="l">
              <a:lnSpc>
                <a:spcPct val="115000"/>
              </a:lnSpc>
              <a:spcBef>
                <a:spcPts val="0"/>
              </a:spcBef>
              <a:spcAft>
                <a:spcPts val="0"/>
              </a:spcAft>
              <a:buClr>
                <a:schemeClr val="dk1"/>
              </a:buClr>
              <a:buSzPts val="1100"/>
              <a:buChar char="●"/>
            </a:pPr>
            <a:r>
              <a:rPr lang="en"/>
              <a:t>Identify disparities in treatment patterns.</a:t>
            </a:r>
            <a:endParaRPr/>
          </a:p>
          <a:p>
            <a:pPr indent="-298450" lvl="0" marL="457200" rtl="0" algn="l">
              <a:lnSpc>
                <a:spcPct val="115000"/>
              </a:lnSpc>
              <a:spcBef>
                <a:spcPts val="0"/>
              </a:spcBef>
              <a:spcAft>
                <a:spcPts val="0"/>
              </a:spcAft>
              <a:buClr>
                <a:schemeClr val="dk1"/>
              </a:buClr>
              <a:buSzPts val="1100"/>
              <a:buChar char="●"/>
            </a:pPr>
            <a:r>
              <a:rPr lang="en"/>
              <a:t>Demonstrate ML-based analytical techniques in Python.</a:t>
            </a:r>
            <a:endParaRPr/>
          </a:p>
          <a:p>
            <a:pPr indent="-298450" lvl="0" marL="457200" rtl="0" algn="l">
              <a:lnSpc>
                <a:spcPct val="115000"/>
              </a:lnSpc>
              <a:spcBef>
                <a:spcPts val="0"/>
              </a:spcBef>
              <a:spcAft>
                <a:spcPts val="0"/>
              </a:spcAft>
              <a:buClr>
                <a:schemeClr val="dk1"/>
              </a:buClr>
              <a:buSzPts val="1100"/>
              <a:buChar char="●"/>
            </a:pPr>
            <a:r>
              <a:rPr lang="en"/>
              <a:t>Ensure code clarity for reproducibility.</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4153f55a2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4153f55a2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4153f55a2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4153f55a2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The first step was loading MIMIC-III data using Python libraries like Pandas.</a:t>
            </a:r>
            <a:endParaRPr/>
          </a:p>
          <a:p>
            <a:pPr indent="-298450" lvl="0" marL="457200" rtl="0" algn="l">
              <a:lnSpc>
                <a:spcPct val="115000"/>
              </a:lnSpc>
              <a:spcBef>
                <a:spcPts val="0"/>
              </a:spcBef>
              <a:spcAft>
                <a:spcPts val="0"/>
              </a:spcAft>
              <a:buClr>
                <a:schemeClr val="dk1"/>
              </a:buClr>
              <a:buSzPts val="1100"/>
              <a:buChar char="●"/>
            </a:pPr>
            <a:r>
              <a:rPr lang="en"/>
              <a:t>We prepared the data by cleaning and organizing relevant features.</a:t>
            </a:r>
            <a:endParaRPr/>
          </a:p>
          <a:p>
            <a:pPr indent="-298450" lvl="0" marL="457200" rtl="0" algn="l">
              <a:lnSpc>
                <a:spcPct val="115000"/>
              </a:lnSpc>
              <a:spcBef>
                <a:spcPts val="0"/>
              </a:spcBef>
              <a:spcAft>
                <a:spcPts val="0"/>
              </a:spcAft>
              <a:buClr>
                <a:schemeClr val="dk1"/>
              </a:buClr>
              <a:buSzPts val="1100"/>
              <a:buChar char="●"/>
            </a:pPr>
            <a:r>
              <a:rPr lang="en"/>
              <a:t>The dataset was analyzed to understand its structure before modeling.</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4153f55a2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4153f55a2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Our EDA focused on key research questions:</a:t>
            </a:r>
            <a:endParaRPr/>
          </a:p>
          <a:p>
            <a:pPr indent="-298450" lvl="1" marL="914400" rtl="0" algn="l">
              <a:lnSpc>
                <a:spcPct val="115000"/>
              </a:lnSpc>
              <a:spcBef>
                <a:spcPts val="0"/>
              </a:spcBef>
              <a:spcAft>
                <a:spcPts val="0"/>
              </a:spcAft>
              <a:buClr>
                <a:schemeClr val="dk1"/>
              </a:buClr>
              <a:buSzPts val="1100"/>
              <a:buChar char="○"/>
            </a:pPr>
            <a:r>
              <a:rPr lang="en"/>
              <a:t>How does insurance type impact mortality and readmission rates?</a:t>
            </a:r>
            <a:endParaRPr/>
          </a:p>
          <a:p>
            <a:pPr indent="-298450" lvl="1" marL="914400" rtl="0" algn="l">
              <a:lnSpc>
                <a:spcPct val="115000"/>
              </a:lnSpc>
              <a:spcBef>
                <a:spcPts val="0"/>
              </a:spcBef>
              <a:spcAft>
                <a:spcPts val="0"/>
              </a:spcAft>
              <a:buClr>
                <a:schemeClr val="dk1"/>
              </a:buClr>
              <a:buSzPts val="1100"/>
              <a:buChar char="○"/>
            </a:pPr>
            <a:r>
              <a:rPr lang="en"/>
              <a:t>Do different insurance types influence hospital length of stay?</a:t>
            </a:r>
            <a:endParaRPr/>
          </a:p>
          <a:p>
            <a:pPr indent="-298450" lvl="1" marL="914400" rtl="0" algn="l">
              <a:lnSpc>
                <a:spcPct val="115000"/>
              </a:lnSpc>
              <a:spcBef>
                <a:spcPts val="0"/>
              </a:spcBef>
              <a:spcAft>
                <a:spcPts val="0"/>
              </a:spcAft>
              <a:buClr>
                <a:schemeClr val="dk1"/>
              </a:buClr>
              <a:buSzPts val="1100"/>
              <a:buChar char="○"/>
            </a:pPr>
            <a:r>
              <a:rPr lang="en"/>
              <a:t>Are there noticeable disparities across demographic groups?</a:t>
            </a:r>
            <a:endParaRPr/>
          </a:p>
          <a:p>
            <a:pPr indent="-298450" lvl="0" marL="457200" rtl="0" algn="l">
              <a:lnSpc>
                <a:spcPct val="115000"/>
              </a:lnSpc>
              <a:spcBef>
                <a:spcPts val="0"/>
              </a:spcBef>
              <a:spcAft>
                <a:spcPts val="0"/>
              </a:spcAft>
              <a:buClr>
                <a:schemeClr val="dk1"/>
              </a:buClr>
              <a:buSzPts val="1100"/>
              <a:buChar char="●"/>
            </a:pPr>
            <a:r>
              <a:rPr lang="en"/>
              <a:t>Python code was used to generate summary statistics and visualizations.</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4153f55a2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4153f55a2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Visualizing data helps uncover patterns that may not be obvious in raw numbers.</a:t>
            </a:r>
            <a:endParaRPr/>
          </a:p>
          <a:p>
            <a:pPr indent="-298450" lvl="0" marL="457200" rtl="0" algn="l">
              <a:lnSpc>
                <a:spcPct val="115000"/>
              </a:lnSpc>
              <a:spcBef>
                <a:spcPts val="0"/>
              </a:spcBef>
              <a:spcAft>
                <a:spcPts val="0"/>
              </a:spcAft>
              <a:buClr>
                <a:schemeClr val="dk1"/>
              </a:buClr>
              <a:buSzPts val="1100"/>
              <a:buChar char="●"/>
            </a:pPr>
            <a:r>
              <a:rPr lang="en"/>
              <a:t>Histograms, bar charts, and boxplots were created to compare insurance groups.</a:t>
            </a:r>
            <a:endParaRPr/>
          </a:p>
          <a:p>
            <a:pPr indent="-298450" lvl="0" marL="457200" rtl="0" algn="l">
              <a:lnSpc>
                <a:spcPct val="115000"/>
              </a:lnSpc>
              <a:spcBef>
                <a:spcPts val="0"/>
              </a:spcBef>
              <a:spcAft>
                <a:spcPts val="0"/>
              </a:spcAft>
              <a:buClr>
                <a:schemeClr val="dk1"/>
              </a:buClr>
              <a:buSzPts val="1100"/>
              <a:buChar char="●"/>
            </a:pPr>
            <a:r>
              <a:rPr lang="en"/>
              <a:t>Findings:</a:t>
            </a:r>
            <a:endParaRPr/>
          </a:p>
          <a:p>
            <a:pPr indent="-298450" lvl="1" marL="914400" rtl="0" algn="l">
              <a:lnSpc>
                <a:spcPct val="115000"/>
              </a:lnSpc>
              <a:spcBef>
                <a:spcPts val="0"/>
              </a:spcBef>
              <a:spcAft>
                <a:spcPts val="0"/>
              </a:spcAft>
              <a:buClr>
                <a:schemeClr val="dk1"/>
              </a:buClr>
              <a:buSzPts val="1100"/>
              <a:buChar char="○"/>
            </a:pPr>
            <a:r>
              <a:rPr lang="en"/>
              <a:t>Self-pay had the highest mortality rates.</a:t>
            </a:r>
            <a:endParaRPr/>
          </a:p>
          <a:p>
            <a:pPr indent="-298450" lvl="1" marL="914400" rtl="0" algn="l">
              <a:lnSpc>
                <a:spcPct val="115000"/>
              </a:lnSpc>
              <a:spcBef>
                <a:spcPts val="0"/>
              </a:spcBef>
              <a:spcAft>
                <a:spcPts val="0"/>
              </a:spcAft>
              <a:buClr>
                <a:schemeClr val="dk1"/>
              </a:buClr>
              <a:buSzPts val="1100"/>
              <a:buChar char="○"/>
            </a:pPr>
            <a:r>
              <a:rPr lang="en"/>
              <a:t>Medicare and Medicaid patients had higher readmission rates.</a:t>
            </a:r>
            <a:endParaRPr/>
          </a:p>
          <a:p>
            <a:pPr indent="-298450" lvl="1" marL="914400" rtl="0" algn="l">
              <a:lnSpc>
                <a:spcPct val="115000"/>
              </a:lnSpc>
              <a:spcBef>
                <a:spcPts val="0"/>
              </a:spcBef>
              <a:spcAft>
                <a:spcPts val="0"/>
              </a:spcAft>
              <a:buClr>
                <a:schemeClr val="dk1"/>
              </a:buClr>
              <a:buSzPts val="1100"/>
              <a:buChar char="○"/>
            </a:pPr>
            <a:r>
              <a:rPr lang="en"/>
              <a:t>Private insurers tended to have longer hospital stays.</a:t>
            </a:r>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4153f55a2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4153f55a2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Key transformations:</a:t>
            </a:r>
            <a:endParaRPr/>
          </a:p>
          <a:p>
            <a:pPr indent="-298450" lvl="0" marL="457200" rtl="0" algn="l">
              <a:lnSpc>
                <a:spcPct val="115000"/>
              </a:lnSpc>
              <a:spcBef>
                <a:spcPts val="1200"/>
              </a:spcBef>
              <a:spcAft>
                <a:spcPts val="0"/>
              </a:spcAft>
              <a:buClr>
                <a:schemeClr val="dk1"/>
              </a:buClr>
              <a:buSzPts val="1100"/>
              <a:buChar char="●"/>
            </a:pPr>
            <a:r>
              <a:rPr lang="en"/>
              <a:t>One-hot encoding for categorical insurance types.</a:t>
            </a:r>
            <a:endParaRPr/>
          </a:p>
          <a:p>
            <a:pPr indent="-298450" lvl="0" marL="457200" rtl="0" algn="l">
              <a:lnSpc>
                <a:spcPct val="115000"/>
              </a:lnSpc>
              <a:spcBef>
                <a:spcPts val="0"/>
              </a:spcBef>
              <a:spcAft>
                <a:spcPts val="0"/>
              </a:spcAft>
              <a:buClr>
                <a:schemeClr val="dk1"/>
              </a:buClr>
              <a:buSzPts val="1100"/>
              <a:buChar char="●"/>
            </a:pPr>
            <a:r>
              <a:rPr lang="en"/>
              <a:t>Normalizing numerical features like age and length of stay.</a:t>
            </a:r>
            <a:endParaRPr/>
          </a:p>
          <a:p>
            <a:pPr indent="-298450" lvl="0" marL="457200" rtl="0" algn="l">
              <a:lnSpc>
                <a:spcPct val="115000"/>
              </a:lnSpc>
              <a:spcBef>
                <a:spcPts val="0"/>
              </a:spcBef>
              <a:spcAft>
                <a:spcPts val="0"/>
              </a:spcAft>
              <a:buClr>
                <a:schemeClr val="dk1"/>
              </a:buClr>
              <a:buSzPts val="1100"/>
              <a:buChar char="●"/>
            </a:pPr>
            <a:r>
              <a:rPr lang="en"/>
              <a:t>Handling missing values to ensure robust modeling.</a:t>
            </a:r>
            <a:endParaRPr/>
          </a:p>
          <a:p>
            <a:pPr indent="-298450" lvl="0" marL="457200" rtl="0" algn="l">
              <a:lnSpc>
                <a:spcPct val="115000"/>
              </a:lnSpc>
              <a:spcBef>
                <a:spcPts val="0"/>
              </a:spcBef>
              <a:spcAft>
                <a:spcPts val="0"/>
              </a:spcAft>
              <a:buClr>
                <a:schemeClr val="dk1"/>
              </a:buClr>
              <a:buSzPts val="1100"/>
              <a:buChar char="●"/>
            </a:pPr>
            <a:r>
              <a:rPr lang="en"/>
              <a:t>Defining target variables for mortality and readmission prediction.</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4153f55a2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4153f55a2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More detailed EDA was performed to focus on insurance-specific trends.</a:t>
            </a:r>
            <a:endParaRPr/>
          </a:p>
          <a:p>
            <a:pPr indent="-298450" lvl="0" marL="457200" rtl="0" algn="l">
              <a:lnSpc>
                <a:spcPct val="115000"/>
              </a:lnSpc>
              <a:spcBef>
                <a:spcPts val="0"/>
              </a:spcBef>
              <a:spcAft>
                <a:spcPts val="0"/>
              </a:spcAft>
              <a:buClr>
                <a:schemeClr val="dk1"/>
              </a:buClr>
              <a:buSzPts val="1100"/>
              <a:buChar char="●"/>
            </a:pPr>
            <a:r>
              <a:rPr lang="en"/>
              <a:t>Findings:</a:t>
            </a:r>
            <a:endParaRPr/>
          </a:p>
          <a:p>
            <a:pPr indent="-298450" lvl="1" marL="914400" rtl="0" algn="l">
              <a:lnSpc>
                <a:spcPct val="115000"/>
              </a:lnSpc>
              <a:spcBef>
                <a:spcPts val="0"/>
              </a:spcBef>
              <a:spcAft>
                <a:spcPts val="0"/>
              </a:spcAft>
              <a:buClr>
                <a:schemeClr val="dk1"/>
              </a:buClr>
              <a:buSzPts val="1100"/>
              <a:buChar char="○"/>
            </a:pPr>
            <a:r>
              <a:rPr lang="en"/>
              <a:t>Self-pay patients had the shortest stays but highest mortality.</a:t>
            </a:r>
            <a:endParaRPr/>
          </a:p>
          <a:p>
            <a:pPr indent="-298450" lvl="1" marL="914400" rtl="0" algn="l">
              <a:lnSpc>
                <a:spcPct val="115000"/>
              </a:lnSpc>
              <a:spcBef>
                <a:spcPts val="0"/>
              </a:spcBef>
              <a:spcAft>
                <a:spcPts val="0"/>
              </a:spcAft>
              <a:buClr>
                <a:schemeClr val="dk1"/>
              </a:buClr>
              <a:buSzPts val="1100"/>
              <a:buChar char="○"/>
            </a:pPr>
            <a:r>
              <a:rPr lang="en"/>
              <a:t>Medicare had higher readmission rates, likely due to older patients requiring more care.</a:t>
            </a:r>
            <a:endParaRPr/>
          </a:p>
          <a:p>
            <a:pPr indent="-298450" lvl="0" marL="457200" rtl="0" algn="l">
              <a:lnSpc>
                <a:spcPct val="115000"/>
              </a:lnSpc>
              <a:spcBef>
                <a:spcPts val="0"/>
              </a:spcBef>
              <a:spcAft>
                <a:spcPts val="0"/>
              </a:spcAft>
              <a:buClr>
                <a:schemeClr val="dk1"/>
              </a:buClr>
              <a:buSzPts val="1100"/>
              <a:buChar char="●"/>
            </a:pPr>
            <a:r>
              <a:rPr lang="en"/>
              <a:t>These insights guided model selection and feature importance analysis.</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4153f55a2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4153f55a2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4153f55a2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4153f55a2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Machine learning models were trained to predict mortality and readmission.</a:t>
            </a:r>
            <a:endParaRPr/>
          </a:p>
          <a:p>
            <a:pPr indent="-298450" lvl="0" marL="457200" rtl="0" algn="l">
              <a:lnSpc>
                <a:spcPct val="115000"/>
              </a:lnSpc>
              <a:spcBef>
                <a:spcPts val="0"/>
              </a:spcBef>
              <a:spcAft>
                <a:spcPts val="0"/>
              </a:spcAft>
              <a:buClr>
                <a:schemeClr val="dk1"/>
              </a:buClr>
              <a:buSzPts val="1100"/>
              <a:buChar char="●"/>
            </a:pPr>
            <a:r>
              <a:rPr lang="en"/>
              <a:t>Logistic Regression and Random Forest were tested.</a:t>
            </a:r>
            <a:endParaRPr/>
          </a:p>
          <a:p>
            <a:pPr indent="-298450" lvl="0" marL="457200" rtl="0" algn="l">
              <a:lnSpc>
                <a:spcPct val="115000"/>
              </a:lnSpc>
              <a:spcBef>
                <a:spcPts val="0"/>
              </a:spcBef>
              <a:spcAft>
                <a:spcPts val="0"/>
              </a:spcAft>
              <a:buClr>
                <a:schemeClr val="dk1"/>
              </a:buClr>
              <a:buSzPts val="1100"/>
              <a:buChar char="●"/>
            </a:pPr>
            <a:r>
              <a:rPr lang="en"/>
              <a:t>Results:</a:t>
            </a:r>
            <a:endParaRPr/>
          </a:p>
          <a:p>
            <a:pPr indent="-298450" lvl="1" marL="914400" rtl="0" algn="l">
              <a:lnSpc>
                <a:spcPct val="115000"/>
              </a:lnSpc>
              <a:spcBef>
                <a:spcPts val="0"/>
              </a:spcBef>
              <a:spcAft>
                <a:spcPts val="0"/>
              </a:spcAft>
              <a:buClr>
                <a:schemeClr val="dk1"/>
              </a:buClr>
              <a:buSzPts val="1100"/>
              <a:buChar char="○"/>
            </a:pPr>
            <a:r>
              <a:rPr lang="en"/>
              <a:t>Mortality was easier to predict than readmission.</a:t>
            </a:r>
            <a:endParaRPr/>
          </a:p>
          <a:p>
            <a:pPr indent="-298450" lvl="1" marL="914400" rtl="0" algn="l">
              <a:lnSpc>
                <a:spcPct val="115000"/>
              </a:lnSpc>
              <a:spcBef>
                <a:spcPts val="0"/>
              </a:spcBef>
              <a:spcAft>
                <a:spcPts val="0"/>
              </a:spcAft>
              <a:buClr>
                <a:schemeClr val="dk1"/>
              </a:buClr>
              <a:buSzPts val="1100"/>
              <a:buChar char="○"/>
            </a:pPr>
            <a:r>
              <a:rPr lang="en"/>
              <a:t>Length of stay and age were the strongest predictors.</a:t>
            </a:r>
            <a:endParaRPr/>
          </a:p>
          <a:p>
            <a:pPr indent="-298450" lvl="0" marL="457200" rtl="0" algn="l">
              <a:lnSpc>
                <a:spcPct val="115000"/>
              </a:lnSpc>
              <a:spcBef>
                <a:spcPts val="0"/>
              </a:spcBef>
              <a:spcAft>
                <a:spcPts val="0"/>
              </a:spcAft>
              <a:buClr>
                <a:schemeClr val="dk1"/>
              </a:buClr>
              <a:buSzPts val="1100"/>
              <a:buChar char="●"/>
            </a:pPr>
            <a:r>
              <a:rPr lang="en"/>
              <a:t>Adding more features could improve predictive accuracy.</a:t>
            </a:r>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4153f55a2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4153f55a2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4153f55a2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4153f55a2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PCA and T-SNE were used to reduce the complexity of the dataset.</a:t>
            </a:r>
            <a:endParaRPr/>
          </a:p>
          <a:p>
            <a:pPr indent="-298450" lvl="0" marL="457200" rtl="0" algn="l">
              <a:lnSpc>
                <a:spcPct val="115000"/>
              </a:lnSpc>
              <a:spcBef>
                <a:spcPts val="0"/>
              </a:spcBef>
              <a:spcAft>
                <a:spcPts val="0"/>
              </a:spcAft>
              <a:buClr>
                <a:schemeClr val="dk1"/>
              </a:buClr>
              <a:buSzPts val="1100"/>
              <a:buChar char="●"/>
            </a:pPr>
            <a:r>
              <a:rPr lang="en"/>
              <a:t>PCA extracted two principal components to visualize insurance-based clusters.</a:t>
            </a:r>
            <a:endParaRPr/>
          </a:p>
          <a:p>
            <a:pPr indent="-298450" lvl="0" marL="457200" rtl="0" algn="l">
              <a:lnSpc>
                <a:spcPct val="115000"/>
              </a:lnSpc>
              <a:spcBef>
                <a:spcPts val="0"/>
              </a:spcBef>
              <a:spcAft>
                <a:spcPts val="0"/>
              </a:spcAft>
              <a:buClr>
                <a:schemeClr val="dk1"/>
              </a:buClr>
              <a:buSzPts val="1100"/>
              <a:buChar char="●"/>
            </a:pPr>
            <a:r>
              <a:rPr lang="en"/>
              <a:t>T-SNE provided a more nuanced separation of patient groups.</a:t>
            </a:r>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4153f55a2e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4153f55a2e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PCA Results:</a:t>
            </a:r>
            <a:endParaRPr/>
          </a:p>
          <a:p>
            <a:pPr indent="-298450" lvl="1" marL="914400" rtl="0" algn="l">
              <a:lnSpc>
                <a:spcPct val="115000"/>
              </a:lnSpc>
              <a:spcBef>
                <a:spcPts val="0"/>
              </a:spcBef>
              <a:spcAft>
                <a:spcPts val="0"/>
              </a:spcAft>
              <a:buClr>
                <a:schemeClr val="dk1"/>
              </a:buClr>
              <a:buSzPts val="1100"/>
              <a:buChar char="○"/>
            </a:pPr>
            <a:r>
              <a:rPr lang="en"/>
              <a:t>Medicare cases appeared more distinct from other insurance groups.</a:t>
            </a:r>
            <a:endParaRPr/>
          </a:p>
          <a:p>
            <a:pPr indent="-298450" lvl="1" marL="914400" rtl="0" algn="l">
              <a:lnSpc>
                <a:spcPct val="115000"/>
              </a:lnSpc>
              <a:spcBef>
                <a:spcPts val="0"/>
              </a:spcBef>
              <a:spcAft>
                <a:spcPts val="0"/>
              </a:spcAft>
              <a:buClr>
                <a:schemeClr val="dk1"/>
              </a:buClr>
              <a:buSzPts val="1100"/>
              <a:buChar char="○"/>
            </a:pPr>
            <a:r>
              <a:rPr lang="en"/>
              <a:t>Medicaid, Private, and Self-Pay patients overlapped more.</a:t>
            </a:r>
            <a:endParaRPr/>
          </a:p>
          <a:p>
            <a:pPr indent="-298450" lvl="0" marL="457200" rtl="0" algn="l">
              <a:lnSpc>
                <a:spcPct val="115000"/>
              </a:lnSpc>
              <a:spcBef>
                <a:spcPts val="0"/>
              </a:spcBef>
              <a:spcAft>
                <a:spcPts val="0"/>
              </a:spcAft>
              <a:buClr>
                <a:schemeClr val="dk1"/>
              </a:buClr>
              <a:buSzPts val="1100"/>
              <a:buChar char="●"/>
            </a:pPr>
            <a:r>
              <a:rPr lang="en"/>
              <a:t>T-SNE Results:</a:t>
            </a:r>
            <a:endParaRPr/>
          </a:p>
          <a:p>
            <a:pPr indent="-298450" lvl="1" marL="914400" rtl="0" algn="l">
              <a:lnSpc>
                <a:spcPct val="115000"/>
              </a:lnSpc>
              <a:spcBef>
                <a:spcPts val="0"/>
              </a:spcBef>
              <a:spcAft>
                <a:spcPts val="0"/>
              </a:spcAft>
              <a:buClr>
                <a:schemeClr val="dk1"/>
              </a:buClr>
              <a:buSzPts val="1100"/>
              <a:buChar char="○"/>
            </a:pPr>
            <a:r>
              <a:rPr lang="en"/>
              <a:t>Clearer separation by insurance type.</a:t>
            </a:r>
            <a:endParaRPr/>
          </a:p>
          <a:p>
            <a:pPr indent="-298450" lvl="1" marL="914400" rtl="0" algn="l">
              <a:lnSpc>
                <a:spcPct val="115000"/>
              </a:lnSpc>
              <a:spcBef>
                <a:spcPts val="0"/>
              </a:spcBef>
              <a:spcAft>
                <a:spcPts val="0"/>
              </a:spcAft>
              <a:buClr>
                <a:schemeClr val="dk1"/>
              </a:buClr>
              <a:buSzPts val="1100"/>
              <a:buChar char="○"/>
            </a:pPr>
            <a:r>
              <a:rPr lang="en"/>
              <a:t>This suggests that insurance type is a strong determinant of care patterns.</a:t>
            </a:r>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4153f55a2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4153f55a2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SHAP values explain which features most impact model predictions.</a:t>
            </a:r>
            <a:endParaRPr/>
          </a:p>
          <a:p>
            <a:pPr indent="-298450" lvl="0" marL="457200" rtl="0" algn="l">
              <a:lnSpc>
                <a:spcPct val="115000"/>
              </a:lnSpc>
              <a:spcBef>
                <a:spcPts val="0"/>
              </a:spcBef>
              <a:spcAft>
                <a:spcPts val="0"/>
              </a:spcAft>
              <a:buClr>
                <a:schemeClr val="dk1"/>
              </a:buClr>
              <a:buSzPts val="1100"/>
              <a:buChar char="●"/>
            </a:pPr>
            <a:r>
              <a:rPr lang="en"/>
              <a:t>Findings:</a:t>
            </a:r>
            <a:endParaRPr/>
          </a:p>
          <a:p>
            <a:pPr indent="-298450" lvl="1" marL="914400" rtl="0" algn="l">
              <a:lnSpc>
                <a:spcPct val="115000"/>
              </a:lnSpc>
              <a:spcBef>
                <a:spcPts val="0"/>
              </a:spcBef>
              <a:spcAft>
                <a:spcPts val="0"/>
              </a:spcAft>
              <a:buClr>
                <a:schemeClr val="dk1"/>
              </a:buClr>
              <a:buSzPts val="1100"/>
              <a:buChar char="○"/>
            </a:pPr>
            <a:r>
              <a:rPr lang="en"/>
              <a:t>Age strongly influences mortality predictions.</a:t>
            </a:r>
            <a:endParaRPr/>
          </a:p>
          <a:p>
            <a:pPr indent="-298450" lvl="1" marL="914400" rtl="0" algn="l">
              <a:lnSpc>
                <a:spcPct val="115000"/>
              </a:lnSpc>
              <a:spcBef>
                <a:spcPts val="0"/>
              </a:spcBef>
              <a:spcAft>
                <a:spcPts val="0"/>
              </a:spcAft>
              <a:buClr>
                <a:schemeClr val="dk1"/>
              </a:buClr>
              <a:buSzPts val="1100"/>
              <a:buChar char="○"/>
            </a:pPr>
            <a:r>
              <a:rPr lang="en"/>
              <a:t>Other key factors: Length of stay and insurance type.</a:t>
            </a:r>
            <a:endParaRPr/>
          </a:p>
          <a:p>
            <a:pPr indent="-298450" lvl="1" marL="914400" rtl="0" algn="l">
              <a:lnSpc>
                <a:spcPct val="115000"/>
              </a:lnSpc>
              <a:spcBef>
                <a:spcPts val="0"/>
              </a:spcBef>
              <a:spcAft>
                <a:spcPts val="0"/>
              </a:spcAft>
              <a:buClr>
                <a:schemeClr val="dk1"/>
              </a:buClr>
              <a:buSzPts val="1100"/>
              <a:buChar char="○"/>
            </a:pPr>
            <a:r>
              <a:rPr lang="en"/>
              <a:t>SHAP provides interpretability, ensuring models are not black boxes.</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4153f55a2e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4153f55a2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Kaplan-Meier analysis was applied to study survival probabilities by insurance type.</a:t>
            </a:r>
            <a:endParaRPr/>
          </a:p>
          <a:p>
            <a:pPr indent="-298450" lvl="0" marL="457200" rtl="0" algn="l">
              <a:lnSpc>
                <a:spcPct val="115000"/>
              </a:lnSpc>
              <a:spcBef>
                <a:spcPts val="0"/>
              </a:spcBef>
              <a:spcAft>
                <a:spcPts val="0"/>
              </a:spcAft>
              <a:buClr>
                <a:schemeClr val="dk1"/>
              </a:buClr>
              <a:buSzPts val="1100"/>
              <a:buChar char="●"/>
            </a:pPr>
            <a:r>
              <a:rPr lang="en"/>
              <a:t>Interpretation:</a:t>
            </a:r>
            <a:endParaRPr/>
          </a:p>
          <a:p>
            <a:pPr indent="-298450" lvl="1" marL="914400" rtl="0" algn="l">
              <a:lnSpc>
                <a:spcPct val="115000"/>
              </a:lnSpc>
              <a:spcBef>
                <a:spcPts val="0"/>
              </a:spcBef>
              <a:spcAft>
                <a:spcPts val="0"/>
              </a:spcAft>
              <a:buClr>
                <a:schemeClr val="dk1"/>
              </a:buClr>
              <a:buSzPts val="1100"/>
              <a:buChar char="○"/>
            </a:pPr>
            <a:r>
              <a:rPr lang="en"/>
              <a:t>Medicare patients had the worst outcomes, with the steepest decline in survival probability.</a:t>
            </a:r>
            <a:endParaRPr/>
          </a:p>
          <a:p>
            <a:pPr indent="-298450" lvl="1" marL="914400" rtl="0" algn="l">
              <a:lnSpc>
                <a:spcPct val="115000"/>
              </a:lnSpc>
              <a:spcBef>
                <a:spcPts val="0"/>
              </a:spcBef>
              <a:spcAft>
                <a:spcPts val="0"/>
              </a:spcAft>
              <a:buClr>
                <a:schemeClr val="dk1"/>
              </a:buClr>
              <a:buSzPts val="1100"/>
              <a:buChar char="○"/>
            </a:pPr>
            <a:r>
              <a:rPr lang="en"/>
              <a:t>"Other" insurance types had the highest survival probability.</a:t>
            </a:r>
            <a:endParaRPr/>
          </a:p>
          <a:p>
            <a:pPr indent="-298450" lvl="1" marL="914400" rtl="0" algn="l">
              <a:lnSpc>
                <a:spcPct val="115000"/>
              </a:lnSpc>
              <a:spcBef>
                <a:spcPts val="0"/>
              </a:spcBef>
              <a:spcAft>
                <a:spcPts val="0"/>
              </a:spcAft>
              <a:buClr>
                <a:schemeClr val="dk1"/>
              </a:buClr>
              <a:buSzPts val="1100"/>
              <a:buChar char="○"/>
            </a:pPr>
            <a:r>
              <a:rPr lang="en"/>
              <a:t>These results indicate disparities in treatment and health outcomes.</a:t>
            </a:r>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4153f55a2e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4153f55a2e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K-Means clustering was performed on PCA-transformed data.</a:t>
            </a:r>
            <a:endParaRPr/>
          </a:p>
          <a:p>
            <a:pPr indent="-298450" lvl="0" marL="457200" rtl="0" algn="l">
              <a:lnSpc>
                <a:spcPct val="115000"/>
              </a:lnSpc>
              <a:spcBef>
                <a:spcPts val="0"/>
              </a:spcBef>
              <a:spcAft>
                <a:spcPts val="0"/>
              </a:spcAft>
              <a:buClr>
                <a:schemeClr val="dk1"/>
              </a:buClr>
              <a:buSzPts val="1100"/>
              <a:buChar char="●"/>
            </a:pPr>
            <a:r>
              <a:rPr lang="en"/>
              <a:t>Four distinct patient subgroups emerged.</a:t>
            </a:r>
            <a:endParaRPr/>
          </a:p>
          <a:p>
            <a:pPr indent="-298450" lvl="0" marL="457200" rtl="0" algn="l">
              <a:lnSpc>
                <a:spcPct val="115000"/>
              </a:lnSpc>
              <a:spcBef>
                <a:spcPts val="0"/>
              </a:spcBef>
              <a:spcAft>
                <a:spcPts val="0"/>
              </a:spcAft>
              <a:buClr>
                <a:schemeClr val="dk1"/>
              </a:buClr>
              <a:buSzPts val="1100"/>
              <a:buChar char="●"/>
            </a:pPr>
            <a:r>
              <a:rPr lang="en"/>
              <a:t>These clusters may represent different clinical profiles with unique treatment needs.</a:t>
            </a:r>
            <a:endParaRPr/>
          </a:p>
          <a:p>
            <a:pPr indent="-298450" lvl="0" marL="457200" rtl="0" algn="l">
              <a:lnSpc>
                <a:spcPct val="115000"/>
              </a:lnSpc>
              <a:spcBef>
                <a:spcPts val="0"/>
              </a:spcBef>
              <a:spcAft>
                <a:spcPts val="0"/>
              </a:spcAft>
              <a:buClr>
                <a:schemeClr val="dk1"/>
              </a:buClr>
              <a:buSzPts val="1100"/>
              <a:buChar char="●"/>
            </a:pPr>
            <a:r>
              <a:rPr lang="en"/>
              <a:t>The scatter plot shows distinct clusters of patients.</a:t>
            </a:r>
            <a:endParaRPr/>
          </a:p>
          <a:p>
            <a:pPr indent="-298450" lvl="0" marL="457200" rtl="0" algn="l">
              <a:lnSpc>
                <a:spcPct val="115000"/>
              </a:lnSpc>
              <a:spcBef>
                <a:spcPts val="0"/>
              </a:spcBef>
              <a:spcAft>
                <a:spcPts val="0"/>
              </a:spcAft>
              <a:buClr>
                <a:schemeClr val="dk1"/>
              </a:buClr>
              <a:buSzPts val="1100"/>
              <a:buChar char="●"/>
            </a:pPr>
            <a:r>
              <a:rPr lang="en"/>
              <a:t>Insights:</a:t>
            </a:r>
            <a:endParaRPr/>
          </a:p>
          <a:p>
            <a:pPr indent="-298450" lvl="1" marL="914400" rtl="0" algn="l">
              <a:lnSpc>
                <a:spcPct val="115000"/>
              </a:lnSpc>
              <a:spcBef>
                <a:spcPts val="0"/>
              </a:spcBef>
              <a:spcAft>
                <a:spcPts val="0"/>
              </a:spcAft>
              <a:buClr>
                <a:schemeClr val="dk1"/>
              </a:buClr>
              <a:buSzPts val="1100"/>
              <a:buAutoNum type="alphaLcPeriod"/>
            </a:pPr>
            <a:r>
              <a:rPr lang="en"/>
              <a:t>Some clusters are tightly grouped, others more spread out.</a:t>
            </a:r>
            <a:endParaRPr/>
          </a:p>
          <a:p>
            <a:pPr indent="-298450" lvl="1" marL="914400" rtl="0" algn="l">
              <a:lnSpc>
                <a:spcPct val="115000"/>
              </a:lnSpc>
              <a:spcBef>
                <a:spcPts val="0"/>
              </a:spcBef>
              <a:spcAft>
                <a:spcPts val="0"/>
              </a:spcAft>
              <a:buClr>
                <a:schemeClr val="dk1"/>
              </a:buClr>
              <a:buSzPts val="1100"/>
              <a:buAutoNum type="alphaLcPeriod"/>
            </a:pPr>
            <a:r>
              <a:rPr lang="en"/>
              <a:t>The elongated cluster may represent complex medical cases.</a:t>
            </a:r>
            <a:endParaRPr/>
          </a:p>
          <a:p>
            <a:pPr indent="-298450" lvl="0" marL="457200" rtl="0" algn="l">
              <a:lnSpc>
                <a:spcPct val="115000"/>
              </a:lnSpc>
              <a:spcBef>
                <a:spcPts val="0"/>
              </a:spcBef>
              <a:spcAft>
                <a:spcPts val="0"/>
              </a:spcAft>
              <a:buClr>
                <a:schemeClr val="dk1"/>
              </a:buClr>
              <a:buSzPts val="1100"/>
              <a:buChar char="●"/>
            </a:pPr>
            <a:r>
              <a:rPr lang="en"/>
              <a:t>This technique provides a way to segment patients for tailored care.</a:t>
            </a:r>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4153f55a2e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4153f55a2e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1.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8.png"/><Relationship Id="rId13" Type="http://schemas.openxmlformats.org/officeDocument/2006/relationships/image" Target="../media/image12.png"/><Relationship Id="rId12" Type="http://schemas.openxmlformats.org/officeDocument/2006/relationships/image" Target="../media/image1.png"/><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155850" y="626225"/>
            <a:ext cx="8832300" cy="2052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Self Learning Tutorial: Insurance Status and Healthcare Outcomes</a:t>
            </a:r>
            <a:endParaRPr/>
          </a:p>
        </p:txBody>
      </p:sp>
      <p:sp>
        <p:nvSpPr>
          <p:cNvPr id="278" name="Google Shape;278;p13"/>
          <p:cNvSpPr txBox="1"/>
          <p:nvPr>
            <p:ph idx="1" type="subTitle"/>
          </p:nvPr>
        </p:nvSpPr>
        <p:spPr>
          <a:xfrm>
            <a:off x="311700" y="3771775"/>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 analysis using MIMIC-III data, Matplotlib, Seaborn, Sklearn Models, PCA, T-SNE, SHAP interactions, Kaplan Meier, and K-Means Clustering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311700" y="184650"/>
            <a:ext cx="2808000" cy="755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Tutorial Agenda</a:t>
            </a:r>
            <a:endParaRPr/>
          </a:p>
        </p:txBody>
      </p:sp>
      <p:sp>
        <p:nvSpPr>
          <p:cNvPr id="284" name="Google Shape;284;p14"/>
          <p:cNvSpPr txBox="1"/>
          <p:nvPr>
            <p:ph idx="1" type="body"/>
          </p:nvPr>
        </p:nvSpPr>
        <p:spPr>
          <a:xfrm>
            <a:off x="1151575" y="1006575"/>
            <a:ext cx="2808000" cy="3933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Introduction</a:t>
            </a:r>
            <a:endParaRPr/>
          </a:p>
          <a:p>
            <a:pPr indent="-298450" lvl="1" marL="914400" rtl="0" algn="l">
              <a:spcBef>
                <a:spcPts val="0"/>
              </a:spcBef>
              <a:spcAft>
                <a:spcPts val="0"/>
              </a:spcAft>
              <a:buSzPts val="1100"/>
              <a:buChar char="○"/>
            </a:pPr>
            <a:r>
              <a:rPr lang="en"/>
              <a:t>Motivation</a:t>
            </a:r>
            <a:endParaRPr/>
          </a:p>
          <a:p>
            <a:pPr indent="-298450" lvl="1" marL="914400" rtl="0" algn="l">
              <a:spcBef>
                <a:spcPts val="0"/>
              </a:spcBef>
              <a:spcAft>
                <a:spcPts val="0"/>
              </a:spcAft>
              <a:buSzPts val="1100"/>
              <a:buChar char="○"/>
            </a:pPr>
            <a:r>
              <a:rPr lang="en"/>
              <a:t>Project Goals</a:t>
            </a:r>
            <a:endParaRPr/>
          </a:p>
          <a:p>
            <a:pPr indent="-311150" lvl="0" marL="457200" rtl="0" algn="l">
              <a:spcBef>
                <a:spcPts val="0"/>
              </a:spcBef>
              <a:spcAft>
                <a:spcPts val="0"/>
              </a:spcAft>
              <a:buSzPts val="1300"/>
              <a:buChar char="●"/>
            </a:pPr>
            <a:r>
              <a:rPr lang="en"/>
              <a:t>Data </a:t>
            </a:r>
            <a:r>
              <a:rPr lang="en"/>
              <a:t>Preparation</a:t>
            </a:r>
            <a:r>
              <a:rPr lang="en"/>
              <a:t> and Exploratory Data Analysis</a:t>
            </a:r>
            <a:endParaRPr/>
          </a:p>
          <a:p>
            <a:pPr indent="-298450" lvl="1" marL="914400" rtl="0" algn="l">
              <a:spcBef>
                <a:spcPts val="0"/>
              </a:spcBef>
              <a:spcAft>
                <a:spcPts val="0"/>
              </a:spcAft>
              <a:buSzPts val="1100"/>
              <a:buChar char="○"/>
            </a:pPr>
            <a:r>
              <a:rPr lang="en"/>
              <a:t>Feature Engineering</a:t>
            </a:r>
            <a:endParaRPr/>
          </a:p>
          <a:p>
            <a:pPr indent="-298450" lvl="1" marL="914400" rtl="0" algn="l">
              <a:spcBef>
                <a:spcPts val="0"/>
              </a:spcBef>
              <a:spcAft>
                <a:spcPts val="0"/>
              </a:spcAft>
              <a:buSzPts val="1100"/>
              <a:buChar char="○"/>
            </a:pPr>
            <a:r>
              <a:rPr lang="en"/>
              <a:t>Focused Data Analysis</a:t>
            </a:r>
            <a:endParaRPr/>
          </a:p>
          <a:p>
            <a:pPr indent="-311150" lvl="0" marL="457200" rtl="0" algn="l">
              <a:spcBef>
                <a:spcPts val="0"/>
              </a:spcBef>
              <a:spcAft>
                <a:spcPts val="0"/>
              </a:spcAft>
              <a:buSzPts val="1300"/>
              <a:buChar char="●"/>
            </a:pPr>
            <a:r>
              <a:rPr lang="en"/>
              <a:t>Prediction Model for Mortality and Readmission</a:t>
            </a:r>
            <a:endParaRPr/>
          </a:p>
          <a:p>
            <a:pPr indent="-311150" lvl="0" marL="457200" rtl="0" algn="l">
              <a:spcBef>
                <a:spcPts val="0"/>
              </a:spcBef>
              <a:spcAft>
                <a:spcPts val="0"/>
              </a:spcAft>
              <a:buSzPts val="1300"/>
              <a:buChar char="●"/>
            </a:pPr>
            <a:r>
              <a:rPr lang="en"/>
              <a:t>PCA &amp; T-SNE</a:t>
            </a:r>
            <a:endParaRPr/>
          </a:p>
          <a:p>
            <a:pPr indent="-311150" lvl="0" marL="457200" rtl="0" algn="l">
              <a:spcBef>
                <a:spcPts val="0"/>
              </a:spcBef>
              <a:spcAft>
                <a:spcPts val="0"/>
              </a:spcAft>
              <a:buSzPts val="1300"/>
              <a:buChar char="●"/>
            </a:pPr>
            <a:r>
              <a:rPr lang="en"/>
              <a:t>Advanced Data Analysis</a:t>
            </a:r>
            <a:endParaRPr/>
          </a:p>
          <a:p>
            <a:pPr indent="-298450" lvl="1" marL="914400" rtl="0" algn="l">
              <a:spcBef>
                <a:spcPts val="0"/>
              </a:spcBef>
              <a:spcAft>
                <a:spcPts val="0"/>
              </a:spcAft>
              <a:buSzPts val="1100"/>
              <a:buChar char="○"/>
            </a:pPr>
            <a:r>
              <a:rPr lang="en"/>
              <a:t>SHAP Values</a:t>
            </a:r>
            <a:endParaRPr/>
          </a:p>
          <a:p>
            <a:pPr indent="-298450" lvl="1" marL="914400" rtl="0" algn="l">
              <a:spcBef>
                <a:spcPts val="0"/>
              </a:spcBef>
              <a:spcAft>
                <a:spcPts val="0"/>
              </a:spcAft>
              <a:buSzPts val="1100"/>
              <a:buChar char="○"/>
            </a:pPr>
            <a:r>
              <a:rPr lang="en"/>
              <a:t>Kaplan-Meier Survival Curves</a:t>
            </a:r>
            <a:endParaRPr/>
          </a:p>
          <a:p>
            <a:pPr indent="-298450" lvl="1" marL="914400" rtl="0" algn="l">
              <a:spcBef>
                <a:spcPts val="0"/>
              </a:spcBef>
              <a:spcAft>
                <a:spcPts val="0"/>
              </a:spcAft>
              <a:buSzPts val="1100"/>
              <a:buChar char="○"/>
            </a:pPr>
            <a:r>
              <a:rPr lang="en"/>
              <a:t>K-Means Clustering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Motivation</a:t>
            </a:r>
            <a:endParaRPr/>
          </a:p>
        </p:txBody>
      </p:sp>
      <p:sp>
        <p:nvSpPr>
          <p:cNvPr id="290" name="Google Shape;290;p15"/>
          <p:cNvSpPr txBox="1"/>
          <p:nvPr>
            <p:ph idx="1" type="body"/>
          </p:nvPr>
        </p:nvSpPr>
        <p:spPr>
          <a:xfrm>
            <a:off x="311700" y="12174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health insurance industry is an industry I have worked in to </a:t>
            </a:r>
            <a:r>
              <a:rPr lang="en"/>
              <a:t>varying</a:t>
            </a:r>
            <a:r>
              <a:rPr lang="en"/>
              <a:t> degrees since 2019. With the interesting data being provided in this class, I was curious what the effect of Insurance is on health outcomes and what trends can we see in the demographics of data related to insurance. Especially with the frustration many have with utilizing and paying for healthcare in the United States, I wondered how different types of insurance were correlated with medical standards of care.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Goals</a:t>
            </a:r>
            <a:endParaRPr/>
          </a:p>
        </p:txBody>
      </p:sp>
      <p:sp>
        <p:nvSpPr>
          <p:cNvPr id="296" name="Google Shape;296;p1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This tutorial aims to:</a:t>
            </a:r>
            <a:endParaRPr/>
          </a:p>
          <a:p>
            <a:pPr indent="-311150" lvl="0" marL="457200" rtl="0" algn="l">
              <a:spcBef>
                <a:spcPts val="1200"/>
              </a:spcBef>
              <a:spcAft>
                <a:spcPts val="0"/>
              </a:spcAft>
              <a:buSzPts val="1300"/>
              <a:buChar char="●"/>
            </a:pPr>
            <a:r>
              <a:rPr lang="en"/>
              <a:t>Explore the distribution of insurance types within the MIMIC-III dataset.</a:t>
            </a:r>
            <a:endParaRPr/>
          </a:p>
          <a:p>
            <a:pPr indent="-311150" lvl="0" marL="457200" rtl="0" algn="l">
              <a:spcBef>
                <a:spcPts val="0"/>
              </a:spcBef>
              <a:spcAft>
                <a:spcPts val="0"/>
              </a:spcAft>
              <a:buSzPts val="1300"/>
              <a:buChar char="●"/>
            </a:pPr>
            <a:r>
              <a:rPr lang="en"/>
              <a:t>Analyze the relationship between insurance status and key healthcare outcomes, such as length of stay, readmission rates, and mortality.</a:t>
            </a:r>
            <a:endParaRPr/>
          </a:p>
          <a:p>
            <a:pPr indent="-311150" lvl="0" marL="457200" rtl="0" algn="l">
              <a:spcBef>
                <a:spcPts val="0"/>
              </a:spcBef>
              <a:spcAft>
                <a:spcPts val="0"/>
              </a:spcAft>
              <a:buSzPts val="1300"/>
              <a:buChar char="●"/>
            </a:pPr>
            <a:r>
              <a:rPr lang="en"/>
              <a:t>Identify potential disparities in treatment patterns across different insurance groups.</a:t>
            </a:r>
            <a:endParaRPr/>
          </a:p>
          <a:p>
            <a:pPr indent="-311150" lvl="0" marL="457200" rtl="0" algn="l">
              <a:spcBef>
                <a:spcPts val="0"/>
              </a:spcBef>
              <a:spcAft>
                <a:spcPts val="0"/>
              </a:spcAft>
              <a:buSzPts val="1300"/>
              <a:buChar char="●"/>
            </a:pPr>
            <a:r>
              <a:rPr lang="en"/>
              <a:t>Provide practical examples of data analysis techniques using Python and relevant libraries (e.g., pandas, NumPy, scikit-learn, matplotlib, seaborn).</a:t>
            </a:r>
            <a:endParaRPr/>
          </a:p>
          <a:p>
            <a:pPr indent="-311150" lvl="0" marL="457200" rtl="0" algn="l">
              <a:spcBef>
                <a:spcPts val="0"/>
              </a:spcBef>
              <a:spcAft>
                <a:spcPts val="0"/>
              </a:spcAft>
              <a:buSzPts val="1300"/>
              <a:buChar char="●"/>
            </a:pPr>
            <a:r>
              <a:rPr lang="en"/>
              <a:t>Provide clear and concise code examples.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Data </a:t>
            </a:r>
            <a:r>
              <a:rPr lang="en"/>
              <a:t>Preparation</a:t>
            </a:r>
            <a:r>
              <a:rPr lang="en"/>
              <a:t> and Exploratory Data Analysis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8"/>
          <p:cNvSpPr txBox="1"/>
          <p:nvPr>
            <p:ph type="title"/>
          </p:nvPr>
        </p:nvSpPr>
        <p:spPr>
          <a:xfrm>
            <a:off x="1291525" y="33495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Loading MIMIC-III Data</a:t>
            </a:r>
            <a:endParaRPr/>
          </a:p>
        </p:txBody>
      </p:sp>
      <p:pic>
        <p:nvPicPr>
          <p:cNvPr id="307" name="Google Shape;307;p18"/>
          <p:cNvPicPr preferRelativeResize="0"/>
          <p:nvPr/>
        </p:nvPicPr>
        <p:blipFill>
          <a:blip r:embed="rId3">
            <a:alphaModFix/>
          </a:blip>
          <a:stretch>
            <a:fillRect/>
          </a:stretch>
        </p:blipFill>
        <p:spPr>
          <a:xfrm>
            <a:off x="3657825" y="1129513"/>
            <a:ext cx="5313050" cy="2458375"/>
          </a:xfrm>
          <a:prstGeom prst="rect">
            <a:avLst/>
          </a:prstGeom>
          <a:noFill/>
          <a:ln>
            <a:noFill/>
          </a:ln>
        </p:spPr>
      </p:pic>
      <p:pic>
        <p:nvPicPr>
          <p:cNvPr id="308" name="Google Shape;308;p18"/>
          <p:cNvPicPr preferRelativeResize="0"/>
          <p:nvPr/>
        </p:nvPicPr>
        <p:blipFill>
          <a:blip r:embed="rId4">
            <a:alphaModFix/>
          </a:blip>
          <a:stretch>
            <a:fillRect/>
          </a:stretch>
        </p:blipFill>
        <p:spPr>
          <a:xfrm>
            <a:off x="173125" y="3699675"/>
            <a:ext cx="8797757" cy="1323100"/>
          </a:xfrm>
          <a:prstGeom prst="rect">
            <a:avLst/>
          </a:prstGeom>
          <a:noFill/>
          <a:ln>
            <a:noFill/>
          </a:ln>
        </p:spPr>
      </p:pic>
      <p:sp>
        <p:nvSpPr>
          <p:cNvPr id="309" name="Google Shape;309;p18"/>
          <p:cNvSpPr txBox="1"/>
          <p:nvPr/>
        </p:nvSpPr>
        <p:spPr>
          <a:xfrm>
            <a:off x="335250" y="1444550"/>
            <a:ext cx="3231900" cy="2609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First load all of the relevant libraries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Next import data from the csv files into tables in pandas we can work with</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9"/>
          <p:cNvSpPr txBox="1"/>
          <p:nvPr>
            <p:ph type="title"/>
          </p:nvPr>
        </p:nvSpPr>
        <p:spPr>
          <a:xfrm>
            <a:off x="311700" y="113800"/>
            <a:ext cx="8520600" cy="660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Exploratory Data Analysis: Research Questions and Code</a:t>
            </a:r>
            <a:endParaRPr/>
          </a:p>
        </p:txBody>
      </p:sp>
      <p:pic>
        <p:nvPicPr>
          <p:cNvPr id="315" name="Google Shape;315;p19"/>
          <p:cNvPicPr preferRelativeResize="0"/>
          <p:nvPr/>
        </p:nvPicPr>
        <p:blipFill>
          <a:blip r:embed="rId3">
            <a:alphaModFix/>
          </a:blip>
          <a:stretch>
            <a:fillRect/>
          </a:stretch>
        </p:blipFill>
        <p:spPr>
          <a:xfrm>
            <a:off x="45525" y="1153800"/>
            <a:ext cx="5237950" cy="3989701"/>
          </a:xfrm>
          <a:prstGeom prst="rect">
            <a:avLst/>
          </a:prstGeom>
          <a:noFill/>
          <a:ln>
            <a:noFill/>
          </a:ln>
        </p:spPr>
      </p:pic>
      <p:pic>
        <p:nvPicPr>
          <p:cNvPr id="316" name="Google Shape;316;p19"/>
          <p:cNvPicPr preferRelativeResize="0"/>
          <p:nvPr/>
        </p:nvPicPr>
        <p:blipFill>
          <a:blip r:embed="rId4">
            <a:alphaModFix/>
          </a:blip>
          <a:stretch>
            <a:fillRect/>
          </a:stretch>
        </p:blipFill>
        <p:spPr>
          <a:xfrm>
            <a:off x="5283475" y="1153800"/>
            <a:ext cx="3824244" cy="3989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0"/>
          <p:cNvSpPr txBox="1"/>
          <p:nvPr>
            <p:ph type="title"/>
          </p:nvPr>
        </p:nvSpPr>
        <p:spPr>
          <a:xfrm>
            <a:off x="311700" y="58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Exploratory Data Analysis: Visualizations</a:t>
            </a:r>
            <a:endParaRPr/>
          </a:p>
        </p:txBody>
      </p:sp>
      <p:pic>
        <p:nvPicPr>
          <p:cNvPr id="322" name="Google Shape;322;p20"/>
          <p:cNvPicPr preferRelativeResize="0"/>
          <p:nvPr/>
        </p:nvPicPr>
        <p:blipFill>
          <a:blip r:embed="rId3">
            <a:alphaModFix/>
          </a:blip>
          <a:stretch>
            <a:fillRect/>
          </a:stretch>
        </p:blipFill>
        <p:spPr>
          <a:xfrm>
            <a:off x="95576" y="565250"/>
            <a:ext cx="2422174" cy="3203776"/>
          </a:xfrm>
          <a:prstGeom prst="rect">
            <a:avLst/>
          </a:prstGeom>
          <a:noFill/>
          <a:ln>
            <a:noFill/>
          </a:ln>
        </p:spPr>
      </p:pic>
      <p:pic>
        <p:nvPicPr>
          <p:cNvPr id="323" name="Google Shape;323;p20"/>
          <p:cNvPicPr preferRelativeResize="0"/>
          <p:nvPr/>
        </p:nvPicPr>
        <p:blipFill>
          <a:blip r:embed="rId4">
            <a:alphaModFix/>
          </a:blip>
          <a:stretch>
            <a:fillRect/>
          </a:stretch>
        </p:blipFill>
        <p:spPr>
          <a:xfrm>
            <a:off x="2517751" y="565250"/>
            <a:ext cx="2326901" cy="3203776"/>
          </a:xfrm>
          <a:prstGeom prst="rect">
            <a:avLst/>
          </a:prstGeom>
          <a:noFill/>
          <a:ln>
            <a:noFill/>
          </a:ln>
        </p:spPr>
      </p:pic>
      <p:pic>
        <p:nvPicPr>
          <p:cNvPr id="324" name="Google Shape;324;p20"/>
          <p:cNvPicPr preferRelativeResize="0"/>
          <p:nvPr/>
        </p:nvPicPr>
        <p:blipFill>
          <a:blip r:embed="rId5">
            <a:alphaModFix/>
          </a:blip>
          <a:stretch>
            <a:fillRect/>
          </a:stretch>
        </p:blipFill>
        <p:spPr>
          <a:xfrm>
            <a:off x="4844650" y="565250"/>
            <a:ext cx="2282450" cy="1605951"/>
          </a:xfrm>
          <a:prstGeom prst="rect">
            <a:avLst/>
          </a:prstGeom>
          <a:noFill/>
          <a:ln>
            <a:noFill/>
          </a:ln>
        </p:spPr>
      </p:pic>
      <p:pic>
        <p:nvPicPr>
          <p:cNvPr id="325" name="Google Shape;325;p20"/>
          <p:cNvPicPr preferRelativeResize="0"/>
          <p:nvPr/>
        </p:nvPicPr>
        <p:blipFill>
          <a:blip r:embed="rId6">
            <a:alphaModFix/>
          </a:blip>
          <a:stretch>
            <a:fillRect/>
          </a:stretch>
        </p:blipFill>
        <p:spPr>
          <a:xfrm>
            <a:off x="95577" y="3769025"/>
            <a:ext cx="2535946" cy="1374474"/>
          </a:xfrm>
          <a:prstGeom prst="rect">
            <a:avLst/>
          </a:prstGeom>
          <a:noFill/>
          <a:ln>
            <a:noFill/>
          </a:ln>
        </p:spPr>
      </p:pic>
      <p:pic>
        <p:nvPicPr>
          <p:cNvPr id="326" name="Google Shape;326;p20"/>
          <p:cNvPicPr preferRelativeResize="0"/>
          <p:nvPr/>
        </p:nvPicPr>
        <p:blipFill>
          <a:blip r:embed="rId7">
            <a:alphaModFix/>
          </a:blip>
          <a:stretch>
            <a:fillRect/>
          </a:stretch>
        </p:blipFill>
        <p:spPr>
          <a:xfrm>
            <a:off x="2631525" y="3769025"/>
            <a:ext cx="1975373" cy="1374477"/>
          </a:xfrm>
          <a:prstGeom prst="rect">
            <a:avLst/>
          </a:prstGeom>
          <a:noFill/>
          <a:ln>
            <a:noFill/>
          </a:ln>
        </p:spPr>
      </p:pic>
      <p:pic>
        <p:nvPicPr>
          <p:cNvPr id="327" name="Google Shape;327;p20"/>
          <p:cNvPicPr preferRelativeResize="0"/>
          <p:nvPr/>
        </p:nvPicPr>
        <p:blipFill>
          <a:blip r:embed="rId8">
            <a:alphaModFix/>
          </a:blip>
          <a:stretch>
            <a:fillRect/>
          </a:stretch>
        </p:blipFill>
        <p:spPr>
          <a:xfrm>
            <a:off x="4844650" y="2171200"/>
            <a:ext cx="1920026" cy="1605950"/>
          </a:xfrm>
          <a:prstGeom prst="rect">
            <a:avLst/>
          </a:prstGeom>
          <a:noFill/>
          <a:ln>
            <a:noFill/>
          </a:ln>
        </p:spPr>
      </p:pic>
      <p:pic>
        <p:nvPicPr>
          <p:cNvPr id="328" name="Google Shape;328;p20"/>
          <p:cNvPicPr preferRelativeResize="0"/>
          <p:nvPr/>
        </p:nvPicPr>
        <p:blipFill>
          <a:blip r:embed="rId9">
            <a:alphaModFix/>
          </a:blip>
          <a:stretch>
            <a:fillRect/>
          </a:stretch>
        </p:blipFill>
        <p:spPr>
          <a:xfrm>
            <a:off x="7334821" y="18225"/>
            <a:ext cx="1574467" cy="1036326"/>
          </a:xfrm>
          <a:prstGeom prst="rect">
            <a:avLst/>
          </a:prstGeom>
          <a:noFill/>
          <a:ln>
            <a:noFill/>
          </a:ln>
        </p:spPr>
      </p:pic>
      <p:pic>
        <p:nvPicPr>
          <p:cNvPr id="329" name="Google Shape;329;p20"/>
          <p:cNvPicPr preferRelativeResize="0"/>
          <p:nvPr/>
        </p:nvPicPr>
        <p:blipFill>
          <a:blip r:embed="rId10">
            <a:alphaModFix/>
          </a:blip>
          <a:stretch>
            <a:fillRect/>
          </a:stretch>
        </p:blipFill>
        <p:spPr>
          <a:xfrm>
            <a:off x="4606901" y="3769026"/>
            <a:ext cx="2030971" cy="1374475"/>
          </a:xfrm>
          <a:prstGeom prst="rect">
            <a:avLst/>
          </a:prstGeom>
          <a:noFill/>
          <a:ln>
            <a:noFill/>
          </a:ln>
        </p:spPr>
      </p:pic>
      <p:pic>
        <p:nvPicPr>
          <p:cNvPr id="330" name="Google Shape;330;p20"/>
          <p:cNvPicPr preferRelativeResize="0"/>
          <p:nvPr/>
        </p:nvPicPr>
        <p:blipFill>
          <a:blip r:embed="rId11">
            <a:alphaModFix/>
          </a:blip>
          <a:stretch>
            <a:fillRect/>
          </a:stretch>
        </p:blipFill>
        <p:spPr>
          <a:xfrm>
            <a:off x="6694813" y="3805183"/>
            <a:ext cx="2422175" cy="1302155"/>
          </a:xfrm>
          <a:prstGeom prst="rect">
            <a:avLst/>
          </a:prstGeom>
          <a:noFill/>
          <a:ln>
            <a:noFill/>
          </a:ln>
        </p:spPr>
      </p:pic>
      <p:pic>
        <p:nvPicPr>
          <p:cNvPr id="331" name="Google Shape;331;p20"/>
          <p:cNvPicPr preferRelativeResize="0"/>
          <p:nvPr/>
        </p:nvPicPr>
        <p:blipFill>
          <a:blip r:embed="rId12">
            <a:alphaModFix/>
          </a:blip>
          <a:stretch>
            <a:fillRect/>
          </a:stretch>
        </p:blipFill>
        <p:spPr>
          <a:xfrm>
            <a:off x="7127100" y="1036325"/>
            <a:ext cx="1989898" cy="1134867"/>
          </a:xfrm>
          <a:prstGeom prst="rect">
            <a:avLst/>
          </a:prstGeom>
          <a:noFill/>
          <a:ln>
            <a:noFill/>
          </a:ln>
        </p:spPr>
      </p:pic>
      <p:pic>
        <p:nvPicPr>
          <p:cNvPr id="332" name="Google Shape;332;p20"/>
          <p:cNvPicPr preferRelativeResize="0"/>
          <p:nvPr/>
        </p:nvPicPr>
        <p:blipFill>
          <a:blip r:embed="rId13">
            <a:alphaModFix/>
          </a:blip>
          <a:stretch>
            <a:fillRect/>
          </a:stretch>
        </p:blipFill>
        <p:spPr>
          <a:xfrm>
            <a:off x="7035921" y="2215862"/>
            <a:ext cx="1846738" cy="1544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Feature Engineering</a:t>
            </a:r>
            <a:endParaRPr/>
          </a:p>
        </p:txBody>
      </p:sp>
      <p:pic>
        <p:nvPicPr>
          <p:cNvPr id="338" name="Google Shape;338;p21"/>
          <p:cNvPicPr preferRelativeResize="0"/>
          <p:nvPr/>
        </p:nvPicPr>
        <p:blipFill>
          <a:blip r:embed="rId3">
            <a:alphaModFix/>
          </a:blip>
          <a:stretch>
            <a:fillRect/>
          </a:stretch>
        </p:blipFill>
        <p:spPr>
          <a:xfrm>
            <a:off x="4321825" y="1138275"/>
            <a:ext cx="4698117" cy="3820975"/>
          </a:xfrm>
          <a:prstGeom prst="rect">
            <a:avLst/>
          </a:prstGeom>
          <a:noFill/>
          <a:ln>
            <a:noFill/>
          </a:ln>
        </p:spPr>
      </p:pic>
      <p:sp>
        <p:nvSpPr>
          <p:cNvPr id="339" name="Google Shape;339;p21"/>
          <p:cNvSpPr txBox="1"/>
          <p:nvPr/>
        </p:nvSpPr>
        <p:spPr>
          <a:xfrm>
            <a:off x="325825" y="1348725"/>
            <a:ext cx="3840300" cy="3618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Adding Hot Encoded Insurance Categories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Normalizing Age, LOS, and other dataframe data to prepare for machine learning</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Filling missing values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Defining target Variables around readmission</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2"/>
          <p:cNvSpPr txBox="1"/>
          <p:nvPr>
            <p:ph type="title"/>
          </p:nvPr>
        </p:nvSpPr>
        <p:spPr>
          <a:xfrm>
            <a:off x="311700" y="99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Focused Data Exploration and Plotting</a:t>
            </a:r>
            <a:endParaRPr/>
          </a:p>
        </p:txBody>
      </p:sp>
      <p:pic>
        <p:nvPicPr>
          <p:cNvPr id="345" name="Google Shape;345;p22"/>
          <p:cNvPicPr preferRelativeResize="0"/>
          <p:nvPr/>
        </p:nvPicPr>
        <p:blipFill>
          <a:blip r:embed="rId3">
            <a:alphaModFix/>
          </a:blip>
          <a:stretch>
            <a:fillRect/>
          </a:stretch>
        </p:blipFill>
        <p:spPr>
          <a:xfrm>
            <a:off x="3127588" y="637250"/>
            <a:ext cx="2559555" cy="2215300"/>
          </a:xfrm>
          <a:prstGeom prst="rect">
            <a:avLst/>
          </a:prstGeom>
          <a:noFill/>
          <a:ln>
            <a:noFill/>
          </a:ln>
        </p:spPr>
      </p:pic>
      <p:pic>
        <p:nvPicPr>
          <p:cNvPr id="346" name="Google Shape;346;p22"/>
          <p:cNvPicPr preferRelativeResize="0"/>
          <p:nvPr/>
        </p:nvPicPr>
        <p:blipFill>
          <a:blip r:embed="rId4">
            <a:alphaModFix/>
          </a:blip>
          <a:stretch>
            <a:fillRect/>
          </a:stretch>
        </p:blipFill>
        <p:spPr>
          <a:xfrm>
            <a:off x="5938150" y="637250"/>
            <a:ext cx="3205851" cy="2215292"/>
          </a:xfrm>
          <a:prstGeom prst="rect">
            <a:avLst/>
          </a:prstGeom>
          <a:noFill/>
          <a:ln>
            <a:noFill/>
          </a:ln>
        </p:spPr>
      </p:pic>
      <p:pic>
        <p:nvPicPr>
          <p:cNvPr id="347" name="Google Shape;347;p22"/>
          <p:cNvPicPr preferRelativeResize="0"/>
          <p:nvPr/>
        </p:nvPicPr>
        <p:blipFill>
          <a:blip r:embed="rId5">
            <a:alphaModFix/>
          </a:blip>
          <a:stretch>
            <a:fillRect/>
          </a:stretch>
        </p:blipFill>
        <p:spPr>
          <a:xfrm>
            <a:off x="5938150" y="2823800"/>
            <a:ext cx="3205850" cy="2319713"/>
          </a:xfrm>
          <a:prstGeom prst="rect">
            <a:avLst/>
          </a:prstGeom>
          <a:noFill/>
          <a:ln>
            <a:noFill/>
          </a:ln>
        </p:spPr>
      </p:pic>
      <p:pic>
        <p:nvPicPr>
          <p:cNvPr id="348" name="Google Shape;348;p22"/>
          <p:cNvPicPr preferRelativeResize="0"/>
          <p:nvPr/>
        </p:nvPicPr>
        <p:blipFill>
          <a:blip r:embed="rId6">
            <a:alphaModFix/>
          </a:blip>
          <a:stretch>
            <a:fillRect/>
          </a:stretch>
        </p:blipFill>
        <p:spPr>
          <a:xfrm>
            <a:off x="2876581" y="2852550"/>
            <a:ext cx="3061571" cy="2215300"/>
          </a:xfrm>
          <a:prstGeom prst="rect">
            <a:avLst/>
          </a:prstGeom>
          <a:noFill/>
          <a:ln>
            <a:noFill/>
          </a:ln>
        </p:spPr>
      </p:pic>
      <p:sp>
        <p:nvSpPr>
          <p:cNvPr id="349" name="Google Shape;349;p22"/>
          <p:cNvSpPr txBox="1"/>
          <p:nvPr/>
        </p:nvSpPr>
        <p:spPr>
          <a:xfrm>
            <a:off x="191175" y="1201575"/>
            <a:ext cx="2589900" cy="37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Data gives better analysis of Insurance Specific EDA:</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Self pay had the highest mortality rates, followed by medicare (likely because medicare has older patients)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Medicare and medicaid had higher readmission rates (likely due to those individuals </a:t>
            </a:r>
            <a:r>
              <a:rPr lang="en" sz="1300">
                <a:solidFill>
                  <a:schemeClr val="dk2"/>
                </a:solidFill>
              </a:rPr>
              <a:t>requiring</a:t>
            </a:r>
            <a:r>
              <a:rPr lang="en" sz="1300">
                <a:solidFill>
                  <a:schemeClr val="dk2"/>
                </a:solidFill>
              </a:rPr>
              <a:t> more medical services)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Self-Pay Patients had far shorter stays than any other payment type</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Private insurers had some of the longest skews towards high lengths of stay</a:t>
            </a:r>
            <a:endParaRPr sz="13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Prediction Model for Mortality and Readmission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4"/>
          <p:cNvSpPr txBox="1"/>
          <p:nvPr>
            <p:ph type="title"/>
          </p:nvPr>
        </p:nvSpPr>
        <p:spPr>
          <a:xfrm>
            <a:off x="311700" y="53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Predicting Mortality and Readmission: Code and Results</a:t>
            </a:r>
            <a:endParaRPr/>
          </a:p>
        </p:txBody>
      </p:sp>
      <p:pic>
        <p:nvPicPr>
          <p:cNvPr id="360" name="Google Shape;360;p24"/>
          <p:cNvPicPr preferRelativeResize="0"/>
          <p:nvPr/>
        </p:nvPicPr>
        <p:blipFill>
          <a:blip r:embed="rId3">
            <a:alphaModFix/>
          </a:blip>
          <a:stretch>
            <a:fillRect/>
          </a:stretch>
        </p:blipFill>
        <p:spPr>
          <a:xfrm>
            <a:off x="0" y="1932075"/>
            <a:ext cx="5525851" cy="3211425"/>
          </a:xfrm>
          <a:prstGeom prst="rect">
            <a:avLst/>
          </a:prstGeom>
          <a:noFill/>
          <a:ln>
            <a:noFill/>
          </a:ln>
        </p:spPr>
      </p:pic>
      <p:pic>
        <p:nvPicPr>
          <p:cNvPr id="361" name="Google Shape;361;p24"/>
          <p:cNvPicPr preferRelativeResize="0"/>
          <p:nvPr/>
        </p:nvPicPr>
        <p:blipFill>
          <a:blip r:embed="rId4">
            <a:alphaModFix/>
          </a:blip>
          <a:stretch>
            <a:fillRect/>
          </a:stretch>
        </p:blipFill>
        <p:spPr>
          <a:xfrm>
            <a:off x="5525844" y="1932075"/>
            <a:ext cx="3598507" cy="3211425"/>
          </a:xfrm>
          <a:prstGeom prst="rect">
            <a:avLst/>
          </a:prstGeom>
          <a:noFill/>
          <a:ln>
            <a:noFill/>
          </a:ln>
        </p:spPr>
      </p:pic>
      <p:sp>
        <p:nvSpPr>
          <p:cNvPr id="362" name="Google Shape;362;p24"/>
          <p:cNvSpPr txBox="1"/>
          <p:nvPr/>
        </p:nvSpPr>
        <p:spPr>
          <a:xfrm>
            <a:off x="223025" y="1195450"/>
            <a:ext cx="8648400" cy="6576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Char char="●"/>
            </a:pPr>
            <a:r>
              <a:rPr lang="en" sz="1000">
                <a:solidFill>
                  <a:schemeClr val="dk2"/>
                </a:solidFill>
              </a:rPr>
              <a:t>Mortality Prediction was easier than Readmission predictions</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Overall accuracy was fairly good, but could have been better with more features</a:t>
            </a:r>
            <a:endParaRPr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Realistically, the focus on age and </a:t>
            </a:r>
            <a:r>
              <a:rPr lang="en" sz="1000">
                <a:solidFill>
                  <a:schemeClr val="dk2"/>
                </a:solidFill>
              </a:rPr>
              <a:t>length</a:t>
            </a:r>
            <a:r>
              <a:rPr lang="en" sz="1000">
                <a:solidFill>
                  <a:schemeClr val="dk2"/>
                </a:solidFill>
              </a:rPr>
              <a:t> of stay gives a good predictor for Mortality (longer stays are more likely to die), but may not provide the granularity needed to understand the </a:t>
            </a:r>
            <a:r>
              <a:rPr lang="en" sz="1000">
                <a:solidFill>
                  <a:schemeClr val="dk2"/>
                </a:solidFill>
              </a:rPr>
              <a:t>likelihood</a:t>
            </a:r>
            <a:r>
              <a:rPr lang="en" sz="1000">
                <a:solidFill>
                  <a:schemeClr val="dk2"/>
                </a:solidFill>
              </a:rPr>
              <a:t> for a condition to lead to subsequent stays</a:t>
            </a:r>
            <a:endParaRPr sz="10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5"/>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PCA, T-SNE, and Advanced Modeling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PCA &amp; T-SNE Code</a:t>
            </a:r>
            <a:endParaRPr/>
          </a:p>
        </p:txBody>
      </p:sp>
      <p:pic>
        <p:nvPicPr>
          <p:cNvPr id="373" name="Google Shape;373;p26"/>
          <p:cNvPicPr preferRelativeResize="0"/>
          <p:nvPr/>
        </p:nvPicPr>
        <p:blipFill>
          <a:blip r:embed="rId3">
            <a:alphaModFix/>
          </a:blip>
          <a:stretch>
            <a:fillRect/>
          </a:stretch>
        </p:blipFill>
        <p:spPr>
          <a:xfrm>
            <a:off x="3512051" y="1415600"/>
            <a:ext cx="5595524" cy="3591350"/>
          </a:xfrm>
          <a:prstGeom prst="rect">
            <a:avLst/>
          </a:prstGeom>
          <a:noFill/>
          <a:ln>
            <a:noFill/>
          </a:ln>
        </p:spPr>
      </p:pic>
      <p:sp>
        <p:nvSpPr>
          <p:cNvPr id="374" name="Google Shape;374;p26"/>
          <p:cNvSpPr txBox="1"/>
          <p:nvPr/>
        </p:nvSpPr>
        <p:spPr>
          <a:xfrm>
            <a:off x="83775" y="1538750"/>
            <a:ext cx="3384000" cy="3534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Identify 2 principal components from the dataset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Plot the PCA points by insurance category</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Identify 2 principal components of tsne</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Plot those with coloration by Insurance Category</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PCA &amp; T-SNE Visualizations</a:t>
            </a:r>
            <a:endParaRPr/>
          </a:p>
        </p:txBody>
      </p:sp>
      <p:pic>
        <p:nvPicPr>
          <p:cNvPr id="380" name="Google Shape;380;p27"/>
          <p:cNvPicPr preferRelativeResize="0"/>
          <p:nvPr/>
        </p:nvPicPr>
        <p:blipFill>
          <a:blip r:embed="rId3">
            <a:alphaModFix/>
          </a:blip>
          <a:stretch>
            <a:fillRect/>
          </a:stretch>
        </p:blipFill>
        <p:spPr>
          <a:xfrm>
            <a:off x="5095850" y="0"/>
            <a:ext cx="4048149" cy="2593102"/>
          </a:xfrm>
          <a:prstGeom prst="rect">
            <a:avLst/>
          </a:prstGeom>
          <a:noFill/>
          <a:ln>
            <a:noFill/>
          </a:ln>
        </p:spPr>
      </p:pic>
      <p:pic>
        <p:nvPicPr>
          <p:cNvPr id="381" name="Google Shape;381;p27"/>
          <p:cNvPicPr preferRelativeResize="0"/>
          <p:nvPr/>
        </p:nvPicPr>
        <p:blipFill>
          <a:blip r:embed="rId4">
            <a:alphaModFix/>
          </a:blip>
          <a:stretch>
            <a:fillRect/>
          </a:stretch>
        </p:blipFill>
        <p:spPr>
          <a:xfrm>
            <a:off x="5095857" y="2571750"/>
            <a:ext cx="4048144" cy="2571750"/>
          </a:xfrm>
          <a:prstGeom prst="rect">
            <a:avLst/>
          </a:prstGeom>
          <a:noFill/>
          <a:ln>
            <a:noFill/>
          </a:ln>
        </p:spPr>
      </p:pic>
      <p:sp>
        <p:nvSpPr>
          <p:cNvPr id="382" name="Google Shape;382;p27"/>
          <p:cNvSpPr txBox="1"/>
          <p:nvPr/>
        </p:nvSpPr>
        <p:spPr>
          <a:xfrm>
            <a:off x="409625" y="1330325"/>
            <a:ext cx="4380000" cy="3580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lang="en">
                <a:solidFill>
                  <a:schemeClr val="dk2"/>
                </a:solidFill>
              </a:rPr>
              <a:t>PCA</a:t>
            </a:r>
            <a:endParaRPr>
              <a:solidFill>
                <a:schemeClr val="dk2"/>
              </a:solidFill>
            </a:endParaRPr>
          </a:p>
          <a:p>
            <a:pPr indent="-317500" lvl="1" marL="914400" rtl="0" algn="l">
              <a:spcBef>
                <a:spcPts val="0"/>
              </a:spcBef>
              <a:spcAft>
                <a:spcPts val="0"/>
              </a:spcAft>
              <a:buClr>
                <a:schemeClr val="dk2"/>
              </a:buClr>
              <a:buSzPts val="1400"/>
              <a:buChar char="○"/>
            </a:pPr>
            <a:r>
              <a:rPr lang="en">
                <a:solidFill>
                  <a:schemeClr val="dk2"/>
                </a:solidFill>
              </a:rPr>
              <a:t>Medicare seems to be unique in its cases, whereas Medicaid, Other, Self Pay, and Privately insured cases all seem to be intermixed between each other</a:t>
            </a:r>
            <a:endParaRPr>
              <a:solidFill>
                <a:schemeClr val="dk2"/>
              </a:solidFill>
            </a:endParaRPr>
          </a:p>
          <a:p>
            <a:pPr indent="-317500" lvl="1" marL="914400" rtl="0" algn="l">
              <a:spcBef>
                <a:spcPts val="0"/>
              </a:spcBef>
              <a:spcAft>
                <a:spcPts val="0"/>
              </a:spcAft>
              <a:buClr>
                <a:schemeClr val="dk2"/>
              </a:buClr>
              <a:buSzPts val="1400"/>
              <a:buChar char="○"/>
            </a:pPr>
            <a:r>
              <a:rPr lang="en">
                <a:solidFill>
                  <a:schemeClr val="dk2"/>
                </a:solidFill>
              </a:rPr>
              <a:t>This could be due to the higher age and types of complications that happen at higher ages</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t-SNE</a:t>
            </a:r>
            <a:endParaRPr>
              <a:solidFill>
                <a:schemeClr val="dk2"/>
              </a:solidFill>
            </a:endParaRPr>
          </a:p>
          <a:p>
            <a:pPr indent="-317500" lvl="1" marL="914400" rtl="0" algn="l">
              <a:spcBef>
                <a:spcPts val="0"/>
              </a:spcBef>
              <a:spcAft>
                <a:spcPts val="0"/>
              </a:spcAft>
              <a:buClr>
                <a:schemeClr val="dk2"/>
              </a:buClr>
              <a:buSzPts val="1400"/>
              <a:buChar char="○"/>
            </a:pPr>
            <a:r>
              <a:rPr lang="en">
                <a:solidFill>
                  <a:schemeClr val="dk2"/>
                </a:solidFill>
              </a:rPr>
              <a:t>Notice how segregated the different types of insurers are when it comes to the the t-SNE Chart</a:t>
            </a:r>
            <a:endParaRPr>
              <a:solidFill>
                <a:schemeClr val="dk2"/>
              </a:solidFill>
            </a:endParaRPr>
          </a:p>
          <a:p>
            <a:pPr indent="-317500" lvl="1" marL="914400" rtl="0" algn="l">
              <a:spcBef>
                <a:spcPts val="0"/>
              </a:spcBef>
              <a:spcAft>
                <a:spcPts val="0"/>
              </a:spcAft>
              <a:buClr>
                <a:schemeClr val="dk2"/>
              </a:buClr>
              <a:buSzPts val="1400"/>
              <a:buChar char="○"/>
            </a:pPr>
            <a:r>
              <a:rPr lang="en">
                <a:solidFill>
                  <a:schemeClr val="dk2"/>
                </a:solidFill>
              </a:rPr>
              <a:t>This could mean that the types of insurance people have has a high predictor of care, even if it does not predict things like readmission rates</a:t>
            </a:r>
            <a:endParaRPr>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8"/>
          <p:cNvSpPr txBox="1"/>
          <p:nvPr>
            <p:ph type="title"/>
          </p:nvPr>
        </p:nvSpPr>
        <p:spPr>
          <a:xfrm>
            <a:off x="251175" y="137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 Feature Importance Extraction: Code &amp; Graph</a:t>
            </a:r>
            <a:endParaRPr/>
          </a:p>
        </p:txBody>
      </p:sp>
      <p:pic>
        <p:nvPicPr>
          <p:cNvPr id="388" name="Google Shape;388;p28"/>
          <p:cNvPicPr preferRelativeResize="0"/>
          <p:nvPr/>
        </p:nvPicPr>
        <p:blipFill>
          <a:blip r:embed="rId3">
            <a:alphaModFix/>
          </a:blip>
          <a:stretch>
            <a:fillRect/>
          </a:stretch>
        </p:blipFill>
        <p:spPr>
          <a:xfrm>
            <a:off x="4529075" y="675350"/>
            <a:ext cx="4614925" cy="1753525"/>
          </a:xfrm>
          <a:prstGeom prst="rect">
            <a:avLst/>
          </a:prstGeom>
          <a:noFill/>
          <a:ln>
            <a:noFill/>
          </a:ln>
        </p:spPr>
      </p:pic>
      <p:pic>
        <p:nvPicPr>
          <p:cNvPr id="389" name="Google Shape;389;p28"/>
          <p:cNvPicPr preferRelativeResize="0"/>
          <p:nvPr/>
        </p:nvPicPr>
        <p:blipFill>
          <a:blip r:embed="rId4">
            <a:alphaModFix/>
          </a:blip>
          <a:stretch>
            <a:fillRect/>
          </a:stretch>
        </p:blipFill>
        <p:spPr>
          <a:xfrm>
            <a:off x="4473225" y="2428875"/>
            <a:ext cx="4670775" cy="2714625"/>
          </a:xfrm>
          <a:prstGeom prst="rect">
            <a:avLst/>
          </a:prstGeom>
          <a:noFill/>
          <a:ln>
            <a:noFill/>
          </a:ln>
        </p:spPr>
      </p:pic>
      <p:sp>
        <p:nvSpPr>
          <p:cNvPr id="390" name="Google Shape;390;p28"/>
          <p:cNvSpPr txBox="1"/>
          <p:nvPr/>
        </p:nvSpPr>
        <p:spPr>
          <a:xfrm>
            <a:off x="279275" y="1379375"/>
            <a:ext cx="4068300" cy="3559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SHAP summaries show how much an individual feature contributed to a prediction in a dataset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They can be used to explain which features are responsible for </a:t>
            </a:r>
            <a:r>
              <a:rPr lang="en" sz="1800">
                <a:solidFill>
                  <a:schemeClr val="dk2"/>
                </a:solidFill>
              </a:rPr>
              <a:t>predictions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Here we can see Age is a strong predictor of Mortality, as older dots are </a:t>
            </a:r>
            <a:r>
              <a:rPr lang="en" sz="1800">
                <a:solidFill>
                  <a:schemeClr val="dk2"/>
                </a:solidFill>
              </a:rPr>
              <a:t>skewed</a:t>
            </a:r>
            <a:r>
              <a:rPr lang="en" sz="1800">
                <a:solidFill>
                  <a:schemeClr val="dk2"/>
                </a:solidFill>
              </a:rPr>
              <a:t> to be a positive indicator of mortality</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9"/>
          <p:cNvSpPr txBox="1"/>
          <p:nvPr>
            <p:ph type="title"/>
          </p:nvPr>
        </p:nvSpPr>
        <p:spPr>
          <a:xfrm>
            <a:off x="1303800" y="306525"/>
            <a:ext cx="3723300" cy="129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Kaplan-Meier Survival Curves </a:t>
            </a:r>
            <a:endParaRPr/>
          </a:p>
        </p:txBody>
      </p:sp>
      <p:pic>
        <p:nvPicPr>
          <p:cNvPr id="396" name="Google Shape;396;p29"/>
          <p:cNvPicPr preferRelativeResize="0"/>
          <p:nvPr/>
        </p:nvPicPr>
        <p:blipFill>
          <a:blip r:embed="rId3">
            <a:alphaModFix/>
          </a:blip>
          <a:stretch>
            <a:fillRect/>
          </a:stretch>
        </p:blipFill>
        <p:spPr>
          <a:xfrm>
            <a:off x="5027125" y="385375"/>
            <a:ext cx="4116876" cy="1916275"/>
          </a:xfrm>
          <a:prstGeom prst="rect">
            <a:avLst/>
          </a:prstGeom>
          <a:noFill/>
          <a:ln>
            <a:noFill/>
          </a:ln>
        </p:spPr>
      </p:pic>
      <p:pic>
        <p:nvPicPr>
          <p:cNvPr id="397" name="Google Shape;397;p29"/>
          <p:cNvPicPr preferRelativeResize="0"/>
          <p:nvPr/>
        </p:nvPicPr>
        <p:blipFill>
          <a:blip r:embed="rId4">
            <a:alphaModFix/>
          </a:blip>
          <a:stretch>
            <a:fillRect/>
          </a:stretch>
        </p:blipFill>
        <p:spPr>
          <a:xfrm>
            <a:off x="4733876" y="2301650"/>
            <a:ext cx="4410126" cy="2841850"/>
          </a:xfrm>
          <a:prstGeom prst="rect">
            <a:avLst/>
          </a:prstGeom>
          <a:noFill/>
          <a:ln>
            <a:noFill/>
          </a:ln>
        </p:spPr>
      </p:pic>
      <p:sp>
        <p:nvSpPr>
          <p:cNvPr id="398" name="Google Shape;398;p29"/>
          <p:cNvSpPr txBox="1"/>
          <p:nvPr/>
        </p:nvSpPr>
        <p:spPr>
          <a:xfrm>
            <a:off x="269975" y="1367100"/>
            <a:ext cx="4366200" cy="36741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b="1" lang="en" sz="1100">
                <a:solidFill>
                  <a:schemeClr val="dk2"/>
                </a:solidFill>
              </a:rPr>
              <a:t>Analysis Methodology</a:t>
            </a:r>
            <a:r>
              <a:rPr lang="en" sz="1100">
                <a:solidFill>
                  <a:schemeClr val="dk2"/>
                </a:solidFill>
              </a:rPr>
              <a:t>: Applied survival analysis using Kaplan-Meier estimators to MIMIC III clinical data, stratifying patients by insurance type (Medicare, Medicaid, Private, Self-Pay, and Other) to examine the relationship between insurance status and hospital outcomes.</a:t>
            </a:r>
            <a:endParaRPr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Kaplan-Meier Curve Explained</a:t>
            </a:r>
            <a:r>
              <a:rPr lang="en" sz="1100">
                <a:solidFill>
                  <a:schemeClr val="dk2"/>
                </a:solidFill>
              </a:rPr>
              <a:t>: These curves show the probability of patients "surviving" (not being discharged due to death) over their length of hospital stay, with the colored bands representing 95% confidence intervals; steeper curve declines indicate higher discharge/mortality rates for that insurance group.</a:t>
            </a:r>
            <a:endParaRPr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Key Findings</a:t>
            </a:r>
            <a:r>
              <a:rPr lang="en" sz="1100">
                <a:solidFill>
                  <a:schemeClr val="dk2"/>
                </a:solidFill>
              </a:rPr>
              <a:t>: Medicare patients (blue line) show significantly worse outcomes with the steepest survival probability decline, while Other patients (purple) demonstrate the highest survival probability over time; this suggests potential disparities in clinical outcomes associated with insurance status that warrant further investigation into social determinants of health and treatment variations.</a:t>
            </a:r>
            <a:endParaRPr sz="11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K-Means on PCA components</a:t>
            </a:r>
            <a:endParaRPr/>
          </a:p>
        </p:txBody>
      </p:sp>
      <p:pic>
        <p:nvPicPr>
          <p:cNvPr id="404" name="Google Shape;404;p30"/>
          <p:cNvPicPr preferRelativeResize="0"/>
          <p:nvPr/>
        </p:nvPicPr>
        <p:blipFill>
          <a:blip r:embed="rId3">
            <a:alphaModFix/>
          </a:blip>
          <a:stretch>
            <a:fillRect/>
          </a:stretch>
        </p:blipFill>
        <p:spPr>
          <a:xfrm>
            <a:off x="4538375" y="1058125"/>
            <a:ext cx="4576525" cy="1340725"/>
          </a:xfrm>
          <a:prstGeom prst="rect">
            <a:avLst/>
          </a:prstGeom>
          <a:noFill/>
          <a:ln>
            <a:noFill/>
          </a:ln>
        </p:spPr>
      </p:pic>
      <p:pic>
        <p:nvPicPr>
          <p:cNvPr id="405" name="Google Shape;405;p30"/>
          <p:cNvPicPr preferRelativeResize="0"/>
          <p:nvPr/>
        </p:nvPicPr>
        <p:blipFill>
          <a:blip r:embed="rId4">
            <a:alphaModFix/>
          </a:blip>
          <a:stretch>
            <a:fillRect/>
          </a:stretch>
        </p:blipFill>
        <p:spPr>
          <a:xfrm>
            <a:off x="4910425" y="2398850"/>
            <a:ext cx="4233576" cy="2711899"/>
          </a:xfrm>
          <a:prstGeom prst="rect">
            <a:avLst/>
          </a:prstGeom>
          <a:noFill/>
          <a:ln>
            <a:noFill/>
          </a:ln>
        </p:spPr>
      </p:pic>
      <p:sp>
        <p:nvSpPr>
          <p:cNvPr id="406" name="Google Shape;406;p30"/>
          <p:cNvSpPr txBox="1"/>
          <p:nvPr/>
        </p:nvSpPr>
        <p:spPr>
          <a:xfrm>
            <a:off x="0" y="1336450"/>
            <a:ext cx="4538400" cy="37743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Char char="●"/>
            </a:pPr>
            <a:r>
              <a:rPr b="1" lang="en" sz="1100">
                <a:solidFill>
                  <a:schemeClr val="dk2"/>
                </a:solidFill>
              </a:rPr>
              <a:t>Dimensionality Reduction + Clustering Technique</a:t>
            </a:r>
            <a:r>
              <a:rPr lang="en" sz="1100">
                <a:solidFill>
                  <a:schemeClr val="dk2"/>
                </a:solidFill>
              </a:rPr>
              <a:t>: Applied Principal Component Analysis (PCA) to transform complex patient data from MIMIC III into two principal components (PCA1 and PCA2) that capture maximum variance, followed by K-means clustering to identify 4 distinct patient subgroups.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b="1" lang="en" sz="1100">
                <a:solidFill>
                  <a:schemeClr val="dk2"/>
                </a:solidFill>
              </a:rPr>
              <a:t>Visualization Analysis</a:t>
            </a:r>
            <a:r>
              <a:rPr lang="en" sz="1100">
                <a:solidFill>
                  <a:schemeClr val="dk2"/>
                </a:solidFill>
              </a:rPr>
              <a:t>: The scatter plot reveals well-defined patient clusters with unique distribution patterns—cluster 0 (blue) forms a concentrated group in the upper region, clusters 2 (green) and 3 (red) appear as compact segments, while cluster 1 (orange) shows a distinctive elongated distribution with significant spread along both axes.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b="1" lang="en" sz="1100">
                <a:solidFill>
                  <a:schemeClr val="dk2"/>
                </a:solidFill>
              </a:rPr>
              <a:t>Clinical Implications</a:t>
            </a:r>
            <a:r>
              <a:rPr lang="en" sz="1100">
                <a:solidFill>
                  <a:schemeClr val="dk2"/>
                </a:solidFill>
              </a:rPr>
              <a:t>: These patient subgroups likely represent meaningful clinical phenotypes with distinct characteristics and potentially different treatment needs; the outliers in cluster 1 extending into the lower right quadrant may represent patients with unusual or complex clinical presentations worthy of specific investigation. This is best compared to the </a:t>
            </a:r>
            <a:r>
              <a:rPr lang="en" sz="1100">
                <a:solidFill>
                  <a:schemeClr val="dk2"/>
                </a:solidFill>
              </a:rPr>
              <a:t>previous</a:t>
            </a:r>
            <a:r>
              <a:rPr lang="en" sz="1100">
                <a:solidFill>
                  <a:schemeClr val="dk2"/>
                </a:solidFill>
              </a:rPr>
              <a:t> graph which illustrated different insurance types of the same graph. </a:t>
            </a:r>
            <a:endParaRPr sz="1100">
              <a:solidFill>
                <a:schemeClr val="dk2"/>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 of Key Findings</a:t>
            </a:r>
            <a:endParaRPr/>
          </a:p>
        </p:txBody>
      </p:sp>
      <p:sp>
        <p:nvSpPr>
          <p:cNvPr id="412" name="Google Shape;412;p31"/>
          <p:cNvSpPr txBox="1"/>
          <p:nvPr/>
        </p:nvSpPr>
        <p:spPr>
          <a:xfrm>
            <a:off x="1207700" y="1630725"/>
            <a:ext cx="353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413" name="Google Shape;413;p31"/>
          <p:cNvSpPr txBox="1"/>
          <p:nvPr>
            <p:ph idx="1" type="body"/>
          </p:nvPr>
        </p:nvSpPr>
        <p:spPr>
          <a:xfrm>
            <a:off x="311700" y="1324200"/>
            <a:ext cx="5733000" cy="32448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en"/>
              <a:t>Key takeaways:</a:t>
            </a:r>
            <a:endParaRPr/>
          </a:p>
          <a:p>
            <a:pPr indent="-298450" lvl="1" marL="914400" rtl="0" algn="l">
              <a:spcBef>
                <a:spcPts val="0"/>
              </a:spcBef>
              <a:spcAft>
                <a:spcPts val="0"/>
              </a:spcAft>
              <a:buClr>
                <a:schemeClr val="dk1"/>
              </a:buClr>
              <a:buSzPts val="1100"/>
              <a:buChar char="○"/>
            </a:pPr>
            <a:r>
              <a:rPr lang="en"/>
              <a:t>Insurance type significantly impacts healthcare outcomes.</a:t>
            </a:r>
            <a:endParaRPr/>
          </a:p>
          <a:p>
            <a:pPr indent="-298450" lvl="1" marL="914400" rtl="0" algn="l">
              <a:spcBef>
                <a:spcPts val="0"/>
              </a:spcBef>
              <a:spcAft>
                <a:spcPts val="0"/>
              </a:spcAft>
              <a:buClr>
                <a:schemeClr val="dk1"/>
              </a:buClr>
              <a:buSzPts val="1100"/>
              <a:buChar char="○"/>
            </a:pPr>
            <a:r>
              <a:rPr lang="en"/>
              <a:t>Mortality and readmission rates vary across insurance groups.</a:t>
            </a:r>
            <a:endParaRPr/>
          </a:p>
          <a:p>
            <a:pPr indent="-298450" lvl="1" marL="914400" rtl="0" algn="l">
              <a:spcBef>
                <a:spcPts val="0"/>
              </a:spcBef>
              <a:spcAft>
                <a:spcPts val="0"/>
              </a:spcAft>
              <a:buClr>
                <a:schemeClr val="dk1"/>
              </a:buClr>
              <a:buSzPts val="1100"/>
              <a:buChar char="○"/>
            </a:pPr>
            <a:r>
              <a:rPr lang="en"/>
              <a:t>PCA, T-SNE, and clustering provide deeper insights into patient segmentation.</a:t>
            </a:r>
            <a:endParaRPr/>
          </a:p>
          <a:p>
            <a:pPr indent="-298450" lvl="1" marL="914400" rtl="0" algn="l">
              <a:spcBef>
                <a:spcPts val="0"/>
              </a:spcBef>
              <a:spcAft>
                <a:spcPts val="0"/>
              </a:spcAft>
              <a:buClr>
                <a:schemeClr val="dk1"/>
              </a:buClr>
              <a:buSzPts val="1100"/>
              <a:buChar char="○"/>
            </a:pPr>
            <a:r>
              <a:rPr lang="en"/>
              <a:t>ML models can predict mortality with reasonable accuracy.</a:t>
            </a:r>
            <a:endParaRPr/>
          </a:p>
          <a:p>
            <a:pPr indent="-298450" lvl="0" marL="457200" rtl="0" algn="l">
              <a:spcBef>
                <a:spcPts val="0"/>
              </a:spcBef>
              <a:spcAft>
                <a:spcPts val="0"/>
              </a:spcAft>
              <a:buClr>
                <a:schemeClr val="dk1"/>
              </a:buClr>
              <a:buSzPts val="1100"/>
              <a:buChar char="●"/>
            </a:pPr>
            <a:r>
              <a:rPr lang="en"/>
              <a:t>Future work could explore additional features to improve model performance.</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