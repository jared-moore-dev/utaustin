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5143500" cx="9144000"/>
  <p:notesSz cx="6858000" cy="9144000"/>
  <p:embeddedFontLst>
    <p:embeddedFont>
      <p:font typeface="Proxima Nova"/>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ProximaNova-bold.fntdata"/><Relationship Id="rId47" Type="http://schemas.openxmlformats.org/officeDocument/2006/relationships/font" Target="fonts/ProximaNova-regular.fntdata"/><Relationship Id="rId49" Type="http://schemas.openxmlformats.org/officeDocument/2006/relationships/font" Target="fonts/ProximaNova-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0" Type="http://schemas.openxmlformats.org/officeDocument/2006/relationships/font" Target="fonts/ProximaNova-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465742075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465742075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4657420757_0_7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4657420757_0_7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4657420757_0_7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4657420757_0_7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4657420757_0_7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4657420757_0_7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4657420757_0_7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4657420757_0_7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4657420757_0_7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4657420757_0_7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4657420757_0_7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4657420757_0_7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4657420757_0_7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4657420757_0_7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4657420757_0_7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4657420757_0_7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4657420757_0_8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4657420757_0_8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4657420757_0_7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4657420757_0_7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4657420757_0_7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4657420757_0_7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4657420757_0_8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4657420757_0_8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4657420757_0_8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4657420757_0_8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4657420757_0_8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4657420757_0_8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4657420757_0_8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4657420757_0_8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4657420757_0_8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4657420757_0_8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4657420757_0_8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4657420757_0_8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4657420757_0_8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4657420757_0_8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4657420757_0_8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4657420757_0_8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4657420757_0_8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4657420757_0_8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4657420757_0_8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4657420757_0_8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4657420757_0_9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4657420757_0_9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4657420757_0_8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4657420757_0_8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4657420757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4657420757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4657420757_0_8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4657420757_0_8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4657420757_0_9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4657420757_0_9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4657420757_0_9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4657420757_0_9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4657420757_0_9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4657420757_0_9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4657420757_0_9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4657420757_0_9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4657420757_0_9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4657420757_0_9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4657420757_0_9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4657420757_0_9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4657420757_0_9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4657420757_0_9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4657420757_0_9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4657420757_0_9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4657420757_0_9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4657420757_0_9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4657420757_0_10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4657420757_0_10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4657420757_0_10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4657420757_0_10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4657420757_0_10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4657420757_0_10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4657420757_0_10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4657420757_0_10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4657420757_0_10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4657420757_0_10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www.kaggle.com/datasets/walidbarghout/uae-hospital-diabetes-dataset-with-region-area?resource=download"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2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2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2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12.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3.pn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9.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25.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1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 Id="rId3" Type="http://schemas.openxmlformats.org/officeDocument/2006/relationships/image" Target="../media/image2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 Id="rId3" Type="http://schemas.openxmlformats.org/officeDocument/2006/relationships/image" Target="../media/image2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MIMIC III ML / DL</a:t>
            </a:r>
            <a:endParaRPr/>
          </a:p>
        </p:txBody>
      </p:sp>
      <p:sp>
        <p:nvSpPr>
          <p:cNvPr id="60" name="Google Shape;60;p13"/>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Diabetes Classification with MIMIC III data and UAE Data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Datasets used</a:t>
            </a:r>
            <a:endParaRPr/>
          </a:p>
        </p:txBody>
      </p:sp>
      <p:sp>
        <p:nvSpPr>
          <p:cNvPr id="66" name="Google Shape;66;p14"/>
          <p:cNvSpPr txBox="1"/>
          <p:nvPr>
            <p:ph idx="1" type="body"/>
          </p:nvPr>
        </p:nvSpPr>
        <p:spPr>
          <a:xfrm>
            <a:off x="311700" y="1147800"/>
            <a:ext cx="8520600" cy="14922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en"/>
              <a:t>MIMIC III Dataset</a:t>
            </a:r>
            <a:endParaRPr/>
          </a:p>
          <a:p>
            <a:pPr indent="-334327" lvl="0" marL="457200" rtl="0" algn="l">
              <a:spcBef>
                <a:spcPts val="0"/>
              </a:spcBef>
              <a:spcAft>
                <a:spcPts val="0"/>
              </a:spcAft>
              <a:buSzPct val="100000"/>
              <a:buChar char="-"/>
            </a:pPr>
            <a:r>
              <a:rPr lang="en"/>
              <a:t>U</a:t>
            </a:r>
            <a:r>
              <a:rPr lang="en"/>
              <a:t>ae_hospital_diabetes_dataset_with_region_area</a:t>
            </a:r>
            <a:endParaRPr/>
          </a:p>
          <a:p>
            <a:pPr indent="-310832" lvl="1" marL="914400" rtl="0" algn="l">
              <a:spcBef>
                <a:spcPts val="0"/>
              </a:spcBef>
              <a:spcAft>
                <a:spcPts val="0"/>
              </a:spcAft>
              <a:buSzPct val="100000"/>
              <a:buChar char="-"/>
            </a:pPr>
            <a:r>
              <a:rPr lang="en" u="sng">
                <a:solidFill>
                  <a:schemeClr val="hlink"/>
                </a:solidFill>
                <a:hlinkClick r:id="rId3"/>
              </a:rPr>
              <a:t>https://www.kaggle.com/datasets/walidbarghout/uae-hospital-diabetes-dataset-with-region-area?resource=download</a:t>
            </a:r>
            <a:endParaRPr/>
          </a:p>
          <a:p>
            <a:pPr indent="0" lvl="0" marL="0" rtl="0" algn="l">
              <a:spcBef>
                <a:spcPts val="1200"/>
              </a:spcBef>
              <a:spcAft>
                <a:spcPts val="1200"/>
              </a:spcAft>
              <a:buNone/>
            </a:pPr>
            <a:r>
              <a:t/>
            </a:r>
            <a:endParaRPr/>
          </a:p>
        </p:txBody>
      </p:sp>
      <p:sp>
        <p:nvSpPr>
          <p:cNvPr id="67" name="Google Shape;67;p14"/>
          <p:cNvSpPr txBox="1"/>
          <p:nvPr>
            <p:ph type="title"/>
          </p:nvPr>
        </p:nvSpPr>
        <p:spPr>
          <a:xfrm>
            <a:off x="311700" y="23606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Problem</a:t>
            </a:r>
            <a:endParaRPr/>
          </a:p>
        </p:txBody>
      </p:sp>
      <p:sp>
        <p:nvSpPr>
          <p:cNvPr id="68" name="Google Shape;68;p14"/>
          <p:cNvSpPr txBox="1"/>
          <p:nvPr/>
        </p:nvSpPr>
        <p:spPr>
          <a:xfrm>
            <a:off x="426725" y="3099575"/>
            <a:ext cx="8405700" cy="149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3"/>
                </a:solidFill>
                <a:latin typeface="Proxima Nova"/>
                <a:ea typeface="Proxima Nova"/>
                <a:cs typeface="Proxima Nova"/>
                <a:sym typeface="Proxima Nova"/>
              </a:rPr>
              <a:t>- MIMIC 3 Diabetes Binary Classification</a:t>
            </a:r>
            <a:endParaRPr sz="1800">
              <a:solidFill>
                <a:schemeClr val="accent3"/>
              </a:solidFill>
              <a:latin typeface="Proxima Nova"/>
              <a:ea typeface="Proxima Nova"/>
              <a:cs typeface="Proxima Nova"/>
              <a:sym typeface="Proxima Nova"/>
            </a:endParaRPr>
          </a:p>
          <a:p>
            <a:pPr indent="0" lvl="0" marL="0" rtl="0" algn="l">
              <a:spcBef>
                <a:spcPts val="0"/>
              </a:spcBef>
              <a:spcAft>
                <a:spcPts val="0"/>
              </a:spcAft>
              <a:buNone/>
            </a:pPr>
            <a:r>
              <a:rPr lang="en" sz="1800">
                <a:solidFill>
                  <a:schemeClr val="accent3"/>
                </a:solidFill>
                <a:latin typeface="Proxima Nova"/>
                <a:ea typeface="Proxima Nova"/>
                <a:cs typeface="Proxima Nova"/>
                <a:sym typeface="Proxima Nova"/>
              </a:rPr>
              <a:t>- uae_hospital_diabestes_datasets_with_region_area Diabetes Multi-Class Classification Using Deep Networks</a:t>
            </a:r>
            <a:endParaRPr sz="1800">
              <a:solidFill>
                <a:schemeClr val="accent3"/>
              </a:solidFill>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Binary Diabetes </a:t>
            </a:r>
            <a:r>
              <a:rPr lang="en"/>
              <a:t>Classification</a:t>
            </a:r>
            <a:endParaRPr/>
          </a:p>
        </p:txBody>
      </p:sp>
      <p:sp>
        <p:nvSpPr>
          <p:cNvPr id="74" name="Google Shape;74;p1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lnSpcReduction="10000"/>
          </a:bodyPr>
          <a:lstStyle/>
          <a:p>
            <a:pPr indent="-317500" lvl="0" marL="457200" rtl="0" algn="l">
              <a:spcBef>
                <a:spcPts val="0"/>
              </a:spcBef>
              <a:spcAft>
                <a:spcPts val="0"/>
              </a:spcAft>
              <a:buSzPts val="1400"/>
              <a:buChar char="-"/>
            </a:pPr>
            <a:r>
              <a:rPr lang="en"/>
              <a:t>Load Packages &amp; MIMIC  III Data</a:t>
            </a:r>
            <a:endParaRPr/>
          </a:p>
          <a:p>
            <a:pPr indent="-317500" lvl="0" marL="457200" rtl="0" algn="l">
              <a:spcBef>
                <a:spcPts val="0"/>
              </a:spcBef>
              <a:spcAft>
                <a:spcPts val="0"/>
              </a:spcAft>
              <a:buSzPts val="1400"/>
              <a:buChar char="-"/>
            </a:pPr>
            <a:r>
              <a:rPr lang="en"/>
              <a:t>Data Engineering</a:t>
            </a:r>
            <a:endParaRPr/>
          </a:p>
          <a:p>
            <a:pPr indent="-304800" lvl="1" marL="914400" rtl="0" algn="l">
              <a:spcBef>
                <a:spcPts val="0"/>
              </a:spcBef>
              <a:spcAft>
                <a:spcPts val="0"/>
              </a:spcAft>
              <a:buSzPts val="1200"/>
              <a:buChar char="-"/>
            </a:pPr>
            <a:r>
              <a:rPr lang="en"/>
              <a:t>Identify Diabetic Patients using ICD-9 Codes</a:t>
            </a:r>
            <a:endParaRPr/>
          </a:p>
          <a:p>
            <a:pPr indent="-304800" lvl="1" marL="914400" rtl="0" algn="l">
              <a:spcBef>
                <a:spcPts val="0"/>
              </a:spcBef>
              <a:spcAft>
                <a:spcPts val="0"/>
              </a:spcAft>
              <a:buSzPts val="1200"/>
              <a:buChar char="-"/>
            </a:pPr>
            <a:r>
              <a:rPr lang="en"/>
              <a:t>Extract Patient Demographics</a:t>
            </a:r>
            <a:endParaRPr/>
          </a:p>
          <a:p>
            <a:pPr indent="-304800" lvl="1" marL="914400" rtl="0" algn="l">
              <a:spcBef>
                <a:spcPts val="0"/>
              </a:spcBef>
              <a:spcAft>
                <a:spcPts val="0"/>
              </a:spcAft>
              <a:buSzPts val="1200"/>
              <a:buChar char="-"/>
            </a:pPr>
            <a:r>
              <a:rPr lang="en"/>
              <a:t>Extract Medications related to Diabetes</a:t>
            </a:r>
            <a:endParaRPr/>
          </a:p>
          <a:p>
            <a:pPr indent="-304800" lvl="1" marL="914400" rtl="0" algn="l">
              <a:spcBef>
                <a:spcPts val="0"/>
              </a:spcBef>
              <a:spcAft>
                <a:spcPts val="0"/>
              </a:spcAft>
              <a:buSzPts val="1200"/>
              <a:buChar char="-"/>
            </a:pPr>
            <a:r>
              <a:rPr lang="en"/>
              <a:t>Extract Lab Features related to Diabetes</a:t>
            </a:r>
            <a:endParaRPr/>
          </a:p>
          <a:p>
            <a:pPr indent="-304800" lvl="1" marL="914400" rtl="0" algn="l">
              <a:spcBef>
                <a:spcPts val="0"/>
              </a:spcBef>
              <a:spcAft>
                <a:spcPts val="0"/>
              </a:spcAft>
              <a:buSzPts val="1200"/>
              <a:buChar char="-"/>
            </a:pPr>
            <a:r>
              <a:rPr lang="en"/>
              <a:t>Combine All Features</a:t>
            </a:r>
            <a:endParaRPr/>
          </a:p>
          <a:p>
            <a:pPr indent="-317500" lvl="0" marL="457200" rtl="0" algn="l">
              <a:spcBef>
                <a:spcPts val="0"/>
              </a:spcBef>
              <a:spcAft>
                <a:spcPts val="0"/>
              </a:spcAft>
              <a:buSzPts val="1400"/>
              <a:buChar char="-"/>
            </a:pPr>
            <a:r>
              <a:rPr lang="en"/>
              <a:t>Data Splitting</a:t>
            </a:r>
            <a:endParaRPr/>
          </a:p>
          <a:p>
            <a:pPr indent="-304800" lvl="1" marL="914400" rtl="0" algn="l">
              <a:spcBef>
                <a:spcPts val="0"/>
              </a:spcBef>
              <a:spcAft>
                <a:spcPts val="0"/>
              </a:spcAft>
              <a:buSzPts val="1200"/>
              <a:buChar char="-"/>
            </a:pPr>
            <a:r>
              <a:rPr lang="en"/>
              <a:t>Train / Test Sets</a:t>
            </a:r>
            <a:endParaRPr/>
          </a:p>
          <a:p>
            <a:pPr indent="-304800" lvl="1" marL="914400" rtl="0" algn="l">
              <a:spcBef>
                <a:spcPts val="0"/>
              </a:spcBef>
              <a:spcAft>
                <a:spcPts val="0"/>
              </a:spcAft>
              <a:buSzPts val="1200"/>
              <a:buChar char="-"/>
            </a:pPr>
            <a:r>
              <a:rPr lang="en"/>
              <a:t>Feature Importance with Random Forest</a:t>
            </a:r>
            <a:endParaRPr/>
          </a:p>
          <a:p>
            <a:pPr indent="-317500" lvl="0" marL="457200" rtl="0" algn="l">
              <a:spcBef>
                <a:spcPts val="0"/>
              </a:spcBef>
              <a:spcAft>
                <a:spcPts val="0"/>
              </a:spcAft>
              <a:buSzPts val="1400"/>
              <a:buChar char="-"/>
            </a:pPr>
            <a:r>
              <a:rPr lang="en" sz="1400"/>
              <a:t>Evaluate Models</a:t>
            </a:r>
            <a:endParaRPr sz="1400"/>
          </a:p>
          <a:p>
            <a:pPr indent="-304800" lvl="1" marL="914400" rtl="0" algn="l">
              <a:spcBef>
                <a:spcPts val="0"/>
              </a:spcBef>
              <a:spcAft>
                <a:spcPts val="0"/>
              </a:spcAft>
              <a:buSzPts val="1200"/>
              <a:buChar char="-"/>
            </a:pPr>
            <a:r>
              <a:rPr lang="en"/>
              <a:t>Logistic Regression</a:t>
            </a:r>
            <a:endParaRPr/>
          </a:p>
          <a:p>
            <a:pPr indent="-304800" lvl="1" marL="914400" rtl="0" algn="l">
              <a:spcBef>
                <a:spcPts val="0"/>
              </a:spcBef>
              <a:spcAft>
                <a:spcPts val="0"/>
              </a:spcAft>
              <a:buSzPts val="1200"/>
              <a:buChar char="-"/>
            </a:pPr>
            <a:r>
              <a:rPr lang="en"/>
              <a:t>Random Forest</a:t>
            </a:r>
            <a:endParaRPr/>
          </a:p>
          <a:p>
            <a:pPr indent="-304800" lvl="1" marL="914400" rtl="0" algn="l">
              <a:spcBef>
                <a:spcPts val="0"/>
              </a:spcBef>
              <a:spcAft>
                <a:spcPts val="0"/>
              </a:spcAft>
              <a:buSzPts val="1200"/>
              <a:buChar char="-"/>
            </a:pPr>
            <a:r>
              <a:rPr lang="en"/>
              <a:t>Gradient Boosting</a:t>
            </a:r>
            <a:endParaRPr/>
          </a:p>
        </p:txBody>
      </p:sp>
      <p:sp>
        <p:nvSpPr>
          <p:cNvPr id="75" name="Google Shape;75;p1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a:t>Tuning Models</a:t>
            </a:r>
            <a:endParaRPr/>
          </a:p>
          <a:p>
            <a:pPr indent="-304800" lvl="1" marL="914400" rtl="0" algn="l">
              <a:spcBef>
                <a:spcPts val="0"/>
              </a:spcBef>
              <a:spcAft>
                <a:spcPts val="0"/>
              </a:spcAft>
              <a:buSzPts val="1200"/>
              <a:buChar char="-"/>
            </a:pPr>
            <a:r>
              <a:rPr lang="en"/>
              <a:t>Hyperparameter Boosting</a:t>
            </a:r>
            <a:endParaRPr/>
          </a:p>
          <a:p>
            <a:pPr indent="-304800" lvl="1" marL="914400" rtl="0" algn="l">
              <a:spcBef>
                <a:spcPts val="0"/>
              </a:spcBef>
              <a:spcAft>
                <a:spcPts val="0"/>
              </a:spcAft>
              <a:buSzPts val="1200"/>
              <a:buChar char="-"/>
            </a:pPr>
            <a:r>
              <a:rPr lang="en"/>
              <a:t>GridsearchCV</a:t>
            </a:r>
            <a:endParaRPr/>
          </a:p>
          <a:p>
            <a:pPr indent="-317500" lvl="0" marL="457200" rtl="0" algn="l">
              <a:spcBef>
                <a:spcPts val="0"/>
              </a:spcBef>
              <a:spcAft>
                <a:spcPts val="0"/>
              </a:spcAft>
              <a:buSzPts val="1400"/>
              <a:buChar char="-"/>
            </a:pPr>
            <a:r>
              <a:rPr lang="en"/>
              <a:t>Visualization</a:t>
            </a:r>
            <a:endParaRPr/>
          </a:p>
          <a:p>
            <a:pPr indent="-304800" lvl="1" marL="914400" rtl="0" algn="l">
              <a:spcBef>
                <a:spcPts val="0"/>
              </a:spcBef>
              <a:spcAft>
                <a:spcPts val="0"/>
              </a:spcAft>
              <a:buSzPts val="1200"/>
              <a:buChar char="-"/>
            </a:pPr>
            <a:r>
              <a:rPr lang="en"/>
              <a:t>Classification Metrics</a:t>
            </a:r>
            <a:endParaRPr/>
          </a:p>
          <a:p>
            <a:pPr indent="-304800" lvl="1" marL="914400" rtl="0" algn="l">
              <a:spcBef>
                <a:spcPts val="0"/>
              </a:spcBef>
              <a:spcAft>
                <a:spcPts val="0"/>
              </a:spcAft>
              <a:buSzPts val="1200"/>
              <a:buChar char="-"/>
            </a:pPr>
            <a:r>
              <a:rPr lang="en"/>
              <a:t>Confusion Matrix</a:t>
            </a:r>
            <a:endParaRPr/>
          </a:p>
          <a:p>
            <a:pPr indent="-304800" lvl="1" marL="914400" rtl="0" algn="l">
              <a:spcBef>
                <a:spcPts val="0"/>
              </a:spcBef>
              <a:spcAft>
                <a:spcPts val="0"/>
              </a:spcAft>
              <a:buSzPts val="1200"/>
              <a:buChar char="-"/>
            </a:pPr>
            <a:r>
              <a:rPr lang="en"/>
              <a:t>ROC Curve</a:t>
            </a:r>
            <a:endParaRPr/>
          </a:p>
          <a:p>
            <a:pPr indent="-304800" lvl="1" marL="914400" rtl="0" algn="l">
              <a:spcBef>
                <a:spcPts val="0"/>
              </a:spcBef>
              <a:spcAft>
                <a:spcPts val="0"/>
              </a:spcAft>
              <a:buSzPts val="1200"/>
              <a:buChar char="-"/>
            </a:pPr>
            <a:r>
              <a:rPr lang="en"/>
              <a:t>Precision-Recall Curve</a:t>
            </a:r>
            <a:endParaRPr/>
          </a:p>
          <a:p>
            <a:pPr indent="-304800" lvl="1" marL="914400" rtl="0" algn="l">
              <a:spcBef>
                <a:spcPts val="0"/>
              </a:spcBef>
              <a:spcAft>
                <a:spcPts val="0"/>
              </a:spcAft>
              <a:buSzPts val="1200"/>
              <a:buChar char="-"/>
            </a:pPr>
            <a:r>
              <a:rPr lang="en"/>
              <a:t>Feature Importance</a:t>
            </a:r>
            <a:endParaRPr/>
          </a:p>
          <a:p>
            <a:pPr indent="-317500" lvl="0" marL="457200" rtl="0" algn="l">
              <a:spcBef>
                <a:spcPts val="0"/>
              </a:spcBef>
              <a:spcAft>
                <a:spcPts val="0"/>
              </a:spcAft>
              <a:buSzPts val="1400"/>
              <a:buChar char="-"/>
            </a:pPr>
            <a:r>
              <a:rPr lang="en"/>
              <a:t>Evaluate on Demo Patient</a:t>
            </a:r>
            <a:endParaRPr/>
          </a:p>
          <a:p>
            <a:pPr indent="-304800" lvl="1" marL="914400" rtl="0" algn="l">
              <a:spcBef>
                <a:spcPts val="0"/>
              </a:spcBef>
              <a:spcAft>
                <a:spcPts val="0"/>
              </a:spcAft>
              <a:buSzPts val="1200"/>
              <a:buChar char="-"/>
            </a:pPr>
            <a:r>
              <a:rPr lang="en"/>
              <a:t>Prediction on patient data function</a:t>
            </a:r>
            <a:endParaRPr/>
          </a:p>
          <a:p>
            <a:pPr indent="-317500" lvl="0" marL="457200" rtl="0" algn="l">
              <a:spcBef>
                <a:spcPts val="0"/>
              </a:spcBef>
              <a:spcAft>
                <a:spcPts val="0"/>
              </a:spcAft>
              <a:buSzPts val="1400"/>
              <a:buChar char="-"/>
            </a:pPr>
            <a:r>
              <a:rPr lang="en"/>
              <a:t>Save Model</a:t>
            </a:r>
            <a:endParaRPr/>
          </a:p>
          <a:p>
            <a:pPr indent="-304800" lvl="1" marL="914400" rtl="0" algn="l">
              <a:spcBef>
                <a:spcPts val="0"/>
              </a:spcBef>
              <a:spcAft>
                <a:spcPts val="0"/>
              </a:spcAft>
              <a:buSzPts val="1200"/>
              <a:buChar char="-"/>
            </a:pPr>
            <a:r>
              <a:rPr lang="en"/>
              <a:t>Create Diabetes Classifier model with joblib</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Load Packages &amp; MIMIC III Data</a:t>
            </a:r>
            <a:endParaRPr/>
          </a:p>
        </p:txBody>
      </p:sp>
      <p:pic>
        <p:nvPicPr>
          <p:cNvPr id="81" name="Google Shape;81;p16"/>
          <p:cNvPicPr preferRelativeResize="0"/>
          <p:nvPr/>
        </p:nvPicPr>
        <p:blipFill>
          <a:blip r:embed="rId3">
            <a:alphaModFix/>
          </a:blip>
          <a:stretch>
            <a:fillRect/>
          </a:stretch>
        </p:blipFill>
        <p:spPr>
          <a:xfrm>
            <a:off x="152400" y="1017725"/>
            <a:ext cx="8839204" cy="923628"/>
          </a:xfrm>
          <a:prstGeom prst="rect">
            <a:avLst/>
          </a:prstGeom>
          <a:noFill/>
          <a:ln>
            <a:noFill/>
          </a:ln>
        </p:spPr>
      </p:pic>
      <p:sp>
        <p:nvSpPr>
          <p:cNvPr id="82" name="Google Shape;82;p16"/>
          <p:cNvSpPr txBox="1"/>
          <p:nvPr/>
        </p:nvSpPr>
        <p:spPr>
          <a:xfrm>
            <a:off x="264325" y="2213800"/>
            <a:ext cx="8568000" cy="25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3"/>
                </a:solidFill>
                <a:latin typeface="Proxima Nova"/>
                <a:ea typeface="Proxima Nova"/>
                <a:cs typeface="Proxima Nova"/>
                <a:sym typeface="Proxima Nova"/>
              </a:rPr>
              <a:t>Loading the following tables which contain data related to patients, their medications, their diagnosis, their lab data, and what types of procedures and events take place. This will be used as the basis for our understanding of who is diabetic and not, as well as a source of our training data depending on the importance of different features.</a:t>
            </a:r>
            <a:endParaRPr sz="1800">
              <a:solidFill>
                <a:schemeClr val="accent3"/>
              </a:solidFill>
              <a:latin typeface="Proxima Nova"/>
              <a:ea typeface="Proxima Nova"/>
              <a:cs typeface="Proxima Nova"/>
              <a:sym typeface="Proxima Nov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209275" y="2057400"/>
            <a:ext cx="8733900" cy="778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MIMIC III Binary Classifier - Data Engineering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Engineering - Identifying Diabetics</a:t>
            </a:r>
            <a:endParaRPr/>
          </a:p>
        </p:txBody>
      </p:sp>
      <p:pic>
        <p:nvPicPr>
          <p:cNvPr id="93" name="Google Shape;93;p18"/>
          <p:cNvPicPr preferRelativeResize="0"/>
          <p:nvPr/>
        </p:nvPicPr>
        <p:blipFill>
          <a:blip r:embed="rId3">
            <a:alphaModFix/>
          </a:blip>
          <a:stretch>
            <a:fillRect/>
          </a:stretch>
        </p:blipFill>
        <p:spPr>
          <a:xfrm>
            <a:off x="2882197" y="1530925"/>
            <a:ext cx="5950099" cy="2913925"/>
          </a:xfrm>
          <a:prstGeom prst="rect">
            <a:avLst/>
          </a:prstGeom>
          <a:noFill/>
          <a:ln>
            <a:noFill/>
          </a:ln>
        </p:spPr>
      </p:pic>
      <p:sp>
        <p:nvSpPr>
          <p:cNvPr id="94" name="Google Shape;94;p18"/>
          <p:cNvSpPr txBox="1"/>
          <p:nvPr/>
        </p:nvSpPr>
        <p:spPr>
          <a:xfrm>
            <a:off x="231300" y="1530925"/>
            <a:ext cx="2522100" cy="352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3"/>
                </a:solidFill>
                <a:latin typeface="Proxima Nova"/>
                <a:ea typeface="Proxima Nova"/>
                <a:cs typeface="Proxima Nova"/>
                <a:sym typeface="Proxima Nova"/>
              </a:rPr>
              <a:t>The first step is to identify diabetics by their ICD-9 Codes, and create a diabetic flag for all of the patients in the dataset </a:t>
            </a:r>
            <a:endParaRPr sz="1800">
              <a:solidFill>
                <a:schemeClr val="accent3"/>
              </a:solidFill>
              <a:latin typeface="Proxima Nova"/>
              <a:ea typeface="Proxima Nova"/>
              <a:cs typeface="Proxima Nova"/>
              <a:sym typeface="Proxima Nov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Engineering - Extract Demographics from patients and Admissions</a:t>
            </a:r>
            <a:endParaRPr/>
          </a:p>
        </p:txBody>
      </p:sp>
      <p:pic>
        <p:nvPicPr>
          <p:cNvPr id="100" name="Google Shape;100;p19"/>
          <p:cNvPicPr preferRelativeResize="0"/>
          <p:nvPr/>
        </p:nvPicPr>
        <p:blipFill>
          <a:blip r:embed="rId3">
            <a:alphaModFix/>
          </a:blip>
          <a:stretch>
            <a:fillRect/>
          </a:stretch>
        </p:blipFill>
        <p:spPr>
          <a:xfrm>
            <a:off x="4668125" y="1225200"/>
            <a:ext cx="4287383" cy="3820973"/>
          </a:xfrm>
          <a:prstGeom prst="rect">
            <a:avLst/>
          </a:prstGeom>
          <a:noFill/>
          <a:ln>
            <a:noFill/>
          </a:ln>
        </p:spPr>
      </p:pic>
      <p:sp>
        <p:nvSpPr>
          <p:cNvPr id="101" name="Google Shape;101;p19"/>
          <p:cNvSpPr txBox="1"/>
          <p:nvPr/>
        </p:nvSpPr>
        <p:spPr>
          <a:xfrm>
            <a:off x="242300" y="1398775"/>
            <a:ext cx="4287300" cy="354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3"/>
                </a:solidFill>
                <a:latin typeface="Proxima Nova"/>
                <a:ea typeface="Proxima Nova"/>
                <a:cs typeface="Proxima Nova"/>
                <a:sym typeface="Proxima Nova"/>
              </a:rPr>
              <a:t>The second step is to extract data about a </a:t>
            </a:r>
            <a:r>
              <a:rPr lang="en" sz="1800">
                <a:solidFill>
                  <a:schemeClr val="accent3"/>
                </a:solidFill>
                <a:latin typeface="Proxima Nova"/>
                <a:ea typeface="Proxima Nova"/>
                <a:cs typeface="Proxima Nova"/>
                <a:sym typeface="Proxima Nova"/>
              </a:rPr>
              <a:t>patient's</a:t>
            </a:r>
            <a:r>
              <a:rPr lang="en" sz="1800">
                <a:solidFill>
                  <a:schemeClr val="accent3"/>
                </a:solidFill>
                <a:latin typeface="Proxima Nova"/>
                <a:ea typeface="Proxima Nova"/>
                <a:cs typeface="Proxima Nova"/>
                <a:sym typeface="Proxima Nova"/>
              </a:rPr>
              <a:t> demographics like age and gender. This function extracts demographic features, including age and gender, from patient data and merges them with a pre-existing diabetes status label. It calculates age using either a provided anchor age or by subtracting birth year from admission year, handling potential date issues and erroneous age values.</a:t>
            </a:r>
            <a:endParaRPr sz="1800">
              <a:solidFill>
                <a:schemeClr val="accent3"/>
              </a:solidFill>
              <a:latin typeface="Proxima Nova"/>
              <a:ea typeface="Proxima Nova"/>
              <a:cs typeface="Proxima Nova"/>
              <a:sym typeface="Proxima Nov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Engineering - Extract Medications Related to Diabetes </a:t>
            </a:r>
            <a:endParaRPr/>
          </a:p>
        </p:txBody>
      </p:sp>
      <p:pic>
        <p:nvPicPr>
          <p:cNvPr id="107" name="Google Shape;107;p20"/>
          <p:cNvPicPr preferRelativeResize="0"/>
          <p:nvPr/>
        </p:nvPicPr>
        <p:blipFill>
          <a:blip r:embed="rId3">
            <a:alphaModFix/>
          </a:blip>
          <a:stretch>
            <a:fillRect/>
          </a:stretch>
        </p:blipFill>
        <p:spPr>
          <a:xfrm>
            <a:off x="4811871" y="1017725"/>
            <a:ext cx="4267602" cy="4061501"/>
          </a:xfrm>
          <a:prstGeom prst="rect">
            <a:avLst/>
          </a:prstGeom>
          <a:noFill/>
          <a:ln>
            <a:noFill/>
          </a:ln>
        </p:spPr>
      </p:pic>
      <p:sp>
        <p:nvSpPr>
          <p:cNvPr id="108" name="Google Shape;108;p20"/>
          <p:cNvSpPr txBox="1"/>
          <p:nvPr/>
        </p:nvSpPr>
        <p:spPr>
          <a:xfrm>
            <a:off x="462600" y="1137625"/>
            <a:ext cx="4009200" cy="382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3"/>
                </a:solidFill>
                <a:latin typeface="Proxima Nova"/>
                <a:ea typeface="Proxima Nova"/>
                <a:cs typeface="Proxima Nova"/>
                <a:sym typeface="Proxima Nova"/>
              </a:rPr>
              <a:t>Next, we can enrich this data with flags related to certain medications which are used to treat diabetes. This function extracts medication features related to diabetes from prescription data and merges them with patient diabetes status. It identifies patients prescribed insulin and oral diabetes medications, creating binary features indicating their presence, and combines this information with the existing diabetes status label.</a:t>
            </a:r>
            <a:endParaRPr sz="1800">
              <a:solidFill>
                <a:schemeClr val="accent3"/>
              </a:solidFill>
              <a:latin typeface="Proxima Nova"/>
              <a:ea typeface="Proxima Nova"/>
              <a:cs typeface="Proxima Nova"/>
              <a:sym typeface="Proxima Nov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Engineering - Extract Lab Features related to Diabetes </a:t>
            </a:r>
            <a:endParaRPr/>
          </a:p>
        </p:txBody>
      </p:sp>
      <p:pic>
        <p:nvPicPr>
          <p:cNvPr id="114" name="Google Shape;114;p21"/>
          <p:cNvPicPr preferRelativeResize="0"/>
          <p:nvPr/>
        </p:nvPicPr>
        <p:blipFill>
          <a:blip r:embed="rId3">
            <a:alphaModFix/>
          </a:blip>
          <a:stretch>
            <a:fillRect/>
          </a:stretch>
        </p:blipFill>
        <p:spPr>
          <a:xfrm>
            <a:off x="5832503" y="1017725"/>
            <a:ext cx="3164420" cy="4050473"/>
          </a:xfrm>
          <a:prstGeom prst="rect">
            <a:avLst/>
          </a:prstGeom>
          <a:noFill/>
          <a:ln>
            <a:noFill/>
          </a:ln>
        </p:spPr>
      </p:pic>
      <p:sp>
        <p:nvSpPr>
          <p:cNvPr id="115" name="Google Shape;115;p21"/>
          <p:cNvSpPr txBox="1"/>
          <p:nvPr/>
        </p:nvSpPr>
        <p:spPr>
          <a:xfrm>
            <a:off x="429550" y="1376750"/>
            <a:ext cx="5099400" cy="348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3"/>
                </a:solidFill>
                <a:latin typeface="Proxima Nova"/>
                <a:ea typeface="Proxima Nova"/>
                <a:cs typeface="Proxima Nova"/>
                <a:sym typeface="Proxima Nova"/>
              </a:rPr>
              <a:t>Next, we further enrich this data using lab testing results which were collected on patients. This function extracts lab test features related to diabetes, including glucose, HbA1c, and creatinine levels, and merges them with patient diabetes status. It calculates mean, maximum, minimum, and count for each lab test per patient, handling potential conversion errors and missing data.</a:t>
            </a:r>
            <a:endParaRPr sz="1800">
              <a:solidFill>
                <a:schemeClr val="accent3"/>
              </a:solidFill>
              <a:latin typeface="Proxima Nova"/>
              <a:ea typeface="Proxima Nova"/>
              <a:cs typeface="Proxima Nova"/>
              <a:sym typeface="Proxima Nov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Engineering - Combine All Features</a:t>
            </a:r>
            <a:endParaRPr/>
          </a:p>
        </p:txBody>
      </p:sp>
      <p:pic>
        <p:nvPicPr>
          <p:cNvPr id="121" name="Google Shape;121;p22"/>
          <p:cNvPicPr preferRelativeResize="0"/>
          <p:nvPr/>
        </p:nvPicPr>
        <p:blipFill>
          <a:blip r:embed="rId3">
            <a:alphaModFix/>
          </a:blip>
          <a:stretch>
            <a:fillRect/>
          </a:stretch>
        </p:blipFill>
        <p:spPr>
          <a:xfrm>
            <a:off x="791200" y="940625"/>
            <a:ext cx="7264477" cy="41257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Engineering - Feature Statistics</a:t>
            </a:r>
            <a:endParaRPr/>
          </a:p>
        </p:txBody>
      </p:sp>
      <p:pic>
        <p:nvPicPr>
          <p:cNvPr id="127" name="Google Shape;127;p23"/>
          <p:cNvPicPr preferRelativeResize="0"/>
          <p:nvPr/>
        </p:nvPicPr>
        <p:blipFill>
          <a:blip r:embed="rId3">
            <a:alphaModFix/>
          </a:blip>
          <a:stretch>
            <a:fillRect/>
          </a:stretch>
        </p:blipFill>
        <p:spPr>
          <a:xfrm>
            <a:off x="3739421" y="1017725"/>
            <a:ext cx="5092875" cy="3907150"/>
          </a:xfrm>
          <a:prstGeom prst="rect">
            <a:avLst/>
          </a:prstGeom>
          <a:noFill/>
          <a:ln>
            <a:noFill/>
          </a:ln>
        </p:spPr>
      </p:pic>
      <p:sp>
        <p:nvSpPr>
          <p:cNvPr id="128" name="Google Shape;128;p23"/>
          <p:cNvSpPr txBox="1"/>
          <p:nvPr/>
        </p:nvSpPr>
        <p:spPr>
          <a:xfrm>
            <a:off x="550700" y="892125"/>
            <a:ext cx="4956300" cy="3987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600"/>
              <a:t>Basic Statistics Summary</a:t>
            </a:r>
            <a:endParaRPr b="1" sz="600"/>
          </a:p>
          <a:p>
            <a:pPr indent="-266700" lvl="0" marL="457200" rtl="0" algn="l">
              <a:lnSpc>
                <a:spcPct val="115000"/>
              </a:lnSpc>
              <a:spcBef>
                <a:spcPts val="1200"/>
              </a:spcBef>
              <a:spcAft>
                <a:spcPts val="0"/>
              </a:spcAft>
              <a:buSzPts val="600"/>
              <a:buChar char="●"/>
            </a:pPr>
            <a:r>
              <a:rPr b="1" lang="en" sz="600"/>
              <a:t>Demographics</a:t>
            </a:r>
            <a:br>
              <a:rPr b="1" lang="en" sz="600"/>
            </a:br>
            <a:endParaRPr b="1" sz="600"/>
          </a:p>
          <a:p>
            <a:pPr indent="-266700" lvl="1" marL="914400" rtl="0" algn="l">
              <a:lnSpc>
                <a:spcPct val="115000"/>
              </a:lnSpc>
              <a:spcBef>
                <a:spcPts val="0"/>
              </a:spcBef>
              <a:spcAft>
                <a:spcPts val="0"/>
              </a:spcAft>
              <a:buSzPts val="600"/>
              <a:buChar char="○"/>
            </a:pPr>
            <a:r>
              <a:rPr b="1" lang="en" sz="600"/>
              <a:t>Subjects:</a:t>
            </a:r>
            <a:r>
              <a:rPr lang="en" sz="600"/>
              <a:t> 46,520</a:t>
            </a:r>
            <a:br>
              <a:rPr lang="en" sz="600"/>
            </a:br>
            <a:endParaRPr sz="600"/>
          </a:p>
          <a:p>
            <a:pPr indent="-266700" lvl="1" marL="914400" rtl="0" algn="l">
              <a:lnSpc>
                <a:spcPct val="115000"/>
              </a:lnSpc>
              <a:spcBef>
                <a:spcPts val="0"/>
              </a:spcBef>
              <a:spcAft>
                <a:spcPts val="0"/>
              </a:spcAft>
              <a:buSzPts val="600"/>
              <a:buChar char="○"/>
            </a:pPr>
            <a:r>
              <a:rPr b="1" lang="en" sz="600"/>
              <a:t>Gender (Proportion Male):</a:t>
            </a:r>
            <a:r>
              <a:rPr lang="en" sz="600"/>
              <a:t> 56.2%</a:t>
            </a:r>
            <a:br>
              <a:rPr lang="en" sz="600"/>
            </a:br>
            <a:endParaRPr sz="600"/>
          </a:p>
          <a:p>
            <a:pPr indent="-266700" lvl="1" marL="914400" rtl="0" algn="l">
              <a:lnSpc>
                <a:spcPct val="115000"/>
              </a:lnSpc>
              <a:spcBef>
                <a:spcPts val="0"/>
              </a:spcBef>
              <a:spcAft>
                <a:spcPts val="0"/>
              </a:spcAft>
              <a:buSzPts val="600"/>
              <a:buChar char="○"/>
            </a:pPr>
            <a:r>
              <a:rPr b="1" lang="en" sz="600"/>
              <a:t>Average Age:</a:t>
            </a:r>
            <a:r>
              <a:rPr lang="en" sz="600"/>
              <a:t> 53.3 years</a:t>
            </a:r>
            <a:br>
              <a:rPr lang="en" sz="600"/>
            </a:br>
            <a:endParaRPr sz="600"/>
          </a:p>
          <a:p>
            <a:pPr indent="-266700" lvl="0" marL="457200" rtl="0" algn="l">
              <a:lnSpc>
                <a:spcPct val="115000"/>
              </a:lnSpc>
              <a:spcBef>
                <a:spcPts val="0"/>
              </a:spcBef>
              <a:spcAft>
                <a:spcPts val="0"/>
              </a:spcAft>
              <a:buSzPts val="600"/>
              <a:buChar char="●"/>
            </a:pPr>
            <a:r>
              <a:rPr b="1" lang="en" sz="600"/>
              <a:t>Diabetes &amp; Medications</a:t>
            </a:r>
            <a:br>
              <a:rPr b="1" lang="en" sz="600"/>
            </a:br>
            <a:endParaRPr b="1" sz="600"/>
          </a:p>
          <a:p>
            <a:pPr indent="-266700" lvl="1" marL="914400" rtl="0" algn="l">
              <a:lnSpc>
                <a:spcPct val="115000"/>
              </a:lnSpc>
              <a:spcBef>
                <a:spcPts val="0"/>
              </a:spcBef>
              <a:spcAft>
                <a:spcPts val="0"/>
              </a:spcAft>
              <a:buSzPts val="600"/>
              <a:buChar char="○"/>
            </a:pPr>
            <a:r>
              <a:rPr b="1" lang="en" sz="600"/>
              <a:t>Has Diabetes:</a:t>
            </a:r>
            <a:r>
              <a:rPr lang="en" sz="600"/>
              <a:t> 22.2%</a:t>
            </a:r>
            <a:br>
              <a:rPr lang="en" sz="600"/>
            </a:br>
            <a:endParaRPr sz="600"/>
          </a:p>
          <a:p>
            <a:pPr indent="-266700" lvl="1" marL="914400" rtl="0" algn="l">
              <a:lnSpc>
                <a:spcPct val="115000"/>
              </a:lnSpc>
              <a:spcBef>
                <a:spcPts val="0"/>
              </a:spcBef>
              <a:spcAft>
                <a:spcPts val="0"/>
              </a:spcAft>
              <a:buSzPts val="600"/>
              <a:buChar char="○"/>
            </a:pPr>
            <a:r>
              <a:rPr b="1" lang="en" sz="600"/>
              <a:t>Insulin Prescribed:</a:t>
            </a:r>
            <a:r>
              <a:rPr lang="en" sz="600"/>
              <a:t> 55.6%</a:t>
            </a:r>
            <a:br>
              <a:rPr lang="en" sz="600"/>
            </a:br>
            <a:endParaRPr sz="600"/>
          </a:p>
          <a:p>
            <a:pPr indent="-266700" lvl="1" marL="914400" rtl="0" algn="l">
              <a:lnSpc>
                <a:spcPct val="115000"/>
              </a:lnSpc>
              <a:spcBef>
                <a:spcPts val="0"/>
              </a:spcBef>
              <a:spcAft>
                <a:spcPts val="0"/>
              </a:spcAft>
              <a:buSzPts val="600"/>
              <a:buChar char="○"/>
            </a:pPr>
            <a:r>
              <a:rPr b="1" lang="en" sz="600"/>
              <a:t>Oral Diabetes Medication:</a:t>
            </a:r>
            <a:r>
              <a:rPr lang="en" sz="600"/>
              <a:t> 6.4%</a:t>
            </a:r>
            <a:br>
              <a:rPr lang="en" sz="600"/>
            </a:br>
            <a:endParaRPr sz="600"/>
          </a:p>
          <a:p>
            <a:pPr indent="-266700" lvl="0" marL="457200" rtl="0" algn="l">
              <a:lnSpc>
                <a:spcPct val="115000"/>
              </a:lnSpc>
              <a:spcBef>
                <a:spcPts val="0"/>
              </a:spcBef>
              <a:spcAft>
                <a:spcPts val="0"/>
              </a:spcAft>
              <a:buSzPts val="600"/>
              <a:buChar char="●"/>
            </a:pPr>
            <a:r>
              <a:rPr b="1" lang="en" sz="600"/>
              <a:t>Glucose Levels</a:t>
            </a:r>
            <a:r>
              <a:rPr lang="en" sz="600"/>
              <a:t> (mg/dL)</a:t>
            </a:r>
            <a:br>
              <a:rPr lang="en" sz="600"/>
            </a:br>
            <a:endParaRPr sz="600"/>
          </a:p>
          <a:p>
            <a:pPr indent="-266700" lvl="1" marL="914400" rtl="0" algn="l">
              <a:lnSpc>
                <a:spcPct val="115000"/>
              </a:lnSpc>
              <a:spcBef>
                <a:spcPts val="0"/>
              </a:spcBef>
              <a:spcAft>
                <a:spcPts val="0"/>
              </a:spcAft>
              <a:buSzPts val="600"/>
              <a:buChar char="○"/>
            </a:pPr>
            <a:r>
              <a:rPr b="1" lang="en" sz="600"/>
              <a:t>Mean:</a:t>
            </a:r>
            <a:r>
              <a:rPr lang="en" sz="600"/>
              <a:t> 130.3 | </a:t>
            </a:r>
            <a:r>
              <a:rPr b="1" lang="en" sz="600"/>
              <a:t>Max:</a:t>
            </a:r>
            <a:r>
              <a:rPr lang="en" sz="600"/>
              <a:t> 3,565 | </a:t>
            </a:r>
            <a:r>
              <a:rPr b="1" lang="en" sz="600"/>
              <a:t>Min:</a:t>
            </a:r>
            <a:r>
              <a:rPr lang="en" sz="600"/>
              <a:t> -251</a:t>
            </a:r>
            <a:br>
              <a:rPr lang="en" sz="600"/>
            </a:br>
            <a:endParaRPr sz="600"/>
          </a:p>
          <a:p>
            <a:pPr indent="-266700" lvl="1" marL="914400" rtl="0" algn="l">
              <a:lnSpc>
                <a:spcPct val="115000"/>
              </a:lnSpc>
              <a:spcBef>
                <a:spcPts val="0"/>
              </a:spcBef>
              <a:spcAft>
                <a:spcPts val="0"/>
              </a:spcAft>
              <a:buSzPts val="600"/>
              <a:buChar char="○"/>
            </a:pPr>
            <a:r>
              <a:rPr b="1" lang="en" sz="600"/>
              <a:t>Glucose Count (Avg. Readings/Patient):</a:t>
            </a:r>
            <a:r>
              <a:rPr lang="en" sz="600"/>
              <a:t> 22.6</a:t>
            </a:r>
            <a:br>
              <a:rPr lang="en" sz="600"/>
            </a:br>
            <a:endParaRPr sz="600"/>
          </a:p>
          <a:p>
            <a:pPr indent="-266700" lvl="0" marL="457200" rtl="0" algn="l">
              <a:lnSpc>
                <a:spcPct val="115000"/>
              </a:lnSpc>
              <a:spcBef>
                <a:spcPts val="0"/>
              </a:spcBef>
              <a:spcAft>
                <a:spcPts val="0"/>
              </a:spcAft>
              <a:buSzPts val="600"/>
              <a:buChar char="●"/>
            </a:pPr>
            <a:r>
              <a:rPr b="1" lang="en" sz="600"/>
              <a:t>HbA1c Levels (%)</a:t>
            </a:r>
            <a:br>
              <a:rPr b="1" lang="en" sz="600"/>
            </a:br>
            <a:endParaRPr b="1" sz="600"/>
          </a:p>
          <a:p>
            <a:pPr indent="-266700" lvl="1" marL="914400" rtl="0" algn="l">
              <a:lnSpc>
                <a:spcPct val="115000"/>
              </a:lnSpc>
              <a:spcBef>
                <a:spcPts val="0"/>
              </a:spcBef>
              <a:spcAft>
                <a:spcPts val="0"/>
              </a:spcAft>
              <a:buSzPts val="600"/>
              <a:buChar char="○"/>
            </a:pPr>
            <a:r>
              <a:rPr b="1" lang="en" sz="600"/>
              <a:t>Mean:</a:t>
            </a:r>
            <a:r>
              <a:rPr lang="en" sz="600"/>
              <a:t> 6.1 | </a:t>
            </a:r>
            <a:r>
              <a:rPr b="1" lang="en" sz="600"/>
              <a:t>Max:</a:t>
            </a:r>
            <a:r>
              <a:rPr lang="en" sz="600"/>
              <a:t> 22.0 | </a:t>
            </a:r>
            <a:r>
              <a:rPr b="1" lang="en" sz="600"/>
              <a:t>Min:</a:t>
            </a:r>
            <a:r>
              <a:rPr lang="en" sz="600"/>
              <a:t> 3.3</a:t>
            </a:r>
            <a:br>
              <a:rPr lang="en" sz="600"/>
            </a:br>
            <a:endParaRPr sz="600"/>
          </a:p>
          <a:p>
            <a:pPr indent="-266700" lvl="1" marL="914400" rtl="0" algn="l">
              <a:lnSpc>
                <a:spcPct val="115000"/>
              </a:lnSpc>
              <a:spcBef>
                <a:spcPts val="0"/>
              </a:spcBef>
              <a:spcAft>
                <a:spcPts val="0"/>
              </a:spcAft>
              <a:buSzPts val="600"/>
              <a:buChar char="○"/>
            </a:pPr>
            <a:r>
              <a:rPr b="1" lang="en" sz="600"/>
              <a:t>HbA1c Count (Avg. Readings/Patient):</a:t>
            </a:r>
            <a:r>
              <a:rPr lang="en" sz="600"/>
              <a:t> 1.15</a:t>
            </a:r>
            <a:br>
              <a:rPr lang="en" sz="600"/>
            </a:br>
            <a:endParaRPr sz="600"/>
          </a:p>
          <a:p>
            <a:pPr indent="-266700" lvl="0" marL="457200" rtl="0" algn="l">
              <a:lnSpc>
                <a:spcPct val="115000"/>
              </a:lnSpc>
              <a:spcBef>
                <a:spcPts val="0"/>
              </a:spcBef>
              <a:spcAft>
                <a:spcPts val="0"/>
              </a:spcAft>
              <a:buSzPts val="600"/>
              <a:buChar char="●"/>
            </a:pPr>
            <a:r>
              <a:rPr b="1" lang="en" sz="600"/>
              <a:t>Creatinine Levels (mg/dL)</a:t>
            </a:r>
            <a:br>
              <a:rPr b="1" lang="en" sz="600"/>
            </a:br>
            <a:endParaRPr b="1" sz="600"/>
          </a:p>
          <a:p>
            <a:pPr indent="-266700" lvl="1" marL="914400" rtl="0" algn="l">
              <a:lnSpc>
                <a:spcPct val="115000"/>
              </a:lnSpc>
              <a:spcBef>
                <a:spcPts val="0"/>
              </a:spcBef>
              <a:spcAft>
                <a:spcPts val="0"/>
              </a:spcAft>
              <a:buSzPts val="600"/>
              <a:buChar char="○"/>
            </a:pPr>
            <a:r>
              <a:rPr b="1" lang="en" sz="600"/>
              <a:t>Mean:</a:t>
            </a:r>
            <a:r>
              <a:rPr lang="en" sz="600"/>
              <a:t> 1.20 | </a:t>
            </a:r>
            <a:r>
              <a:rPr b="1" lang="en" sz="600"/>
              <a:t>Max:</a:t>
            </a:r>
            <a:r>
              <a:rPr lang="en" sz="600"/>
              <a:t> 808 | </a:t>
            </a:r>
            <a:r>
              <a:rPr b="1" lang="en" sz="600"/>
              <a:t>Min:</a:t>
            </a:r>
            <a:r>
              <a:rPr lang="en" sz="600"/>
              <a:t> 0.0</a:t>
            </a:r>
            <a:br>
              <a:rPr lang="en" sz="600"/>
            </a:br>
            <a:endParaRPr sz="600"/>
          </a:p>
          <a:p>
            <a:pPr indent="-266700" lvl="1" marL="914400" rtl="0" algn="l">
              <a:lnSpc>
                <a:spcPct val="115000"/>
              </a:lnSpc>
              <a:spcBef>
                <a:spcPts val="0"/>
              </a:spcBef>
              <a:spcAft>
                <a:spcPts val="0"/>
              </a:spcAft>
              <a:buSzPts val="600"/>
              <a:buChar char="○"/>
            </a:pPr>
            <a:r>
              <a:rPr b="1" lang="en" sz="600"/>
              <a:t>Creatinine Count (Avg. Readings/Patient):</a:t>
            </a:r>
            <a:r>
              <a:rPr lang="en" sz="600"/>
              <a:t> 18.8</a:t>
            </a:r>
            <a:endParaRPr sz="600"/>
          </a:p>
          <a:p>
            <a:pPr indent="0" lvl="0" marL="0" rtl="0" algn="l">
              <a:spcBef>
                <a:spcPts val="1200"/>
              </a:spcBef>
              <a:spcAft>
                <a:spcPts val="0"/>
              </a:spcAft>
              <a:buNone/>
            </a:pPr>
            <a:r>
              <a:t/>
            </a:r>
            <a:endParaRPr sz="1800">
              <a:solidFill>
                <a:schemeClr val="accent3"/>
              </a:solidFill>
              <a:latin typeface="Proxima Nova"/>
              <a:ea typeface="Proxima Nova"/>
              <a:cs typeface="Proxima Nova"/>
              <a:sym typeface="Proxima Nov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4"/>
          <p:cNvSpPr txBox="1"/>
          <p:nvPr>
            <p:ph type="title"/>
          </p:nvPr>
        </p:nvSpPr>
        <p:spPr>
          <a:xfrm>
            <a:off x="510450" y="2057400"/>
            <a:ext cx="8123100" cy="778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MIMIC III Binary Classifier - Data Splitting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Splitting - Train / Test Sets</a:t>
            </a:r>
            <a:endParaRPr/>
          </a:p>
        </p:txBody>
      </p:sp>
      <p:pic>
        <p:nvPicPr>
          <p:cNvPr id="139" name="Google Shape;139;p25"/>
          <p:cNvPicPr preferRelativeResize="0"/>
          <p:nvPr/>
        </p:nvPicPr>
        <p:blipFill>
          <a:blip r:embed="rId3">
            <a:alphaModFix/>
          </a:blip>
          <a:stretch>
            <a:fillRect/>
          </a:stretch>
        </p:blipFill>
        <p:spPr>
          <a:xfrm>
            <a:off x="152400" y="1017725"/>
            <a:ext cx="8839199" cy="1789755"/>
          </a:xfrm>
          <a:prstGeom prst="rect">
            <a:avLst/>
          </a:prstGeom>
          <a:noFill/>
          <a:ln>
            <a:noFill/>
          </a:ln>
        </p:spPr>
      </p:pic>
      <p:sp>
        <p:nvSpPr>
          <p:cNvPr id="140" name="Google Shape;140;p25"/>
          <p:cNvSpPr txBox="1"/>
          <p:nvPr/>
        </p:nvSpPr>
        <p:spPr>
          <a:xfrm>
            <a:off x="286350" y="3017825"/>
            <a:ext cx="8646000" cy="170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3"/>
                </a:solidFill>
                <a:latin typeface="Proxima Nova"/>
                <a:ea typeface="Proxima Nova"/>
                <a:cs typeface="Proxima Nova"/>
                <a:sym typeface="Proxima Nova"/>
              </a:rPr>
              <a:t>Splitting the data prepares a dataset for machine learning by separating features (X) from the target variable (y) and then splits the data into training and testing sets, ensuring a stratified split based on the target variable. Finally, it prints the number of samples in the training and testing sets. We will be using a split of 80% of our data for training, and another 20% of our data for testing.</a:t>
            </a:r>
            <a:endParaRPr sz="1800">
              <a:solidFill>
                <a:schemeClr val="accent3"/>
              </a:solidFill>
              <a:latin typeface="Proxima Nova"/>
              <a:ea typeface="Proxima Nova"/>
              <a:cs typeface="Proxima Nova"/>
              <a:sym typeface="Proxima Nov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Splitting - Feature Importance with Random Forest</a:t>
            </a:r>
            <a:endParaRPr/>
          </a:p>
        </p:txBody>
      </p:sp>
      <p:pic>
        <p:nvPicPr>
          <p:cNvPr id="146" name="Google Shape;146;p26"/>
          <p:cNvPicPr preferRelativeResize="0"/>
          <p:nvPr/>
        </p:nvPicPr>
        <p:blipFill>
          <a:blip r:embed="rId3">
            <a:alphaModFix/>
          </a:blip>
          <a:stretch>
            <a:fillRect/>
          </a:stretch>
        </p:blipFill>
        <p:spPr>
          <a:xfrm>
            <a:off x="4759137" y="907600"/>
            <a:ext cx="4270275" cy="2211526"/>
          </a:xfrm>
          <a:prstGeom prst="rect">
            <a:avLst/>
          </a:prstGeom>
          <a:noFill/>
          <a:ln>
            <a:noFill/>
          </a:ln>
        </p:spPr>
      </p:pic>
      <p:pic>
        <p:nvPicPr>
          <p:cNvPr id="147" name="Google Shape;147;p26"/>
          <p:cNvPicPr preferRelativeResize="0"/>
          <p:nvPr/>
        </p:nvPicPr>
        <p:blipFill>
          <a:blip r:embed="rId4">
            <a:alphaModFix/>
          </a:blip>
          <a:stretch>
            <a:fillRect/>
          </a:stretch>
        </p:blipFill>
        <p:spPr>
          <a:xfrm>
            <a:off x="-31925" y="1590600"/>
            <a:ext cx="4791050" cy="2858156"/>
          </a:xfrm>
          <a:prstGeom prst="rect">
            <a:avLst/>
          </a:prstGeom>
          <a:noFill/>
          <a:ln>
            <a:noFill/>
          </a:ln>
        </p:spPr>
      </p:pic>
      <p:sp>
        <p:nvSpPr>
          <p:cNvPr id="148" name="Google Shape;148;p26"/>
          <p:cNvSpPr txBox="1"/>
          <p:nvPr/>
        </p:nvSpPr>
        <p:spPr>
          <a:xfrm>
            <a:off x="4956275" y="3119125"/>
            <a:ext cx="3876000" cy="192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50">
                <a:solidFill>
                  <a:schemeClr val="dk1"/>
                </a:solidFill>
                <a:latin typeface="Courier New"/>
                <a:ea typeface="Courier New"/>
                <a:cs typeface="Courier New"/>
                <a:sym typeface="Courier New"/>
              </a:rPr>
              <a:t>Top 10 most important features:</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Feature  Importance</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4        GLUCOSE_MEAN    0.178965</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5         GLUCOSE_MAX    0.137007</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3   ORAL_DIABETES_MED    0.106570</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6         GLUCOSE_MIN    0.072165</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9           HBA1C_MAX    0.066582</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12    CREATININE_MEAN    0.064529</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1          ANCHOR_AGE    0.060151</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7       GLUCOSE_COUNT    0.049301</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13     CREATININE_MAX    0.047223</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8          HBA1C_MEAN    0.046508</a:t>
            </a:r>
            <a:endParaRPr sz="1800">
              <a:solidFill>
                <a:schemeClr val="dk1"/>
              </a:solidFill>
              <a:latin typeface="Proxima Nova"/>
              <a:ea typeface="Proxima Nova"/>
              <a:cs typeface="Proxima Nova"/>
              <a:sym typeface="Proxima Nov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7"/>
          <p:cNvSpPr txBox="1"/>
          <p:nvPr>
            <p:ph type="title"/>
          </p:nvPr>
        </p:nvSpPr>
        <p:spPr>
          <a:xfrm>
            <a:off x="510450" y="2057400"/>
            <a:ext cx="8123100" cy="778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MIMIC III Binary Classifier - Evaluate Models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Evaluate Models - Defining Models &amp; Training Pipeline</a:t>
            </a:r>
            <a:endParaRPr/>
          </a:p>
        </p:txBody>
      </p:sp>
      <p:pic>
        <p:nvPicPr>
          <p:cNvPr id="159" name="Google Shape;159;p28"/>
          <p:cNvPicPr preferRelativeResize="0"/>
          <p:nvPr/>
        </p:nvPicPr>
        <p:blipFill>
          <a:blip r:embed="rId3">
            <a:alphaModFix/>
          </a:blip>
          <a:stretch>
            <a:fillRect/>
          </a:stretch>
        </p:blipFill>
        <p:spPr>
          <a:xfrm>
            <a:off x="4879150" y="1077600"/>
            <a:ext cx="4147426" cy="3999800"/>
          </a:xfrm>
          <a:prstGeom prst="rect">
            <a:avLst/>
          </a:prstGeom>
          <a:noFill/>
          <a:ln>
            <a:noFill/>
          </a:ln>
        </p:spPr>
      </p:pic>
      <p:sp>
        <p:nvSpPr>
          <p:cNvPr id="160" name="Google Shape;160;p28"/>
          <p:cNvSpPr txBox="1"/>
          <p:nvPr/>
        </p:nvSpPr>
        <p:spPr>
          <a:xfrm>
            <a:off x="198250" y="903150"/>
            <a:ext cx="468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61" name="Google Shape;161;p28"/>
          <p:cNvSpPr txBox="1"/>
          <p:nvPr/>
        </p:nvSpPr>
        <p:spPr>
          <a:xfrm>
            <a:off x="341500" y="1017725"/>
            <a:ext cx="4394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50">
                <a:solidFill>
                  <a:schemeClr val="dk1"/>
                </a:solidFill>
                <a:latin typeface="Courier New"/>
                <a:ea typeface="Courier New"/>
                <a:cs typeface="Courier New"/>
                <a:sym typeface="Courier New"/>
              </a:rPr>
              <a:t>Comparing models with 5-fold cross-validation:</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Logistic Regression: Mean ROC AUC = 0.9173 (±0.0048)</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Random Forest: Mean ROC AUC = 0.9254 (±0.0058)</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Gradient Boosting: Mean ROC AUC = 0.9303 (±0.0053)</a:t>
            </a:r>
            <a:endParaRPr>
              <a:solidFill>
                <a:schemeClr val="dk1"/>
              </a:solidFill>
            </a:endParaRPr>
          </a:p>
        </p:txBody>
      </p:sp>
      <p:pic>
        <p:nvPicPr>
          <p:cNvPr id="162" name="Google Shape;162;p28"/>
          <p:cNvPicPr preferRelativeResize="0"/>
          <p:nvPr/>
        </p:nvPicPr>
        <p:blipFill>
          <a:blip r:embed="rId4">
            <a:alphaModFix/>
          </a:blip>
          <a:stretch>
            <a:fillRect/>
          </a:stretch>
        </p:blipFill>
        <p:spPr>
          <a:xfrm>
            <a:off x="440600" y="1849025"/>
            <a:ext cx="3865875" cy="2306224"/>
          </a:xfrm>
          <a:prstGeom prst="rect">
            <a:avLst/>
          </a:prstGeom>
          <a:noFill/>
          <a:ln>
            <a:noFill/>
          </a:ln>
        </p:spPr>
      </p:pic>
      <p:sp>
        <p:nvSpPr>
          <p:cNvPr id="163" name="Google Shape;163;p28"/>
          <p:cNvSpPr txBox="1"/>
          <p:nvPr/>
        </p:nvSpPr>
        <p:spPr>
          <a:xfrm>
            <a:off x="440550" y="4394550"/>
            <a:ext cx="41475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Proxima Nova"/>
                <a:ea typeface="Proxima Nova"/>
                <a:cs typeface="Proxima Nova"/>
                <a:sym typeface="Proxima Nova"/>
              </a:rPr>
              <a:t>This code trains, evaluates (using cross-validation), and visualizes the performance of three machine learning models (Logistic Regression, Random Forest, and Gradient Boosting) based on their ROC AUC scores.</a:t>
            </a:r>
            <a:endParaRPr sz="900">
              <a:solidFill>
                <a:schemeClr val="dk1"/>
              </a:solidFill>
              <a:latin typeface="Proxima Nova"/>
              <a:ea typeface="Proxima Nova"/>
              <a:cs typeface="Proxima Nova"/>
              <a:sym typeface="Proxima Nov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9"/>
          <p:cNvSpPr txBox="1"/>
          <p:nvPr>
            <p:ph type="title"/>
          </p:nvPr>
        </p:nvSpPr>
        <p:spPr>
          <a:xfrm>
            <a:off x="510450" y="2057400"/>
            <a:ext cx="8123100" cy="778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MIMIC III Binary Classifier - Tuning Models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Tuning Models - Hyperparameter Tuning for Gradient Boosting</a:t>
            </a:r>
            <a:endParaRPr/>
          </a:p>
        </p:txBody>
      </p:sp>
      <p:pic>
        <p:nvPicPr>
          <p:cNvPr id="174" name="Google Shape;174;p30"/>
          <p:cNvPicPr preferRelativeResize="0"/>
          <p:nvPr/>
        </p:nvPicPr>
        <p:blipFill>
          <a:blip r:embed="rId3">
            <a:alphaModFix/>
          </a:blip>
          <a:stretch>
            <a:fillRect/>
          </a:stretch>
        </p:blipFill>
        <p:spPr>
          <a:xfrm>
            <a:off x="5391825" y="1126075"/>
            <a:ext cx="3638733" cy="3820974"/>
          </a:xfrm>
          <a:prstGeom prst="rect">
            <a:avLst/>
          </a:prstGeom>
          <a:noFill/>
          <a:ln>
            <a:noFill/>
          </a:ln>
        </p:spPr>
      </p:pic>
      <p:sp>
        <p:nvSpPr>
          <p:cNvPr id="175" name="Google Shape;175;p30"/>
          <p:cNvSpPr txBox="1"/>
          <p:nvPr/>
        </p:nvSpPr>
        <p:spPr>
          <a:xfrm>
            <a:off x="308400" y="1519925"/>
            <a:ext cx="4934100" cy="3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3"/>
                </a:solidFill>
                <a:latin typeface="Proxima Nova"/>
                <a:ea typeface="Proxima Nova"/>
                <a:cs typeface="Proxima Nova"/>
                <a:sym typeface="Proxima Nova"/>
              </a:rPr>
              <a:t>This tuning step dynamically selects the best performing model from a set of trained models based on their cross-validation results, then performs hyperparameter tuning using GridSearchCV to optimize its performance. It defines a parameter grid specific to the chosen model and fits the grid search to find the best combination of hyperparameters. Finally, it prints the best parameters and the corresponding best cross-validation score achieved by the tuned model.</a:t>
            </a:r>
            <a:endParaRPr sz="1800">
              <a:solidFill>
                <a:schemeClr val="accent3"/>
              </a:solidFill>
              <a:latin typeface="Proxima Nova"/>
              <a:ea typeface="Proxima Nova"/>
              <a:cs typeface="Proxima Nova"/>
              <a:sym typeface="Proxima Nov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Tuning Models - GridsearchCV &amp; Training</a:t>
            </a:r>
            <a:endParaRPr/>
          </a:p>
        </p:txBody>
      </p:sp>
      <p:pic>
        <p:nvPicPr>
          <p:cNvPr id="181" name="Google Shape;181;p31"/>
          <p:cNvPicPr preferRelativeResize="0"/>
          <p:nvPr/>
        </p:nvPicPr>
        <p:blipFill>
          <a:blip r:embed="rId3">
            <a:alphaModFix/>
          </a:blip>
          <a:stretch>
            <a:fillRect/>
          </a:stretch>
        </p:blipFill>
        <p:spPr>
          <a:xfrm>
            <a:off x="4351275" y="1707150"/>
            <a:ext cx="4792725" cy="2559750"/>
          </a:xfrm>
          <a:prstGeom prst="rect">
            <a:avLst/>
          </a:prstGeom>
          <a:noFill/>
          <a:ln>
            <a:noFill/>
          </a:ln>
        </p:spPr>
      </p:pic>
      <p:sp>
        <p:nvSpPr>
          <p:cNvPr id="182" name="Google Shape;182;p31"/>
          <p:cNvSpPr txBox="1"/>
          <p:nvPr/>
        </p:nvSpPr>
        <p:spPr>
          <a:xfrm>
            <a:off x="352450" y="947200"/>
            <a:ext cx="3733800" cy="278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3"/>
                </a:solidFill>
                <a:latin typeface="Proxima Nova"/>
                <a:ea typeface="Proxima Nova"/>
                <a:cs typeface="Proxima Nova"/>
                <a:sym typeface="Proxima Nova"/>
              </a:rPr>
              <a:t>The code extracts the optimal model discovered during hyperparameter tuning and evaluates its performance on the held-out test set.  It then trains a model using those found hyperparameters. Using this model, it generates and displays a classification report.</a:t>
            </a:r>
            <a:endParaRPr sz="1800">
              <a:solidFill>
                <a:schemeClr val="accent3"/>
              </a:solidFill>
              <a:latin typeface="Proxima Nova"/>
              <a:ea typeface="Proxima Nova"/>
              <a:cs typeface="Proxima Nova"/>
              <a:sym typeface="Proxima Nova"/>
            </a:endParaRPr>
          </a:p>
        </p:txBody>
      </p:sp>
      <p:sp>
        <p:nvSpPr>
          <p:cNvPr id="183" name="Google Shape;183;p31"/>
          <p:cNvSpPr txBox="1"/>
          <p:nvPr/>
        </p:nvSpPr>
        <p:spPr>
          <a:xfrm>
            <a:off x="66075" y="3469375"/>
            <a:ext cx="4592700" cy="13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50">
                <a:solidFill>
                  <a:schemeClr val="dk1"/>
                </a:solidFill>
                <a:highlight>
                  <a:schemeClr val="lt1"/>
                </a:highlight>
                <a:latin typeface="Courier New"/>
                <a:ea typeface="Courier New"/>
                <a:cs typeface="Courier New"/>
                <a:sym typeface="Courier New"/>
              </a:rPr>
              <a:t>Classification Report:</a:t>
            </a:r>
            <a:endParaRPr sz="85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rPr lang="en" sz="850">
                <a:solidFill>
                  <a:schemeClr val="dk1"/>
                </a:solidFill>
                <a:highlight>
                  <a:schemeClr val="lt1"/>
                </a:highlight>
                <a:latin typeface="Courier New"/>
                <a:ea typeface="Courier New"/>
                <a:cs typeface="Courier New"/>
                <a:sym typeface="Courier New"/>
              </a:rPr>
              <a:t>              precision    recall  f1-score   support</a:t>
            </a:r>
            <a:endParaRPr sz="85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t/>
            </a:r>
            <a:endParaRPr sz="85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rPr lang="en" sz="850">
                <a:solidFill>
                  <a:schemeClr val="dk1"/>
                </a:solidFill>
                <a:highlight>
                  <a:schemeClr val="lt1"/>
                </a:highlight>
                <a:latin typeface="Courier New"/>
                <a:ea typeface="Courier New"/>
                <a:cs typeface="Courier New"/>
                <a:sym typeface="Courier New"/>
              </a:rPr>
              <a:t>           0       0.91      0.95      0.93      7240</a:t>
            </a:r>
            <a:endParaRPr sz="85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rPr lang="en" sz="850">
                <a:solidFill>
                  <a:schemeClr val="dk1"/>
                </a:solidFill>
                <a:highlight>
                  <a:schemeClr val="lt1"/>
                </a:highlight>
                <a:latin typeface="Courier New"/>
                <a:ea typeface="Courier New"/>
                <a:cs typeface="Courier New"/>
                <a:sym typeface="Courier New"/>
              </a:rPr>
              <a:t>           1       0.80      0.67      0.73      2064</a:t>
            </a:r>
            <a:endParaRPr sz="85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t/>
            </a:r>
            <a:endParaRPr sz="8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50">
                <a:solidFill>
                  <a:schemeClr val="dk1"/>
                </a:solidFill>
                <a:highlight>
                  <a:schemeClr val="lt1"/>
                </a:highlight>
                <a:latin typeface="Courier New"/>
                <a:ea typeface="Courier New"/>
                <a:cs typeface="Courier New"/>
                <a:sym typeface="Courier New"/>
              </a:rPr>
              <a:t>    accuracy                           0.89      9304</a:t>
            </a:r>
            <a:endParaRPr sz="85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rPr lang="en" sz="850">
                <a:solidFill>
                  <a:schemeClr val="dk1"/>
                </a:solidFill>
                <a:highlight>
                  <a:schemeClr val="lt1"/>
                </a:highlight>
                <a:latin typeface="Courier New"/>
                <a:ea typeface="Courier New"/>
                <a:cs typeface="Courier New"/>
                <a:sym typeface="Courier New"/>
              </a:rPr>
              <a:t>   macro avg       0.85      0.81      0.83      9304</a:t>
            </a:r>
            <a:endParaRPr sz="85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rPr lang="en" sz="850">
                <a:solidFill>
                  <a:schemeClr val="dk1"/>
                </a:solidFill>
                <a:highlight>
                  <a:schemeClr val="lt1"/>
                </a:highlight>
                <a:latin typeface="Courier New"/>
                <a:ea typeface="Courier New"/>
                <a:cs typeface="Courier New"/>
                <a:sym typeface="Courier New"/>
              </a:rPr>
              <a:t>weighted avg       0.88      0.89      0.89      9304</a:t>
            </a:r>
            <a:endParaRPr sz="1200">
              <a:solidFill>
                <a:schemeClr val="dk1"/>
              </a:solidFill>
              <a:highlight>
                <a:schemeClr val="lt1"/>
              </a:high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2"/>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MIMIC III Binary Classifier - Visualization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Visualization - </a:t>
            </a:r>
            <a:r>
              <a:rPr lang="en"/>
              <a:t>Confusion Matrix</a:t>
            </a:r>
            <a:endParaRPr/>
          </a:p>
        </p:txBody>
      </p:sp>
      <p:pic>
        <p:nvPicPr>
          <p:cNvPr id="194" name="Google Shape;194;p33"/>
          <p:cNvPicPr preferRelativeResize="0"/>
          <p:nvPr/>
        </p:nvPicPr>
        <p:blipFill>
          <a:blip r:embed="rId3">
            <a:alphaModFix/>
          </a:blip>
          <a:stretch>
            <a:fillRect/>
          </a:stretch>
        </p:blipFill>
        <p:spPr>
          <a:xfrm>
            <a:off x="2835902" y="3193975"/>
            <a:ext cx="6308097" cy="1949525"/>
          </a:xfrm>
          <a:prstGeom prst="rect">
            <a:avLst/>
          </a:prstGeom>
          <a:noFill/>
          <a:ln>
            <a:noFill/>
          </a:ln>
        </p:spPr>
      </p:pic>
      <p:pic>
        <p:nvPicPr>
          <p:cNvPr id="195" name="Google Shape;195;p33"/>
          <p:cNvPicPr preferRelativeResize="0"/>
          <p:nvPr/>
        </p:nvPicPr>
        <p:blipFill>
          <a:blip r:embed="rId4">
            <a:alphaModFix/>
          </a:blip>
          <a:stretch>
            <a:fillRect/>
          </a:stretch>
        </p:blipFill>
        <p:spPr>
          <a:xfrm>
            <a:off x="5210948" y="0"/>
            <a:ext cx="3988102" cy="3193975"/>
          </a:xfrm>
          <a:prstGeom prst="rect">
            <a:avLst/>
          </a:prstGeom>
          <a:noFill/>
          <a:ln>
            <a:noFill/>
          </a:ln>
        </p:spPr>
      </p:pic>
      <p:sp>
        <p:nvSpPr>
          <p:cNvPr id="196" name="Google Shape;196;p33"/>
          <p:cNvSpPr txBox="1"/>
          <p:nvPr/>
        </p:nvSpPr>
        <p:spPr>
          <a:xfrm>
            <a:off x="231300" y="859075"/>
            <a:ext cx="5128200" cy="233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Proxima Nova"/>
                <a:ea typeface="Proxima Nova"/>
                <a:cs typeface="Proxima Nova"/>
                <a:sym typeface="Proxima Nova"/>
              </a:rPr>
              <a:t>The model accurately predicted 6890 individuals without diabetes and 1379 individuals with diabetes. However, it misclassified 350 healthy individuals as having diabetes and failed to identify 685 individuals who truly had the condition. This indicates a potential issue with the model's sensitivity in detecting positive cases, which is crucial in a medical context like diabetes prediction.</a:t>
            </a:r>
            <a:endParaRPr sz="1800">
              <a:solidFill>
                <a:schemeClr val="dk1"/>
              </a:solidFill>
              <a:latin typeface="Proxima Nova"/>
              <a:ea typeface="Proxima Nova"/>
              <a:cs typeface="Proxima Nova"/>
              <a:sym typeface="Proxima Nov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Visualization - ROC Curve</a:t>
            </a:r>
            <a:endParaRPr/>
          </a:p>
        </p:txBody>
      </p:sp>
      <p:pic>
        <p:nvPicPr>
          <p:cNvPr id="202" name="Google Shape;202;p34"/>
          <p:cNvPicPr preferRelativeResize="0"/>
          <p:nvPr/>
        </p:nvPicPr>
        <p:blipFill>
          <a:blip r:embed="rId3">
            <a:alphaModFix/>
          </a:blip>
          <a:stretch>
            <a:fillRect/>
          </a:stretch>
        </p:blipFill>
        <p:spPr>
          <a:xfrm>
            <a:off x="4915781" y="0"/>
            <a:ext cx="4228217" cy="3347075"/>
          </a:xfrm>
          <a:prstGeom prst="rect">
            <a:avLst/>
          </a:prstGeom>
          <a:noFill/>
          <a:ln>
            <a:noFill/>
          </a:ln>
        </p:spPr>
      </p:pic>
      <p:pic>
        <p:nvPicPr>
          <p:cNvPr id="203" name="Google Shape;203;p34"/>
          <p:cNvPicPr preferRelativeResize="0"/>
          <p:nvPr/>
        </p:nvPicPr>
        <p:blipFill>
          <a:blip r:embed="rId4">
            <a:alphaModFix/>
          </a:blip>
          <a:stretch>
            <a:fillRect/>
          </a:stretch>
        </p:blipFill>
        <p:spPr>
          <a:xfrm>
            <a:off x="5131675" y="3347075"/>
            <a:ext cx="4012325" cy="1796427"/>
          </a:xfrm>
          <a:prstGeom prst="rect">
            <a:avLst/>
          </a:prstGeom>
          <a:noFill/>
          <a:ln>
            <a:noFill/>
          </a:ln>
        </p:spPr>
      </p:pic>
      <p:sp>
        <p:nvSpPr>
          <p:cNvPr id="204" name="Google Shape;204;p34"/>
          <p:cNvSpPr txBox="1"/>
          <p:nvPr/>
        </p:nvSpPr>
        <p:spPr>
          <a:xfrm>
            <a:off x="308400" y="1200525"/>
            <a:ext cx="4405500" cy="368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This ROC curve illustrates the performance of a diabetes prediction model, plotting the True Positive Rate (sensitivity) against the False Positive Rate (1-specificity) at various threshold settings. The curve</a:t>
            </a:r>
            <a:r>
              <a:rPr baseline="30000" lang="en"/>
              <a:t> </a:t>
            </a:r>
            <a:r>
              <a:rPr lang="en"/>
              <a:t>rises sharply towards the top-left corner, indicating a high True Positive Rate with a low False Positive Rate, which signifies good discriminatory ability. The Area Under the Curve (AUC) is 0.930, suggesting the model has an excellent ability to distinguish between individuals with and without diabetes. This high AUC score implies the model is effective in ranking individuals based on their risk of diabetes.</a:t>
            </a:r>
            <a:endParaRPr sz="2100">
              <a:solidFill>
                <a:schemeClr val="accent3"/>
              </a:solidFill>
              <a:latin typeface="Proxima Nova"/>
              <a:ea typeface="Proxima Nova"/>
              <a:cs typeface="Proxima Nova"/>
              <a:sym typeface="Proxima Nov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Visualization - Precision-Recall Curve</a:t>
            </a:r>
            <a:endParaRPr/>
          </a:p>
        </p:txBody>
      </p:sp>
      <p:pic>
        <p:nvPicPr>
          <p:cNvPr id="210" name="Google Shape;210;p35"/>
          <p:cNvPicPr preferRelativeResize="0"/>
          <p:nvPr/>
        </p:nvPicPr>
        <p:blipFill>
          <a:blip r:embed="rId3">
            <a:alphaModFix/>
          </a:blip>
          <a:stretch>
            <a:fillRect/>
          </a:stretch>
        </p:blipFill>
        <p:spPr>
          <a:xfrm>
            <a:off x="5212025" y="1017715"/>
            <a:ext cx="3931975" cy="3112586"/>
          </a:xfrm>
          <a:prstGeom prst="rect">
            <a:avLst/>
          </a:prstGeom>
          <a:noFill/>
          <a:ln>
            <a:noFill/>
          </a:ln>
        </p:spPr>
      </p:pic>
      <p:pic>
        <p:nvPicPr>
          <p:cNvPr id="211" name="Google Shape;211;p35"/>
          <p:cNvPicPr preferRelativeResize="0"/>
          <p:nvPr/>
        </p:nvPicPr>
        <p:blipFill>
          <a:blip r:embed="rId4">
            <a:alphaModFix/>
          </a:blip>
          <a:stretch>
            <a:fillRect/>
          </a:stretch>
        </p:blipFill>
        <p:spPr>
          <a:xfrm>
            <a:off x="0" y="2962725"/>
            <a:ext cx="5212025" cy="2011275"/>
          </a:xfrm>
          <a:prstGeom prst="rect">
            <a:avLst/>
          </a:prstGeom>
          <a:noFill/>
          <a:ln>
            <a:noFill/>
          </a:ln>
        </p:spPr>
      </p:pic>
      <p:sp>
        <p:nvSpPr>
          <p:cNvPr id="212" name="Google Shape;212;p35"/>
          <p:cNvSpPr txBox="1"/>
          <p:nvPr/>
        </p:nvSpPr>
        <p:spPr>
          <a:xfrm>
            <a:off x="121150" y="881125"/>
            <a:ext cx="5091000" cy="208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This Precision-Recall curve displays the trade-off between precision (the proportion of correctly predicted positive cases) and recall (the proportion of actual positive cases correctly identified) for the diabetes prediction model. The curve shows a high precision at low recall values, indicating the model is very accurate when it predicts diabetes, but it misses many actual cases. As recall increases, precision decreases, suggesting the model becomes less accurate at identifying all positive cases. The Area Under the Curve (AUC) of 0.823 indicates a good balance between precision and recall, but also highlights the potential for improvement in capturing all positive cases without sacrificing precision.</a:t>
            </a:r>
            <a:endParaRPr sz="1200">
              <a:solidFill>
                <a:schemeClr val="dk1"/>
              </a:solidFill>
              <a:latin typeface="Proxima Nova"/>
              <a:ea typeface="Proxima Nova"/>
              <a:cs typeface="Proxima Nova"/>
              <a:sym typeface="Proxima Nova"/>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Visualization - Feature Importance</a:t>
            </a:r>
            <a:endParaRPr/>
          </a:p>
        </p:txBody>
      </p:sp>
      <p:pic>
        <p:nvPicPr>
          <p:cNvPr id="218" name="Google Shape;218;p36"/>
          <p:cNvPicPr preferRelativeResize="0"/>
          <p:nvPr/>
        </p:nvPicPr>
        <p:blipFill>
          <a:blip r:embed="rId3">
            <a:alphaModFix/>
          </a:blip>
          <a:stretch>
            <a:fillRect/>
          </a:stretch>
        </p:blipFill>
        <p:spPr>
          <a:xfrm>
            <a:off x="4370851" y="2296025"/>
            <a:ext cx="4773149" cy="2847476"/>
          </a:xfrm>
          <a:prstGeom prst="rect">
            <a:avLst/>
          </a:prstGeom>
          <a:noFill/>
          <a:ln>
            <a:noFill/>
          </a:ln>
        </p:spPr>
      </p:pic>
      <p:sp>
        <p:nvSpPr>
          <p:cNvPr id="219" name="Google Shape;219;p36"/>
          <p:cNvSpPr txBox="1"/>
          <p:nvPr/>
        </p:nvSpPr>
        <p:spPr>
          <a:xfrm>
            <a:off x="5749250" y="0"/>
            <a:ext cx="3000000" cy="2285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50">
                <a:solidFill>
                  <a:schemeClr val="dk1"/>
                </a:solidFill>
                <a:latin typeface="Courier New"/>
                <a:ea typeface="Courier New"/>
                <a:cs typeface="Courier New"/>
                <a:sym typeface="Courier New"/>
              </a:rPr>
              <a:t>Top 10 features from the final model:</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Feature  Importance</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4         GLUCOSE_MEAN    0.416511</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3    ORAL_DIABETES_MED    0.188321</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9            HBA1C_MAX    0.125149</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5          GLUCOSE_MAX    0.053727</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2   INSULIN_PRESCRIBED    0.049990</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6          GLUCOSE_MIN    0.045220</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14      CREATININE_MIN    0.024464</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12     CREATININE_MEAN    0.023523</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1           ANCHOR_AGE    0.019192</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7        GLUCOSE_COUNT    0.014230</a:t>
            </a:r>
            <a:endParaRPr>
              <a:solidFill>
                <a:schemeClr val="dk1"/>
              </a:solidFill>
            </a:endParaRPr>
          </a:p>
        </p:txBody>
      </p:sp>
      <p:sp>
        <p:nvSpPr>
          <p:cNvPr id="220" name="Google Shape;220;p36"/>
          <p:cNvSpPr txBox="1"/>
          <p:nvPr/>
        </p:nvSpPr>
        <p:spPr>
          <a:xfrm>
            <a:off x="352450" y="892125"/>
            <a:ext cx="4018500" cy="3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latin typeface="Proxima Nova"/>
                <a:ea typeface="Proxima Nova"/>
                <a:cs typeface="Proxima Nova"/>
                <a:sym typeface="Proxima Nova"/>
              </a:rPr>
              <a:t>This horizontal bar chart displays the top 10 most important features identified by a Gradient Boosting model for predicting diabetes. The "GLUCOSE_MEAN" is the most influential feature, significantly outweighing all others in importance. "ORAL_DIABETES_MED" and "HBA1C_MAX" also play a substantial role, while features like "GLUCOSE_COUNT" and "ANCHOR_AGE" have relatively low importance in the model's predictions. This visualization helps understand which factors the model relies on most heavily when determining diabetes risk.</a:t>
            </a:r>
            <a:endParaRPr>
              <a:solidFill>
                <a:schemeClr val="accent3"/>
              </a:solidFill>
              <a:latin typeface="Proxima Nova"/>
              <a:ea typeface="Proxima Nova"/>
              <a:cs typeface="Proxima Nova"/>
              <a:sym typeface="Proxima Nova"/>
            </a:endParaRPr>
          </a:p>
        </p:txBody>
      </p:sp>
      <p:pic>
        <p:nvPicPr>
          <p:cNvPr id="221" name="Google Shape;221;p36"/>
          <p:cNvPicPr preferRelativeResize="0"/>
          <p:nvPr/>
        </p:nvPicPr>
        <p:blipFill>
          <a:blip r:embed="rId4">
            <a:alphaModFix/>
          </a:blip>
          <a:stretch>
            <a:fillRect/>
          </a:stretch>
        </p:blipFill>
        <p:spPr>
          <a:xfrm>
            <a:off x="598250" y="3571474"/>
            <a:ext cx="3526899" cy="15720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7"/>
          <p:cNvSpPr txBox="1"/>
          <p:nvPr>
            <p:ph type="title"/>
          </p:nvPr>
        </p:nvSpPr>
        <p:spPr>
          <a:xfrm>
            <a:off x="510450" y="2057400"/>
            <a:ext cx="8123100" cy="778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MIMIC III Binary Classifier - Evaluate Patient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Evaluate Patient - Predicting outcomes</a:t>
            </a:r>
            <a:endParaRPr/>
          </a:p>
        </p:txBody>
      </p:sp>
      <p:pic>
        <p:nvPicPr>
          <p:cNvPr id="232" name="Google Shape;232;p38"/>
          <p:cNvPicPr preferRelativeResize="0"/>
          <p:nvPr/>
        </p:nvPicPr>
        <p:blipFill>
          <a:blip r:embed="rId3">
            <a:alphaModFix/>
          </a:blip>
          <a:stretch>
            <a:fillRect/>
          </a:stretch>
        </p:blipFill>
        <p:spPr>
          <a:xfrm>
            <a:off x="4580000" y="1203150"/>
            <a:ext cx="4498587" cy="3820976"/>
          </a:xfrm>
          <a:prstGeom prst="rect">
            <a:avLst/>
          </a:prstGeom>
          <a:noFill/>
          <a:ln>
            <a:noFill/>
          </a:ln>
        </p:spPr>
      </p:pic>
      <p:pic>
        <p:nvPicPr>
          <p:cNvPr id="233" name="Google Shape;233;p38"/>
          <p:cNvPicPr preferRelativeResize="0"/>
          <p:nvPr/>
        </p:nvPicPr>
        <p:blipFill>
          <a:blip r:embed="rId4">
            <a:alphaModFix/>
          </a:blip>
          <a:stretch>
            <a:fillRect/>
          </a:stretch>
        </p:blipFill>
        <p:spPr>
          <a:xfrm>
            <a:off x="207500" y="3244800"/>
            <a:ext cx="4231150" cy="1779325"/>
          </a:xfrm>
          <a:prstGeom prst="rect">
            <a:avLst/>
          </a:prstGeom>
          <a:noFill/>
          <a:ln>
            <a:noFill/>
          </a:ln>
        </p:spPr>
      </p:pic>
      <p:sp>
        <p:nvSpPr>
          <p:cNvPr id="234" name="Google Shape;234;p38"/>
          <p:cNvSpPr txBox="1"/>
          <p:nvPr/>
        </p:nvSpPr>
        <p:spPr>
          <a:xfrm>
            <a:off x="5881425" y="186425"/>
            <a:ext cx="3000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50">
                <a:solidFill>
                  <a:schemeClr val="dk1"/>
                </a:solidFill>
                <a:latin typeface="Courier New"/>
                <a:ea typeface="Courier New"/>
                <a:cs typeface="Courier New"/>
                <a:sym typeface="Courier New"/>
              </a:rPr>
              <a:t>Example prediction:</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Patient's predicted probability of diabetes: 0.2522</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Prediction: Non-diabetic</a:t>
            </a:r>
            <a:endParaRPr>
              <a:solidFill>
                <a:schemeClr val="dk1"/>
              </a:solidFill>
            </a:endParaRPr>
          </a:p>
        </p:txBody>
      </p:sp>
      <p:sp>
        <p:nvSpPr>
          <p:cNvPr id="235" name="Google Shape;235;p38"/>
          <p:cNvSpPr txBox="1"/>
          <p:nvPr/>
        </p:nvSpPr>
        <p:spPr>
          <a:xfrm>
            <a:off x="242300" y="1068350"/>
            <a:ext cx="4231200" cy="185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3"/>
                </a:solidFill>
                <a:latin typeface="Proxima Nova"/>
                <a:ea typeface="Proxima Nova"/>
                <a:cs typeface="Proxima Nova"/>
                <a:sym typeface="Proxima Nova"/>
              </a:rPr>
              <a:t>With information about a given patient, such as age, gender, If insulin or oral diabetes meds were prescribed, and </a:t>
            </a:r>
            <a:r>
              <a:rPr lang="en" sz="1800">
                <a:solidFill>
                  <a:schemeClr val="accent3"/>
                </a:solidFill>
                <a:latin typeface="Proxima Nova"/>
                <a:ea typeface="Proxima Nova"/>
                <a:cs typeface="Proxima Nova"/>
                <a:sym typeface="Proxima Nova"/>
              </a:rPr>
              <a:t>someone's</a:t>
            </a:r>
            <a:r>
              <a:rPr lang="en" sz="1800">
                <a:solidFill>
                  <a:schemeClr val="accent3"/>
                </a:solidFill>
                <a:latin typeface="Proxima Nova"/>
                <a:ea typeface="Proxima Nova"/>
                <a:cs typeface="Proxima Nova"/>
                <a:sym typeface="Proxima Nova"/>
              </a:rPr>
              <a:t> glucose mean and HBA1C mean, you can predict their likelihood of being diabetic.</a:t>
            </a:r>
            <a:endParaRPr sz="1800">
              <a:solidFill>
                <a:schemeClr val="accent3"/>
              </a:solidFill>
              <a:latin typeface="Proxima Nova"/>
              <a:ea typeface="Proxima Nova"/>
              <a:cs typeface="Proxima Nova"/>
              <a:sym typeface="Proxima Nov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9"/>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MIMIC III Binary Classifier - Save Model</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Save Model - joblib Library</a:t>
            </a:r>
            <a:endParaRPr/>
          </a:p>
        </p:txBody>
      </p:sp>
      <p:pic>
        <p:nvPicPr>
          <p:cNvPr id="246" name="Google Shape;246;p40"/>
          <p:cNvPicPr preferRelativeResize="0"/>
          <p:nvPr/>
        </p:nvPicPr>
        <p:blipFill>
          <a:blip r:embed="rId3">
            <a:alphaModFix/>
          </a:blip>
          <a:stretch>
            <a:fillRect/>
          </a:stretch>
        </p:blipFill>
        <p:spPr>
          <a:xfrm>
            <a:off x="110150" y="3074300"/>
            <a:ext cx="8889224" cy="1875900"/>
          </a:xfrm>
          <a:prstGeom prst="rect">
            <a:avLst/>
          </a:prstGeom>
          <a:noFill/>
          <a:ln>
            <a:noFill/>
          </a:ln>
        </p:spPr>
      </p:pic>
      <p:sp>
        <p:nvSpPr>
          <p:cNvPr id="247" name="Google Shape;247;p40"/>
          <p:cNvSpPr txBox="1"/>
          <p:nvPr/>
        </p:nvSpPr>
        <p:spPr>
          <a:xfrm>
            <a:off x="451575" y="1145450"/>
            <a:ext cx="8260500" cy="158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3"/>
                </a:solidFill>
                <a:latin typeface="Proxima Nova"/>
                <a:ea typeface="Proxima Nova"/>
                <a:cs typeface="Proxima Nova"/>
                <a:sym typeface="Proxima Nova"/>
              </a:rPr>
              <a:t>Model is saved and uploaded for future use, if other’s would like to test this classifier or use it for their own datasets</a:t>
            </a:r>
            <a:endParaRPr sz="1800">
              <a:solidFill>
                <a:schemeClr val="accent3"/>
              </a:solidFill>
              <a:latin typeface="Proxima Nova"/>
              <a:ea typeface="Proxima Nova"/>
              <a:cs typeface="Proxima Nova"/>
              <a:sym typeface="Proxima Nova"/>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1"/>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Bonus</a:t>
            </a:r>
            <a:endParaRPr/>
          </a:p>
        </p:txBody>
      </p:sp>
      <p:sp>
        <p:nvSpPr>
          <p:cNvPr id="253" name="Google Shape;253;p41"/>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Uae_hospital_diabetes_dataset Multi-Class Classification</a:t>
            </a:r>
            <a:endParaRPr/>
          </a:p>
        </p:txBody>
      </p:sp>
      <p:sp>
        <p:nvSpPr>
          <p:cNvPr id="254" name="Google Shape;254;p41"/>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rPr lang="en"/>
              <a:t>Multiclass Classification is a Harder Problem, but can be </a:t>
            </a:r>
            <a:r>
              <a:rPr lang="en"/>
              <a:t>more</a:t>
            </a:r>
            <a:r>
              <a:rPr lang="en"/>
              <a:t> useful for determining what stage of a disease like Diabetes someone is in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Multi-Class Diabetes Classification</a:t>
            </a:r>
            <a:endParaRPr/>
          </a:p>
        </p:txBody>
      </p:sp>
      <p:sp>
        <p:nvSpPr>
          <p:cNvPr id="260" name="Google Shape;260;p42"/>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a:t>Understanding the Dataset</a:t>
            </a:r>
            <a:endParaRPr/>
          </a:p>
          <a:p>
            <a:pPr indent="-317500" lvl="0" marL="457200" rtl="0" algn="l">
              <a:spcBef>
                <a:spcPts val="0"/>
              </a:spcBef>
              <a:spcAft>
                <a:spcPts val="0"/>
              </a:spcAft>
              <a:buSzPts val="1400"/>
              <a:buChar char="-"/>
            </a:pPr>
            <a:r>
              <a:rPr lang="en"/>
              <a:t>Data Engineering</a:t>
            </a:r>
            <a:endParaRPr/>
          </a:p>
          <a:p>
            <a:pPr indent="-304800" lvl="1" marL="914400" rtl="0" algn="l">
              <a:spcBef>
                <a:spcPts val="0"/>
              </a:spcBef>
              <a:spcAft>
                <a:spcPts val="0"/>
              </a:spcAft>
              <a:buSzPts val="1200"/>
              <a:buChar char="-"/>
            </a:pPr>
            <a:r>
              <a:rPr lang="en"/>
              <a:t>Clean Data</a:t>
            </a:r>
            <a:endParaRPr/>
          </a:p>
          <a:p>
            <a:pPr indent="-304800" lvl="1" marL="914400" rtl="0" algn="l">
              <a:spcBef>
                <a:spcPts val="0"/>
              </a:spcBef>
              <a:spcAft>
                <a:spcPts val="0"/>
              </a:spcAft>
              <a:buSzPts val="1200"/>
              <a:buChar char="-"/>
            </a:pPr>
            <a:r>
              <a:rPr lang="en"/>
              <a:t>Encode Categories</a:t>
            </a:r>
            <a:endParaRPr/>
          </a:p>
          <a:p>
            <a:pPr indent="-304800" lvl="1" marL="914400" rtl="0" algn="l">
              <a:spcBef>
                <a:spcPts val="0"/>
              </a:spcBef>
              <a:spcAft>
                <a:spcPts val="0"/>
              </a:spcAft>
              <a:buSzPts val="1200"/>
              <a:buChar char="-"/>
            </a:pPr>
            <a:r>
              <a:rPr lang="en"/>
              <a:t>Extract time from visit &amp; additional features</a:t>
            </a:r>
            <a:endParaRPr/>
          </a:p>
          <a:p>
            <a:pPr indent="-317500" lvl="0" marL="457200" rtl="0" algn="l">
              <a:spcBef>
                <a:spcPts val="0"/>
              </a:spcBef>
              <a:spcAft>
                <a:spcPts val="0"/>
              </a:spcAft>
              <a:buSzPts val="1400"/>
              <a:buChar char="-"/>
            </a:pPr>
            <a:r>
              <a:rPr lang="en" sz="1400"/>
              <a:t>Evaluate Models</a:t>
            </a:r>
            <a:endParaRPr sz="1400"/>
          </a:p>
          <a:p>
            <a:pPr indent="-304800" lvl="1" marL="914400" rtl="0" algn="l">
              <a:spcBef>
                <a:spcPts val="0"/>
              </a:spcBef>
              <a:spcAft>
                <a:spcPts val="0"/>
              </a:spcAft>
              <a:buSzPts val="1200"/>
              <a:buChar char="-"/>
            </a:pPr>
            <a:r>
              <a:rPr lang="en"/>
              <a:t>Gradient Boosting</a:t>
            </a:r>
            <a:endParaRPr/>
          </a:p>
          <a:p>
            <a:pPr indent="-304800" lvl="1" marL="914400" rtl="0" algn="l">
              <a:spcBef>
                <a:spcPts val="0"/>
              </a:spcBef>
              <a:spcAft>
                <a:spcPts val="0"/>
              </a:spcAft>
              <a:buSzPts val="1200"/>
              <a:buChar char="-"/>
            </a:pPr>
            <a:r>
              <a:rPr lang="en"/>
              <a:t>Neural Network</a:t>
            </a:r>
            <a:endParaRPr/>
          </a:p>
          <a:p>
            <a:pPr indent="-304800" lvl="1" marL="914400" rtl="0" algn="l">
              <a:spcBef>
                <a:spcPts val="0"/>
              </a:spcBef>
              <a:spcAft>
                <a:spcPts val="0"/>
              </a:spcAft>
              <a:buSzPts val="1200"/>
              <a:buChar char="-"/>
            </a:pPr>
            <a:r>
              <a:rPr lang="en"/>
              <a:t>Random Forest</a:t>
            </a:r>
            <a:endParaRPr/>
          </a:p>
          <a:p>
            <a:pPr indent="-317500" lvl="0" marL="457200" rtl="0" algn="l">
              <a:spcBef>
                <a:spcPts val="0"/>
              </a:spcBef>
              <a:spcAft>
                <a:spcPts val="0"/>
              </a:spcAft>
              <a:buSzPts val="1400"/>
              <a:buChar char="-"/>
            </a:pPr>
            <a:r>
              <a:rPr lang="en"/>
              <a:t>Conclusion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Bonus - Understanding the Dataset (UAE Diabetes Test Set)</a:t>
            </a:r>
            <a:endParaRPr/>
          </a:p>
        </p:txBody>
      </p:sp>
      <p:pic>
        <p:nvPicPr>
          <p:cNvPr id="266" name="Google Shape;266;p43"/>
          <p:cNvPicPr preferRelativeResize="0"/>
          <p:nvPr/>
        </p:nvPicPr>
        <p:blipFill>
          <a:blip r:embed="rId3">
            <a:alphaModFix/>
          </a:blip>
          <a:stretch>
            <a:fillRect/>
          </a:stretch>
        </p:blipFill>
        <p:spPr>
          <a:xfrm>
            <a:off x="152400" y="973500"/>
            <a:ext cx="8839198" cy="759165"/>
          </a:xfrm>
          <a:prstGeom prst="rect">
            <a:avLst/>
          </a:prstGeom>
          <a:noFill/>
          <a:ln>
            <a:noFill/>
          </a:ln>
        </p:spPr>
      </p:pic>
      <p:sp>
        <p:nvSpPr>
          <p:cNvPr id="267" name="Google Shape;267;p43"/>
          <p:cNvSpPr txBox="1"/>
          <p:nvPr/>
        </p:nvSpPr>
        <p:spPr>
          <a:xfrm>
            <a:off x="5755675" y="1732675"/>
            <a:ext cx="35688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50">
                <a:solidFill>
                  <a:schemeClr val="dk1"/>
                </a:solidFill>
                <a:latin typeface="Courier New"/>
                <a:ea typeface="Courier New"/>
                <a:cs typeface="Courier New"/>
                <a:sym typeface="Courier New"/>
              </a:rPr>
              <a:t>Unique Values in Diagnosis:</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['Type 1 Diabetes' 'Type 2 Diabetes' 'Prediabetes' 'Type 3 Diabetes'</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'Gestational Diabetes' 'Unknown' ' ']</a:t>
            </a:r>
            <a:endParaRPr>
              <a:solidFill>
                <a:schemeClr val="dk1"/>
              </a:solidFill>
            </a:endParaRPr>
          </a:p>
        </p:txBody>
      </p:sp>
      <p:sp>
        <p:nvSpPr>
          <p:cNvPr id="268" name="Google Shape;268;p43"/>
          <p:cNvSpPr txBox="1"/>
          <p:nvPr/>
        </p:nvSpPr>
        <p:spPr>
          <a:xfrm>
            <a:off x="5876650" y="2472900"/>
            <a:ext cx="3000000" cy="267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50">
                <a:solidFill>
                  <a:schemeClr val="dk1"/>
                </a:solidFill>
                <a:latin typeface="Courier New"/>
                <a:ea typeface="Courier New"/>
                <a:cs typeface="Courier New"/>
                <a:sym typeface="Courier New"/>
              </a:rPr>
              <a:t>Target Variable Distribution:</a:t>
            </a:r>
            <a:endParaRPr sz="8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50">
                <a:solidFill>
                  <a:schemeClr val="dk1"/>
                </a:solidFill>
                <a:latin typeface="Courier New"/>
                <a:ea typeface="Courier New"/>
                <a:cs typeface="Courier New"/>
                <a:sym typeface="Courier New"/>
              </a:rPr>
              <a:t>Diagnosis</a:t>
            </a:r>
            <a:endParaRPr sz="8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50">
                <a:solidFill>
                  <a:schemeClr val="dk1"/>
                </a:solidFill>
                <a:latin typeface="Courier New"/>
                <a:ea typeface="Courier New"/>
                <a:cs typeface="Courier New"/>
                <a:sym typeface="Courier New"/>
              </a:rPr>
              <a:t>Type 2 Diabetes         346440</a:t>
            </a:r>
            <a:endParaRPr sz="8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50">
                <a:solidFill>
                  <a:schemeClr val="dk1"/>
                </a:solidFill>
                <a:latin typeface="Courier New"/>
                <a:ea typeface="Courier New"/>
                <a:cs typeface="Courier New"/>
                <a:sym typeface="Courier New"/>
              </a:rPr>
              <a:t>Type 1 Diabetes          49518</a:t>
            </a:r>
            <a:endParaRPr sz="8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50">
                <a:solidFill>
                  <a:schemeClr val="dk1"/>
                </a:solidFill>
                <a:latin typeface="Courier New"/>
                <a:ea typeface="Courier New"/>
                <a:cs typeface="Courier New"/>
                <a:sym typeface="Courier New"/>
              </a:rPr>
              <a:t>Prediabetes              49143</a:t>
            </a:r>
            <a:endParaRPr sz="8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50">
                <a:solidFill>
                  <a:schemeClr val="dk1"/>
                </a:solidFill>
                <a:latin typeface="Courier New"/>
                <a:ea typeface="Courier New"/>
                <a:cs typeface="Courier New"/>
                <a:sym typeface="Courier New"/>
              </a:rPr>
              <a:t>Gestational Diabetes     24582</a:t>
            </a:r>
            <a:endParaRPr sz="8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50">
                <a:solidFill>
                  <a:schemeClr val="dk1"/>
                </a:solidFill>
                <a:latin typeface="Courier New"/>
                <a:ea typeface="Courier New"/>
                <a:cs typeface="Courier New"/>
                <a:sym typeface="Courier New"/>
              </a:rPr>
              <a:t>Type 3 Diabetes          15486</a:t>
            </a:r>
            <a:endParaRPr sz="8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50">
                <a:solidFill>
                  <a:schemeClr val="dk1"/>
                </a:solidFill>
                <a:latin typeface="Courier New"/>
                <a:ea typeface="Courier New"/>
                <a:cs typeface="Courier New"/>
                <a:sym typeface="Courier New"/>
              </a:rPr>
              <a:t>                         14846</a:t>
            </a:r>
            <a:endParaRPr sz="8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50">
                <a:solidFill>
                  <a:schemeClr val="dk1"/>
                </a:solidFill>
                <a:latin typeface="Courier New"/>
                <a:ea typeface="Courier New"/>
                <a:cs typeface="Courier New"/>
                <a:sym typeface="Courier New"/>
              </a:rPr>
              <a:t>Unknown                   4910</a:t>
            </a:r>
            <a:endParaRPr sz="8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50">
                <a:solidFill>
                  <a:schemeClr val="dk1"/>
                </a:solidFill>
                <a:latin typeface="Courier New"/>
                <a:ea typeface="Courier New"/>
                <a:cs typeface="Courier New"/>
                <a:sym typeface="Courier New"/>
              </a:rPr>
              <a:t>Name: count, dtype: int64</a:t>
            </a:r>
            <a:endParaRPr sz="8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50">
                <a:solidFill>
                  <a:schemeClr val="dk1"/>
                </a:solidFill>
                <a:latin typeface="Courier New"/>
                <a:ea typeface="Courier New"/>
                <a:cs typeface="Courier New"/>
                <a:sym typeface="Courier New"/>
              </a:rPr>
              <a:t>Diagnosis</a:t>
            </a:r>
            <a:endParaRPr sz="8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50">
                <a:solidFill>
                  <a:schemeClr val="dk1"/>
                </a:solidFill>
                <a:latin typeface="Courier New"/>
                <a:ea typeface="Courier New"/>
                <a:cs typeface="Courier New"/>
                <a:sym typeface="Courier New"/>
              </a:rPr>
              <a:t>Type 2 Diabetes         0.686122</a:t>
            </a:r>
            <a:endParaRPr sz="8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50">
                <a:solidFill>
                  <a:schemeClr val="dk1"/>
                </a:solidFill>
                <a:latin typeface="Courier New"/>
                <a:ea typeface="Courier New"/>
                <a:cs typeface="Courier New"/>
                <a:sym typeface="Courier New"/>
              </a:rPr>
              <a:t>Type 1 Diabetes         0.098070</a:t>
            </a:r>
            <a:endParaRPr sz="8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50">
                <a:solidFill>
                  <a:schemeClr val="dk1"/>
                </a:solidFill>
                <a:latin typeface="Courier New"/>
                <a:ea typeface="Courier New"/>
                <a:cs typeface="Courier New"/>
                <a:sym typeface="Courier New"/>
              </a:rPr>
              <a:t>Prediabetes             0.097327</a:t>
            </a:r>
            <a:endParaRPr sz="8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50">
                <a:solidFill>
                  <a:schemeClr val="dk1"/>
                </a:solidFill>
                <a:latin typeface="Courier New"/>
                <a:ea typeface="Courier New"/>
                <a:cs typeface="Courier New"/>
                <a:sym typeface="Courier New"/>
              </a:rPr>
              <a:t>Gestational Diabetes    0.048684</a:t>
            </a:r>
            <a:endParaRPr sz="8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50">
                <a:solidFill>
                  <a:schemeClr val="dk1"/>
                </a:solidFill>
                <a:latin typeface="Courier New"/>
                <a:ea typeface="Courier New"/>
                <a:cs typeface="Courier New"/>
                <a:sym typeface="Courier New"/>
              </a:rPr>
              <a:t>Type 3 Diabetes         0.030670</a:t>
            </a:r>
            <a:endParaRPr sz="8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50">
                <a:solidFill>
                  <a:schemeClr val="dk1"/>
                </a:solidFill>
                <a:latin typeface="Courier New"/>
                <a:ea typeface="Courier New"/>
                <a:cs typeface="Courier New"/>
                <a:sym typeface="Courier New"/>
              </a:rPr>
              <a:t>                        0.029402</a:t>
            </a:r>
            <a:endParaRPr sz="8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50">
                <a:solidFill>
                  <a:schemeClr val="dk1"/>
                </a:solidFill>
                <a:latin typeface="Courier New"/>
                <a:ea typeface="Courier New"/>
                <a:cs typeface="Courier New"/>
                <a:sym typeface="Courier New"/>
              </a:rPr>
              <a:t>Unknown                 0.009724</a:t>
            </a:r>
            <a:endParaRPr sz="8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50">
                <a:solidFill>
                  <a:schemeClr val="dk1"/>
                </a:solidFill>
                <a:latin typeface="Courier New"/>
                <a:ea typeface="Courier New"/>
                <a:cs typeface="Courier New"/>
                <a:sym typeface="Courier New"/>
              </a:rPr>
              <a:t>Name: proportion, dtype: float64</a:t>
            </a:r>
            <a:endParaRPr sz="1200">
              <a:solidFill>
                <a:schemeClr val="dk1"/>
              </a:solidFill>
            </a:endParaRPr>
          </a:p>
        </p:txBody>
      </p:sp>
      <p:sp>
        <p:nvSpPr>
          <p:cNvPr id="269" name="Google Shape;269;p43"/>
          <p:cNvSpPr txBox="1"/>
          <p:nvPr/>
        </p:nvSpPr>
        <p:spPr>
          <a:xfrm>
            <a:off x="272275" y="1732675"/>
            <a:ext cx="5362500" cy="293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3"/>
                </a:solidFill>
                <a:latin typeface="Proxima Nova"/>
                <a:ea typeface="Proxima Nova"/>
                <a:cs typeface="Proxima Nova"/>
                <a:sym typeface="Proxima Nova"/>
              </a:rPr>
              <a:t>This dataset contains patient visit information, including demographics, diagnosis, insurance status, and service costs, focusing on various diabetes types. The target variable, 'Diagnosis', shows a distribution heavily skewed towards Type 2 and Type 1 diabetes, with other types and 'Unknown' diagnoses present. This is </a:t>
            </a:r>
            <a:r>
              <a:rPr lang="en" sz="1800">
                <a:solidFill>
                  <a:schemeClr val="accent3"/>
                </a:solidFill>
                <a:latin typeface="Proxima Nova"/>
                <a:ea typeface="Proxima Nova"/>
                <a:cs typeface="Proxima Nova"/>
                <a:sym typeface="Proxima Nova"/>
              </a:rPr>
              <a:t>analogous</a:t>
            </a:r>
            <a:r>
              <a:rPr lang="en" sz="1800">
                <a:solidFill>
                  <a:schemeClr val="accent3"/>
                </a:solidFill>
                <a:latin typeface="Proxima Nova"/>
                <a:ea typeface="Proxima Nova"/>
                <a:cs typeface="Proxima Nova"/>
                <a:sym typeface="Proxima Nova"/>
              </a:rPr>
              <a:t> to what we see in the population, but may make training multiclass challenging. Analysis of this data can reveal patterns in healthcare utilization and costs associated with different diabetes diagnoses.</a:t>
            </a:r>
            <a:endParaRPr sz="1800">
              <a:solidFill>
                <a:schemeClr val="accent3"/>
              </a:solidFill>
              <a:latin typeface="Proxima Nova"/>
              <a:ea typeface="Proxima Nova"/>
              <a:cs typeface="Proxima Nova"/>
              <a:sym typeface="Proxima Nova"/>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4"/>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Bonus - Data Engineering</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Engineering - Clean Data</a:t>
            </a:r>
            <a:endParaRPr/>
          </a:p>
        </p:txBody>
      </p:sp>
      <p:pic>
        <p:nvPicPr>
          <p:cNvPr id="280" name="Google Shape;280;p45"/>
          <p:cNvPicPr preferRelativeResize="0"/>
          <p:nvPr/>
        </p:nvPicPr>
        <p:blipFill>
          <a:blip r:embed="rId3">
            <a:alphaModFix/>
          </a:blip>
          <a:stretch>
            <a:fillRect/>
          </a:stretch>
        </p:blipFill>
        <p:spPr>
          <a:xfrm>
            <a:off x="590500" y="2545049"/>
            <a:ext cx="7963001" cy="2391200"/>
          </a:xfrm>
          <a:prstGeom prst="rect">
            <a:avLst/>
          </a:prstGeom>
          <a:noFill/>
          <a:ln>
            <a:noFill/>
          </a:ln>
        </p:spPr>
      </p:pic>
      <p:sp>
        <p:nvSpPr>
          <p:cNvPr id="281" name="Google Shape;281;p45"/>
          <p:cNvSpPr txBox="1"/>
          <p:nvPr/>
        </p:nvSpPr>
        <p:spPr>
          <a:xfrm>
            <a:off x="801700" y="915150"/>
            <a:ext cx="7676700" cy="158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Proxima Nova"/>
                <a:ea typeface="Proxima Nova"/>
                <a:cs typeface="Proxima Nova"/>
                <a:sym typeface="Proxima Nova"/>
              </a:rPr>
              <a:t>This code segment performs data cleaning and standardization on a 'Diagnosis' column within a Pandas DataFrame named 'cleaned_visit_data'. It first removes leading/trailing spaces from the string values in the 'Diagnosis' column and replaces any empty strings with "Unknown". Subsequently, it checks for any unexpected categories within the 'Diagnosis' column, comparing them to a predefined list of expected categories, and replaces any unexpected values with "Unknown" while printing a message indicating the change.</a:t>
            </a:r>
            <a:endParaRPr>
              <a:solidFill>
                <a:schemeClr val="dk1"/>
              </a:solidFill>
              <a:latin typeface="Proxima Nova"/>
              <a:ea typeface="Proxima Nova"/>
              <a:cs typeface="Proxima Nova"/>
              <a:sym typeface="Proxima Nova"/>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Engineering - Encode Categories</a:t>
            </a:r>
            <a:endParaRPr/>
          </a:p>
        </p:txBody>
      </p:sp>
      <p:sp>
        <p:nvSpPr>
          <p:cNvPr id="287" name="Google Shape;287;p46"/>
          <p:cNvSpPr txBox="1"/>
          <p:nvPr/>
        </p:nvSpPr>
        <p:spPr>
          <a:xfrm>
            <a:off x="4820400" y="890150"/>
            <a:ext cx="3000000" cy="1316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50">
                <a:solidFill>
                  <a:schemeClr val="dk1"/>
                </a:solidFill>
                <a:latin typeface="Courier New"/>
                <a:ea typeface="Courier New"/>
                <a:cs typeface="Courier New"/>
                <a:sym typeface="Courier New"/>
              </a:rPr>
              <a:t>Encoded Diagnosis Mapping:</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0: Gestational Diabetes</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1: Prediabetes</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2: Type 1 Diabetes</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3: Type 2 Diabetes</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4: Type 3 Diabetes</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5: Unknown</a:t>
            </a:r>
            <a:endParaRPr>
              <a:solidFill>
                <a:schemeClr val="dk1"/>
              </a:solidFill>
            </a:endParaRPr>
          </a:p>
        </p:txBody>
      </p:sp>
      <p:sp>
        <p:nvSpPr>
          <p:cNvPr id="288" name="Google Shape;288;p46"/>
          <p:cNvSpPr txBox="1"/>
          <p:nvPr/>
        </p:nvSpPr>
        <p:spPr>
          <a:xfrm>
            <a:off x="4357900" y="2087475"/>
            <a:ext cx="4573200" cy="1316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50">
                <a:solidFill>
                  <a:schemeClr val="dk1"/>
                </a:solidFill>
                <a:latin typeface="Courier New"/>
                <a:ea typeface="Courier New"/>
                <a:cs typeface="Courier New"/>
                <a:sym typeface="Courier New"/>
              </a:rPr>
              <a:t>Class distribution in training set:</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Class 0 (Gestational Diabetes): 19666 samples (4.87%)</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Class 1 (Prediabetes): 39314 samples (9.73%)</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Class 2 (Type 1 Diabetes): 39614 samples (9.81%)</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Class 3 (Type 2 Diabetes): 277152 samples (68.61%)</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Class 4 (Type 3 Diabetes): 12389 samples (3.07%)</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Class 5 (Unknown): 15805 samples (3.91%)</a:t>
            </a:r>
            <a:endParaRPr>
              <a:solidFill>
                <a:schemeClr val="dk1"/>
              </a:solidFill>
            </a:endParaRPr>
          </a:p>
        </p:txBody>
      </p:sp>
      <p:sp>
        <p:nvSpPr>
          <p:cNvPr id="289" name="Google Shape;289;p46"/>
          <p:cNvSpPr txBox="1"/>
          <p:nvPr/>
        </p:nvSpPr>
        <p:spPr>
          <a:xfrm>
            <a:off x="7124575" y="890150"/>
            <a:ext cx="1565700" cy="1316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50">
                <a:solidFill>
                  <a:schemeClr val="dk1"/>
                </a:solidFill>
                <a:latin typeface="Courier New"/>
                <a:ea typeface="Courier New"/>
                <a:cs typeface="Courier New"/>
                <a:sym typeface="Courier New"/>
              </a:rPr>
              <a:t>Class weights:</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Class 0: 3.4233</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Class 1: 1.7125</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Class 2: 1.6995</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Class 3: 0.2429</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Class 4: 5.4341</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Class 5: 4.2596</a:t>
            </a:r>
            <a:endParaRPr>
              <a:solidFill>
                <a:schemeClr val="dk1"/>
              </a:solidFill>
            </a:endParaRPr>
          </a:p>
        </p:txBody>
      </p:sp>
      <p:pic>
        <p:nvPicPr>
          <p:cNvPr id="290" name="Google Shape;290;p46"/>
          <p:cNvPicPr preferRelativeResize="0"/>
          <p:nvPr/>
        </p:nvPicPr>
        <p:blipFill>
          <a:blip r:embed="rId3">
            <a:alphaModFix/>
          </a:blip>
          <a:stretch>
            <a:fillRect/>
          </a:stretch>
        </p:blipFill>
        <p:spPr>
          <a:xfrm>
            <a:off x="91900" y="3487900"/>
            <a:ext cx="8839198" cy="1321076"/>
          </a:xfrm>
          <a:prstGeom prst="rect">
            <a:avLst/>
          </a:prstGeom>
          <a:noFill/>
          <a:ln>
            <a:noFill/>
          </a:ln>
        </p:spPr>
      </p:pic>
      <p:sp>
        <p:nvSpPr>
          <p:cNvPr id="291" name="Google Shape;291;p46"/>
          <p:cNvSpPr txBox="1"/>
          <p:nvPr/>
        </p:nvSpPr>
        <p:spPr>
          <a:xfrm>
            <a:off x="204175" y="1149650"/>
            <a:ext cx="42732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3"/>
                </a:solidFill>
                <a:latin typeface="Proxima Nova"/>
                <a:ea typeface="Proxima Nova"/>
                <a:cs typeface="Proxima Nova"/>
                <a:sym typeface="Proxima Nova"/>
              </a:rPr>
              <a:t>This slide details the encoding of the 'Diagnosis' categorical variable using Label Encoding, mapping each unique diagnosis to a numerical representation. The resulting encoded values are then used to calculate class weights, addressing the class imbalance evident in the training set distribution. The class weights are inversely proportional to the class frequencies, giving higher importance to minority classes during model training.</a:t>
            </a:r>
            <a:endParaRPr>
              <a:solidFill>
                <a:schemeClr val="accent3"/>
              </a:solidFill>
              <a:latin typeface="Proxima Nova"/>
              <a:ea typeface="Proxima Nova"/>
              <a:cs typeface="Proxima Nova"/>
              <a:sym typeface="Proxima Nova"/>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Engineering - Extract Time from Visit &amp; Additional Features</a:t>
            </a:r>
            <a:endParaRPr/>
          </a:p>
        </p:txBody>
      </p:sp>
      <p:pic>
        <p:nvPicPr>
          <p:cNvPr id="297" name="Google Shape;297;p47"/>
          <p:cNvPicPr preferRelativeResize="0"/>
          <p:nvPr/>
        </p:nvPicPr>
        <p:blipFill>
          <a:blip r:embed="rId3">
            <a:alphaModFix/>
          </a:blip>
          <a:stretch>
            <a:fillRect/>
          </a:stretch>
        </p:blipFill>
        <p:spPr>
          <a:xfrm>
            <a:off x="1786549" y="1017725"/>
            <a:ext cx="7357450" cy="35325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8"/>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Bonus - Evaluate Models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Evaluate Models - Gradient Boosting</a:t>
            </a:r>
            <a:endParaRPr/>
          </a:p>
        </p:txBody>
      </p:sp>
      <p:sp>
        <p:nvSpPr>
          <p:cNvPr id="308" name="Google Shape;308;p49"/>
          <p:cNvSpPr txBox="1"/>
          <p:nvPr/>
        </p:nvSpPr>
        <p:spPr>
          <a:xfrm>
            <a:off x="3940450" y="1860575"/>
            <a:ext cx="5082600" cy="310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Training a Gradient Boosting model first ---</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Gradient Boosting Accuracy: </a:t>
            </a:r>
            <a:r>
              <a:rPr lang="en" sz="1050">
                <a:solidFill>
                  <a:schemeClr val="dk1"/>
                </a:solidFill>
                <a:highlight>
                  <a:schemeClr val="accent6"/>
                </a:highlight>
                <a:latin typeface="Courier New"/>
                <a:ea typeface="Courier New"/>
                <a:cs typeface="Courier New"/>
                <a:sym typeface="Courier New"/>
              </a:rPr>
              <a:t>0.6995</a:t>
            </a:r>
            <a:endParaRPr sz="1050">
              <a:solidFill>
                <a:schemeClr val="dk1"/>
              </a:solidFill>
              <a:highlight>
                <a:schemeClr val="accent6"/>
              </a:highlight>
              <a:latin typeface="Courier New"/>
              <a:ea typeface="Courier New"/>
              <a:cs typeface="Courier New"/>
              <a:sym typeface="Courier New"/>
            </a:endParaRPr>
          </a:p>
          <a:p>
            <a:pPr indent="0" lvl="0" marL="0" rtl="0" algn="l">
              <a:spcBef>
                <a:spcPts val="0"/>
              </a:spcBef>
              <a:spcAft>
                <a:spcPts val="0"/>
              </a:spcAft>
              <a:buNone/>
            </a:pPr>
            <a:r>
              <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Classification Report (Gradient Boosting):</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precision    recall  f1-score   support</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Gestational Diabetes       0.08      0.00      0.00      4916</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Prediabetes       0.00      0.00      0.00      9829</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Type 1 Diabetes       0.00      0.00      0.00      9904</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Type 2 Diabetes       0.70      0.99      0.82     69288</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Type 3 Diabetes       0.69      0.64      0.66      3097</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Unknown       0.00      0.00      0.00      3951</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accuracy                           0.70    100985</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macro avg       0.24      0.27      0.25    100985</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weighted avg       0.51      0.70      0.58    100985</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sp>
        <p:nvSpPr>
          <p:cNvPr id="309" name="Google Shape;309;p49"/>
          <p:cNvSpPr txBox="1"/>
          <p:nvPr/>
        </p:nvSpPr>
        <p:spPr>
          <a:xfrm>
            <a:off x="105875" y="1081550"/>
            <a:ext cx="3638100" cy="375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3"/>
                </a:solidFill>
                <a:latin typeface="Proxima Nova"/>
                <a:ea typeface="Proxima Nova"/>
                <a:cs typeface="Proxima Nova"/>
                <a:sym typeface="Proxima Nova"/>
              </a:rPr>
              <a:t>Gradient Boosting worked fairly well, but seemed to only be able to predict Type 1 and Type 3 Diabetes. Despite having a higher accuracy, this model would not be ideal for multi-class classification, as it was unable to reliably detect all classes.</a:t>
            </a:r>
            <a:endParaRPr sz="1800">
              <a:solidFill>
                <a:schemeClr val="accent3"/>
              </a:solidFill>
              <a:latin typeface="Proxima Nova"/>
              <a:ea typeface="Proxima Nova"/>
              <a:cs typeface="Proxima Nova"/>
              <a:sym typeface="Proxima Nova"/>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50"/>
          <p:cNvSpPr txBox="1"/>
          <p:nvPr>
            <p:ph type="title"/>
          </p:nvPr>
        </p:nvSpPr>
        <p:spPr>
          <a:xfrm>
            <a:off x="145325" y="467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Evaluate Models - Neural Network</a:t>
            </a:r>
            <a:endParaRPr/>
          </a:p>
        </p:txBody>
      </p:sp>
      <p:pic>
        <p:nvPicPr>
          <p:cNvPr id="315" name="Google Shape;315;p50"/>
          <p:cNvPicPr preferRelativeResize="0"/>
          <p:nvPr/>
        </p:nvPicPr>
        <p:blipFill>
          <a:blip r:embed="rId3">
            <a:alphaModFix/>
          </a:blip>
          <a:stretch>
            <a:fillRect/>
          </a:stretch>
        </p:blipFill>
        <p:spPr>
          <a:xfrm>
            <a:off x="5589275" y="2245475"/>
            <a:ext cx="3593500" cy="2859075"/>
          </a:xfrm>
          <a:prstGeom prst="rect">
            <a:avLst/>
          </a:prstGeom>
          <a:noFill/>
          <a:ln>
            <a:noFill/>
          </a:ln>
        </p:spPr>
      </p:pic>
      <p:sp>
        <p:nvSpPr>
          <p:cNvPr id="316" name="Google Shape;316;p50"/>
          <p:cNvSpPr txBox="1"/>
          <p:nvPr/>
        </p:nvSpPr>
        <p:spPr>
          <a:xfrm>
            <a:off x="5044600" y="0"/>
            <a:ext cx="4220400" cy="21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50">
                <a:solidFill>
                  <a:schemeClr val="dk1"/>
                </a:solidFill>
                <a:latin typeface="Courier New"/>
                <a:ea typeface="Courier New"/>
                <a:cs typeface="Courier New"/>
                <a:sym typeface="Courier New"/>
              </a:rPr>
              <a:t>Neural Network Accuracy: </a:t>
            </a:r>
            <a:r>
              <a:rPr lang="en" sz="850">
                <a:solidFill>
                  <a:schemeClr val="dk1"/>
                </a:solidFill>
                <a:highlight>
                  <a:schemeClr val="accent6"/>
                </a:highlight>
                <a:latin typeface="Courier New"/>
                <a:ea typeface="Courier New"/>
                <a:cs typeface="Courier New"/>
                <a:sym typeface="Courier New"/>
              </a:rPr>
              <a:t>0.2970</a:t>
            </a:r>
            <a:endParaRPr sz="850">
              <a:solidFill>
                <a:schemeClr val="dk1"/>
              </a:solidFill>
              <a:highlight>
                <a:schemeClr val="accent6"/>
              </a:highlight>
              <a:latin typeface="Courier New"/>
              <a:ea typeface="Courier New"/>
              <a:cs typeface="Courier New"/>
              <a:sym typeface="Courier New"/>
            </a:endParaRPr>
          </a:p>
          <a:p>
            <a:pPr indent="0" lvl="0" marL="0" rtl="0" algn="l">
              <a:spcBef>
                <a:spcPts val="0"/>
              </a:spcBef>
              <a:spcAft>
                <a:spcPts val="0"/>
              </a:spcAft>
              <a:buNone/>
            </a:pPr>
            <a:r>
              <a:t/>
            </a:r>
            <a:endParaRPr sz="8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50">
                <a:solidFill>
                  <a:schemeClr val="dk1"/>
                </a:solidFill>
                <a:latin typeface="Courier New"/>
                <a:ea typeface="Courier New"/>
                <a:cs typeface="Courier New"/>
                <a:sym typeface="Courier New"/>
              </a:rPr>
              <a:t>Classification Report (Neural Network):</a:t>
            </a:r>
            <a:endParaRPr sz="8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50">
                <a:solidFill>
                  <a:schemeClr val="dk1"/>
                </a:solidFill>
                <a:latin typeface="Courier New"/>
                <a:ea typeface="Courier New"/>
                <a:cs typeface="Courier New"/>
                <a:sym typeface="Courier New"/>
              </a:rPr>
              <a:t>                      precision    recall  f1-score   support</a:t>
            </a:r>
            <a:endParaRPr sz="85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8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50">
                <a:solidFill>
                  <a:schemeClr val="dk1"/>
                </a:solidFill>
                <a:latin typeface="Courier New"/>
                <a:ea typeface="Courier New"/>
                <a:cs typeface="Courier New"/>
                <a:sym typeface="Courier New"/>
              </a:rPr>
              <a:t>Gestational Diabetes       0.05      0.39      0.09      4916</a:t>
            </a:r>
            <a:endParaRPr sz="8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50">
                <a:solidFill>
                  <a:schemeClr val="dk1"/>
                </a:solidFill>
                <a:latin typeface="Courier New"/>
                <a:ea typeface="Courier New"/>
                <a:cs typeface="Courier New"/>
                <a:sym typeface="Courier New"/>
              </a:rPr>
              <a:t>         Prediabetes       0.10      0.04      0.05      9829</a:t>
            </a:r>
            <a:endParaRPr sz="8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50">
                <a:solidFill>
                  <a:schemeClr val="dk1"/>
                </a:solidFill>
                <a:latin typeface="Courier New"/>
                <a:ea typeface="Courier New"/>
                <a:cs typeface="Courier New"/>
                <a:sym typeface="Courier New"/>
              </a:rPr>
              <a:t>     Type 1 Diabetes       0.10      0.16      0.12      9904</a:t>
            </a:r>
            <a:endParaRPr sz="8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50">
                <a:solidFill>
                  <a:schemeClr val="dk1"/>
                </a:solidFill>
                <a:latin typeface="Courier New"/>
                <a:ea typeface="Courier New"/>
                <a:cs typeface="Courier New"/>
                <a:sym typeface="Courier New"/>
              </a:rPr>
              <a:t>     Type 2 Diabetes       0.70      0.34      0.46     69288</a:t>
            </a:r>
            <a:endParaRPr sz="8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50">
                <a:solidFill>
                  <a:schemeClr val="dk1"/>
                </a:solidFill>
                <a:latin typeface="Courier New"/>
                <a:ea typeface="Courier New"/>
                <a:cs typeface="Courier New"/>
                <a:sym typeface="Courier New"/>
              </a:rPr>
              <a:t>     Type 3 Diabetes       0.62      0.68      0.65      3097</a:t>
            </a:r>
            <a:endParaRPr sz="8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50">
                <a:solidFill>
                  <a:schemeClr val="dk1"/>
                </a:solidFill>
                <a:latin typeface="Courier New"/>
                <a:ea typeface="Courier New"/>
                <a:cs typeface="Courier New"/>
                <a:sym typeface="Courier New"/>
              </a:rPr>
              <a:t>             Unknown       0.04      0.05      0.04      3951</a:t>
            </a:r>
            <a:endParaRPr sz="85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8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50">
                <a:solidFill>
                  <a:schemeClr val="dk1"/>
                </a:solidFill>
                <a:latin typeface="Courier New"/>
                <a:ea typeface="Courier New"/>
                <a:cs typeface="Courier New"/>
                <a:sym typeface="Courier New"/>
              </a:rPr>
              <a:t>            accuracy                           0.30    100985</a:t>
            </a:r>
            <a:endParaRPr sz="8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50">
                <a:solidFill>
                  <a:schemeClr val="dk1"/>
                </a:solidFill>
                <a:latin typeface="Courier New"/>
                <a:ea typeface="Courier New"/>
                <a:cs typeface="Courier New"/>
                <a:sym typeface="Courier New"/>
              </a:rPr>
              <a:t>           macro avg       0.27      0.28      0.24    100985</a:t>
            </a:r>
            <a:endParaRPr sz="8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50">
                <a:solidFill>
                  <a:schemeClr val="dk1"/>
                </a:solidFill>
                <a:latin typeface="Courier New"/>
                <a:ea typeface="Courier New"/>
                <a:cs typeface="Courier New"/>
                <a:sym typeface="Courier New"/>
              </a:rPr>
              <a:t>        weighted avg       0.52      0.30      0.36    100985</a:t>
            </a:r>
            <a:endParaRPr sz="1200">
              <a:solidFill>
                <a:schemeClr val="dk1"/>
              </a:solidFill>
            </a:endParaRPr>
          </a:p>
        </p:txBody>
      </p:sp>
      <p:sp>
        <p:nvSpPr>
          <p:cNvPr id="317" name="Google Shape;317;p50"/>
          <p:cNvSpPr txBox="1"/>
          <p:nvPr/>
        </p:nvSpPr>
        <p:spPr>
          <a:xfrm>
            <a:off x="242025" y="1149625"/>
            <a:ext cx="4802700" cy="386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3"/>
                </a:solidFill>
                <a:latin typeface="Proxima Nova"/>
                <a:ea typeface="Proxima Nova"/>
                <a:cs typeface="Proxima Nova"/>
                <a:sym typeface="Proxima Nova"/>
              </a:rPr>
              <a:t>Here we see very limited success of the neural network. Despite multiple layers, </a:t>
            </a:r>
            <a:r>
              <a:rPr lang="en" sz="1800">
                <a:solidFill>
                  <a:schemeClr val="accent3"/>
                </a:solidFill>
                <a:latin typeface="Proxima Nova"/>
                <a:ea typeface="Proxima Nova"/>
                <a:cs typeface="Proxima Nova"/>
                <a:sym typeface="Proxima Nova"/>
              </a:rPr>
              <a:t>dropout</a:t>
            </a:r>
            <a:r>
              <a:rPr lang="en" sz="1800">
                <a:solidFill>
                  <a:schemeClr val="accent3"/>
                </a:solidFill>
                <a:latin typeface="Proxima Nova"/>
                <a:ea typeface="Proxima Nova"/>
                <a:cs typeface="Proxima Nova"/>
                <a:sym typeface="Proxima Nova"/>
              </a:rPr>
              <a:t>, and a large number of parameters, it would seem there is not enough data on unknown, Type 1, Prediabetes, or Gestational Diabetes cases to make accurate predictions. Despite this, the Neural Network does make attempts at predicting diabetes in these cases, and classifies them better than either gradient boosting or the random forest classifier.</a:t>
            </a:r>
            <a:endParaRPr sz="1800">
              <a:solidFill>
                <a:schemeClr val="accent3"/>
              </a:solidFill>
              <a:latin typeface="Proxima Nova"/>
              <a:ea typeface="Proxima Nova"/>
              <a:cs typeface="Proxima Nova"/>
              <a:sym typeface="Proxima Nova"/>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Evaluate Models - Random Forest</a:t>
            </a:r>
            <a:endParaRPr/>
          </a:p>
        </p:txBody>
      </p:sp>
      <p:sp>
        <p:nvSpPr>
          <p:cNvPr id="323" name="Google Shape;323;p51"/>
          <p:cNvSpPr txBox="1"/>
          <p:nvPr/>
        </p:nvSpPr>
        <p:spPr>
          <a:xfrm>
            <a:off x="3857275" y="2291650"/>
            <a:ext cx="51885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Training a Random Forest model ---</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Random Forest Accuracy: 0.7001</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Classification Report (Random Forest):</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precision    recall  f1-score   support</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Gestational Diabetes       0.00      0.00      0.00      4916</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Prediabetes       0.00      0.00      0.00      9829</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Type 1 Diabetes       0.00      0.00      0.00      9904</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Type 2 Diabetes       0.70      0.99      0.82     69288</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Type 3 Diabetes       0.68      0.67      0.68      3097</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Unknown       0.00      0.00      0.00      3951</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accuracy                           0.70    100985</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macro avg       0.23      0.28      0.25    100985</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        weighted avg       0.50      0.70      0.58    100985</a:t>
            </a:r>
            <a:endParaRPr>
              <a:solidFill>
                <a:schemeClr val="dk1"/>
              </a:solidFill>
            </a:endParaRPr>
          </a:p>
        </p:txBody>
      </p:sp>
      <p:sp>
        <p:nvSpPr>
          <p:cNvPr id="324" name="Google Shape;324;p51"/>
          <p:cNvSpPr txBox="1"/>
          <p:nvPr/>
        </p:nvSpPr>
        <p:spPr>
          <a:xfrm>
            <a:off x="5543875" y="189075"/>
            <a:ext cx="3000000" cy="196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50">
                <a:solidFill>
                  <a:schemeClr val="dk1"/>
                </a:solidFill>
                <a:latin typeface="Courier New"/>
                <a:ea typeface="Courier New"/>
                <a:cs typeface="Courier New"/>
                <a:sym typeface="Courier New"/>
              </a:rPr>
              <a:t>Top 10 most important features:</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Total_Visit_Time: 0.1779</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Registration time: 0.1464</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Laboratory time: 0.1350</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Pharmacy time: 0.1300</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Nursing time: 0.1211</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Total_Cost: 0.1152</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Consultation time: 0.1037</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Registration time_Ratio: 0.0086</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Consultation time_Ratio: 0.0083</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Pharmacy time_Ratio: 0.0082</a:t>
            </a:r>
            <a:endParaRPr>
              <a:solidFill>
                <a:schemeClr val="dk1"/>
              </a:solidFill>
            </a:endParaRPr>
          </a:p>
        </p:txBody>
      </p:sp>
      <p:sp>
        <p:nvSpPr>
          <p:cNvPr id="325" name="Google Shape;325;p51"/>
          <p:cNvSpPr txBox="1"/>
          <p:nvPr/>
        </p:nvSpPr>
        <p:spPr>
          <a:xfrm>
            <a:off x="181525" y="975675"/>
            <a:ext cx="3615300" cy="412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3"/>
                </a:solidFill>
                <a:latin typeface="Proxima Nova"/>
                <a:ea typeface="Proxima Nova"/>
                <a:cs typeface="Proxima Nova"/>
                <a:sym typeface="Proxima Nova"/>
              </a:rPr>
              <a:t>This model just barely beats gradient boosting to have been our most effective classifier for this dataset. Given this information, I believe that with further training a neural network could be the most effective classifier, as it was still able to understand some information about the other classes. Random forest did not predict any of the less represented classes in the data.</a:t>
            </a:r>
            <a:endParaRPr sz="1800">
              <a:solidFill>
                <a:schemeClr val="accent3"/>
              </a:solidFill>
              <a:latin typeface="Proxima Nova"/>
              <a:ea typeface="Proxima Nova"/>
              <a:cs typeface="Proxima Nova"/>
              <a:sym typeface="Proxima Nova"/>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2"/>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Conclusion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Comparing Binary and Multi-Class Prediction</a:t>
            </a:r>
            <a:endParaRPr/>
          </a:p>
        </p:txBody>
      </p:sp>
      <p:sp>
        <p:nvSpPr>
          <p:cNvPr id="336" name="Google Shape;336;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binary classification we were doing earlier using MIMIC III data relied on a large number of chart notes, drug and prescription data, and intake information that allowed for correlations to be made over the 60k patient dataset. This allowed for an extremely accurate classifier to determine whether or not a patient had diabetes. Multi-Class Classification struggles from the problem of uneven </a:t>
            </a:r>
            <a:r>
              <a:rPr lang="en"/>
              <a:t>distributions</a:t>
            </a:r>
            <a:r>
              <a:rPr lang="en"/>
              <a:t> of the class to be predicted. While weighting different training data </a:t>
            </a:r>
            <a:r>
              <a:rPr lang="en"/>
              <a:t>allowed</a:t>
            </a:r>
            <a:r>
              <a:rPr lang="en"/>
              <a:t> better training overall, only a neural network was able to capture the variances and predict classes less frequent than 10%. The classifiers were exported for potential future use or training.</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