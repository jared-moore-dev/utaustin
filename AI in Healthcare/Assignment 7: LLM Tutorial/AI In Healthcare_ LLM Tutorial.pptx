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Lst>
  <p:sldSz cy="5143500" cx="9144000"/>
  <p:notesSz cx="6858000" cy="9144000"/>
  <p:embeddedFontLst>
    <p:embeddedFont>
      <p:font typeface="Proxima Nova"/>
      <p:regular r:id="rId46"/>
      <p:bold r:id="rId47"/>
      <p:italic r:id="rId48"/>
      <p:boldItalic r:id="rId49"/>
    </p:embeddedFont>
    <p:embeddedFont>
      <p:font typeface="Roboto Mono"/>
      <p:regular r:id="rId50"/>
      <p:bold r:id="rId51"/>
      <p:italic r:id="rId52"/>
      <p:boldItalic r:id="rId5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font" Target="fonts/ProximaNova-regular.fntdata"/><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ProximaNova-italic.fntdata"/><Relationship Id="rId47" Type="http://schemas.openxmlformats.org/officeDocument/2006/relationships/font" Target="fonts/ProximaNova-bold.fntdata"/><Relationship Id="rId49" Type="http://schemas.openxmlformats.org/officeDocument/2006/relationships/font" Target="fonts/ProximaNova-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obotoMono-bold.fntdata"/><Relationship Id="rId50" Type="http://schemas.openxmlformats.org/officeDocument/2006/relationships/font" Target="fonts/RobotoMono-regular.fntdata"/><Relationship Id="rId53" Type="http://schemas.openxmlformats.org/officeDocument/2006/relationships/font" Target="fonts/RobotoMono-boldItalic.fntdata"/><Relationship Id="rId52" Type="http://schemas.openxmlformats.org/officeDocument/2006/relationships/font" Target="fonts/RobotoMono-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4b937f5643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4b937f5643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4b937f5643_0_43: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4b937f5643_0_96: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4b937f5643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4b937f5643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4b937f5643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4b937f5643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4b937f5643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4b937f5643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4b937f5643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4b937f5643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4b937f5643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4b937f5643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4b937f5643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4b937f5643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4b937f5643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4b937f5643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4b937f5643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4b937f5643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4b937f5643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4b937f5643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4b937f5643_0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4b937f5643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4b937f5643_0_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4b937f5643_0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4b937f5643_0_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4b937f5643_0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4b937f5643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4b937f5643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4b937f5643_0_5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4b937f5643_0_5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4b937f5643_0_5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4b937f5643_0_5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4b937f5643_0_6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4b937f5643_0_6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4b937f5643_0_6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4b937f5643_0_6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4b937f5643_0_6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4b937f5643_0_6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4b937f5643_0_6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4b937f5643_0_6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4b937f5643_0_6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4b937f5643_0_6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4b937f5643_0_6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4b937f5643_0_6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4b937f5643_0_6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34b937f5643_0_6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4b937f5643_0_6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4b937f5643_0_6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4b937f5643_0_6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4b937f5643_0_6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4b937f5643_0_6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4b937f5643_0_6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4b937f5643_0_6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34b937f5643_0_6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4b937f5643_0_6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34b937f5643_0_6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4b937f5643_0_6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34b937f5643_0_6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4b937f5643_0_6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34b937f5643_0_6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4b937f5643_0_7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34b937f5643_0_7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4b937f5643_0_7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34b937f5643_0_7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4b937f5643_0_7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34b937f5643_0_7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4b937f5643_0_7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34b937f5643_0_7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34b937f5643_0_7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34b937f5643_0_7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4b937f5643_0_7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34b937f5643_0_7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4b937f5643_0_7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34b937f5643_0_7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1" name="Google Shape;11;p2"/>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12" name="Google Shape;12;p2"/>
          <p:cNvSpPr txBox="1"/>
          <p:nvPr>
            <p:ph idx="1" type="subTitle"/>
          </p:nvPr>
        </p:nvSpPr>
        <p:spPr>
          <a:xfrm>
            <a:off x="510450" y="3182313"/>
            <a:ext cx="8123100" cy="630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400"/>
              <a:buNone/>
              <a:defRPr sz="2400">
                <a:solidFill>
                  <a:schemeClr val="lt1"/>
                </a:solidFill>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cxnSp>
        <p:nvCxnSpPr>
          <p:cNvPr id="15" name="Google Shape;15;p3"/>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6" name="Google Shape;16;p3"/>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 name="Google Shape;21;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 name="Google Shape;22;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 name="Google Shape;25;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 name="Google Shape;30;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5" name="Shape 35"/>
        <p:cNvGrpSpPr/>
        <p:nvPr/>
      </p:nvGrpSpPr>
      <p:grpSpPr>
        <a:xfrm>
          <a:off x="0" y="0"/>
          <a:ext cx="0" cy="0"/>
          <a:chOff x="0" y="0"/>
          <a:chExt cx="0" cy="0"/>
        </a:xfrm>
      </p:grpSpPr>
      <p:sp>
        <p:nvSpPr>
          <p:cNvPr id="36" name="Google Shape;36;p8"/>
          <p:cNvSpPr txBox="1"/>
          <p:nvPr>
            <p:ph type="title"/>
          </p:nvPr>
        </p:nvSpPr>
        <p:spPr>
          <a:xfrm>
            <a:off x="490250" y="526350"/>
            <a:ext cx="57975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7" name="Google Shape;37;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9"/>
          <p:cNvCxnSpPr/>
          <p:nvPr/>
        </p:nvCxnSpPr>
        <p:spPr>
          <a:xfrm>
            <a:off x="5029675" y="4495500"/>
            <a:ext cx="468300" cy="0"/>
          </a:xfrm>
          <a:prstGeom prst="straightConnector1">
            <a:avLst/>
          </a:prstGeom>
          <a:noFill/>
          <a:ln cap="flat" cmpd="sng" w="19050">
            <a:solidFill>
              <a:schemeClr val="lt2"/>
            </a:solidFill>
            <a:prstDash val="solid"/>
            <a:round/>
            <a:headEnd len="sm" w="sm" type="none"/>
            <a:tailEnd len="sm" w="sm" type="none"/>
          </a:ln>
        </p:spPr>
      </p:cxnSp>
      <p:sp>
        <p:nvSpPr>
          <p:cNvPr id="41" name="Google Shape;41;p9"/>
          <p:cNvSpPr txBox="1"/>
          <p:nvPr>
            <p:ph type="title"/>
          </p:nvPr>
        </p:nvSpPr>
        <p:spPr>
          <a:xfrm>
            <a:off x="265500" y="1205825"/>
            <a:ext cx="4045200" cy="1509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4" name="Google Shape;44;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1700" y="42368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None/>
              <a:defRPr sz="2100"/>
            </a:lvl1pPr>
          </a:lstStyle>
          <a:p/>
        </p:txBody>
      </p:sp>
      <p:sp>
        <p:nvSpPr>
          <p:cNvPr id="47" name="Google Shape;47;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1"/>
          <p:cNvSpPr txBox="1"/>
          <p:nvPr>
            <p:ph hasCustomPrompt="1" type="title"/>
          </p:nvPr>
        </p:nvSpPr>
        <p:spPr>
          <a:xfrm>
            <a:off x="311700" y="991475"/>
            <a:ext cx="8520600" cy="19179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071300"/>
            <a:ext cx="8520600" cy="901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Slide 1_4_1_A">
  <p:cSld name="CUSTOM_1_1">
    <p:spTree>
      <p:nvGrpSpPr>
        <p:cNvPr id="55" name="Shape 55"/>
        <p:cNvGrpSpPr/>
        <p:nvPr/>
      </p:nvGrpSpPr>
      <p:grpSpPr>
        <a:xfrm>
          <a:off x="0" y="0"/>
          <a:ext cx="0" cy="0"/>
          <a:chOff x="0" y="0"/>
          <a:chExt cx="0" cy="0"/>
        </a:xfrm>
      </p:grpSpPr>
      <p:sp>
        <p:nvSpPr>
          <p:cNvPr id="56" name="Google Shape;56;p13"/>
          <p:cNvSpPr/>
          <p:nvPr>
            <p:ph idx="2" type="pic"/>
          </p:nvPr>
        </p:nvSpPr>
        <p:spPr>
          <a:xfrm>
            <a:off x="2990088" y="1436336"/>
            <a:ext cx="3173100" cy="3173100"/>
          </a:xfrm>
          <a:prstGeom prst="roundRect">
            <a:avLst>
              <a:gd fmla="val 50000" name="adj"/>
            </a:avLst>
          </a:prstGeom>
          <a:noFill/>
          <a:ln>
            <a:noFill/>
          </a:ln>
        </p:spPr>
      </p:sp>
      <p:sp>
        <p:nvSpPr>
          <p:cNvPr id="57" name="Google Shape;57;p13"/>
          <p:cNvSpPr txBox="1"/>
          <p:nvPr>
            <p:ph type="title"/>
          </p:nvPr>
        </p:nvSpPr>
        <p:spPr>
          <a:xfrm>
            <a:off x="228600" y="228600"/>
            <a:ext cx="8686800" cy="850500"/>
          </a:xfrm>
          <a:prstGeom prst="rect">
            <a:avLst/>
          </a:prstGeom>
        </p:spPr>
        <p:txBody>
          <a:bodyPr anchorCtr="0" anchor="ctr" bIns="0" lIns="0" spcFirstLastPara="1" rIns="0" wrap="square" tIns="0">
            <a:no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8" name="Google Shape;58;p13"/>
          <p:cNvSpPr txBox="1"/>
          <p:nvPr/>
        </p:nvSpPr>
        <p:spPr>
          <a:xfrm>
            <a:off x="210312" y="1171160"/>
            <a:ext cx="777300" cy="61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01</a:t>
            </a:r>
            <a:endParaRPr>
              <a:solidFill>
                <a:schemeClr val="dk2"/>
              </a:solidFill>
            </a:endParaRPr>
          </a:p>
        </p:txBody>
      </p:sp>
      <p:sp>
        <p:nvSpPr>
          <p:cNvPr id="59" name="Google Shape;59;p13"/>
          <p:cNvSpPr txBox="1"/>
          <p:nvPr/>
        </p:nvSpPr>
        <p:spPr>
          <a:xfrm>
            <a:off x="210312" y="3274280"/>
            <a:ext cx="777300" cy="61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02</a:t>
            </a:r>
            <a:endParaRPr>
              <a:solidFill>
                <a:schemeClr val="dk2"/>
              </a:solidFill>
            </a:endParaRPr>
          </a:p>
        </p:txBody>
      </p:sp>
      <p:sp>
        <p:nvSpPr>
          <p:cNvPr id="60" name="Google Shape;60;p13"/>
          <p:cNvSpPr txBox="1"/>
          <p:nvPr/>
        </p:nvSpPr>
        <p:spPr>
          <a:xfrm>
            <a:off x="6336792" y="1170432"/>
            <a:ext cx="777300" cy="61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03</a:t>
            </a:r>
            <a:endParaRPr>
              <a:solidFill>
                <a:schemeClr val="dk2"/>
              </a:solidFill>
            </a:endParaRPr>
          </a:p>
        </p:txBody>
      </p:sp>
      <p:sp>
        <p:nvSpPr>
          <p:cNvPr id="61" name="Google Shape;61;p13"/>
          <p:cNvSpPr txBox="1"/>
          <p:nvPr>
            <p:ph idx="1" type="body"/>
          </p:nvPr>
        </p:nvSpPr>
        <p:spPr>
          <a:xfrm>
            <a:off x="1042416" y="1244312"/>
            <a:ext cx="1664100" cy="1536300"/>
          </a:xfrm>
          <a:prstGeom prst="rect">
            <a:avLst/>
          </a:prstGeom>
        </p:spPr>
        <p:txBody>
          <a:bodyPr anchorCtr="0" anchor="t" bIns="0" lIns="0" spcFirstLastPara="1" rIns="0" wrap="square" tIns="0">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62" name="Google Shape;62;p13"/>
          <p:cNvSpPr txBox="1"/>
          <p:nvPr>
            <p:ph idx="3" type="body"/>
          </p:nvPr>
        </p:nvSpPr>
        <p:spPr>
          <a:xfrm>
            <a:off x="7178040" y="1243584"/>
            <a:ext cx="1664100" cy="1536300"/>
          </a:xfrm>
          <a:prstGeom prst="rect">
            <a:avLst/>
          </a:prstGeom>
        </p:spPr>
        <p:txBody>
          <a:bodyPr anchorCtr="0" anchor="t" bIns="0" lIns="0" spcFirstLastPara="1" rIns="0" wrap="square" tIns="0">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63" name="Google Shape;63;p13"/>
          <p:cNvSpPr txBox="1"/>
          <p:nvPr>
            <p:ph idx="4" type="body"/>
          </p:nvPr>
        </p:nvSpPr>
        <p:spPr>
          <a:xfrm>
            <a:off x="7178040" y="3346704"/>
            <a:ext cx="1664100" cy="1536300"/>
          </a:xfrm>
          <a:prstGeom prst="rect">
            <a:avLst/>
          </a:prstGeom>
        </p:spPr>
        <p:txBody>
          <a:bodyPr anchorCtr="0" anchor="t" bIns="0" lIns="0" spcFirstLastPara="1" rIns="0" wrap="square" tIns="0">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cxnSp>
        <p:nvCxnSpPr>
          <p:cNvPr id="64" name="Google Shape;64;p13"/>
          <p:cNvCxnSpPr/>
          <p:nvPr/>
        </p:nvCxnSpPr>
        <p:spPr>
          <a:xfrm>
            <a:off x="545049" y="1372270"/>
            <a:ext cx="415500" cy="0"/>
          </a:xfrm>
          <a:prstGeom prst="straightConnector1">
            <a:avLst/>
          </a:prstGeom>
          <a:noFill/>
          <a:ln cap="flat" cmpd="sng" w="9525">
            <a:solidFill>
              <a:srgbClr val="595959"/>
            </a:solidFill>
            <a:prstDash val="solid"/>
            <a:round/>
            <a:headEnd len="sm" w="sm" type="none"/>
            <a:tailEnd len="sm" w="sm" type="none"/>
          </a:ln>
        </p:spPr>
      </p:cxnSp>
      <p:cxnSp>
        <p:nvCxnSpPr>
          <p:cNvPr id="65" name="Google Shape;65;p13"/>
          <p:cNvCxnSpPr/>
          <p:nvPr/>
        </p:nvCxnSpPr>
        <p:spPr>
          <a:xfrm>
            <a:off x="545049" y="3474695"/>
            <a:ext cx="415500" cy="0"/>
          </a:xfrm>
          <a:prstGeom prst="straightConnector1">
            <a:avLst/>
          </a:prstGeom>
          <a:noFill/>
          <a:ln cap="flat" cmpd="sng" w="9525">
            <a:solidFill>
              <a:srgbClr val="595959"/>
            </a:solidFill>
            <a:prstDash val="solid"/>
            <a:round/>
            <a:headEnd len="sm" w="sm" type="none"/>
            <a:tailEnd len="sm" w="sm" type="none"/>
          </a:ln>
        </p:spPr>
      </p:cxnSp>
      <p:cxnSp>
        <p:nvCxnSpPr>
          <p:cNvPr id="66" name="Google Shape;66;p13"/>
          <p:cNvCxnSpPr/>
          <p:nvPr/>
        </p:nvCxnSpPr>
        <p:spPr>
          <a:xfrm>
            <a:off x="6677174" y="1371600"/>
            <a:ext cx="415500" cy="0"/>
          </a:xfrm>
          <a:prstGeom prst="straightConnector1">
            <a:avLst/>
          </a:prstGeom>
          <a:noFill/>
          <a:ln cap="flat" cmpd="sng" w="9525">
            <a:solidFill>
              <a:srgbClr val="595959"/>
            </a:solidFill>
            <a:prstDash val="solid"/>
            <a:round/>
            <a:headEnd len="sm" w="sm" type="none"/>
            <a:tailEnd len="sm" w="sm" type="none"/>
          </a:ln>
        </p:spPr>
      </p:cxnSp>
      <p:cxnSp>
        <p:nvCxnSpPr>
          <p:cNvPr id="67" name="Google Shape;67;p13"/>
          <p:cNvCxnSpPr/>
          <p:nvPr/>
        </p:nvCxnSpPr>
        <p:spPr>
          <a:xfrm>
            <a:off x="6677174" y="3474720"/>
            <a:ext cx="415500" cy="0"/>
          </a:xfrm>
          <a:prstGeom prst="straightConnector1">
            <a:avLst/>
          </a:prstGeom>
          <a:noFill/>
          <a:ln cap="flat" cmpd="sng" w="9525">
            <a:solidFill>
              <a:srgbClr val="595959"/>
            </a:solidFill>
            <a:prstDash val="solid"/>
            <a:round/>
            <a:headEnd len="sm" w="sm" type="none"/>
            <a:tailEnd len="sm" w="sm" type="none"/>
          </a:ln>
        </p:spPr>
      </p:cxnSp>
      <p:sp>
        <p:nvSpPr>
          <p:cNvPr id="68" name="Google Shape;68;p13"/>
          <p:cNvSpPr txBox="1"/>
          <p:nvPr/>
        </p:nvSpPr>
        <p:spPr>
          <a:xfrm>
            <a:off x="6336796" y="3273550"/>
            <a:ext cx="777300" cy="61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04</a:t>
            </a:r>
            <a:endParaRPr>
              <a:solidFill>
                <a:schemeClr val="dk2"/>
              </a:solidFill>
            </a:endParaRPr>
          </a:p>
        </p:txBody>
      </p:sp>
      <p:sp>
        <p:nvSpPr>
          <p:cNvPr id="69" name="Google Shape;69;p13"/>
          <p:cNvSpPr txBox="1"/>
          <p:nvPr>
            <p:ph idx="5" type="body"/>
          </p:nvPr>
        </p:nvSpPr>
        <p:spPr>
          <a:xfrm>
            <a:off x="1042416" y="3347432"/>
            <a:ext cx="1664100" cy="1536300"/>
          </a:xfrm>
          <a:prstGeom prst="rect">
            <a:avLst/>
          </a:prstGeom>
        </p:spPr>
        <p:txBody>
          <a:bodyPr anchorCtr="0" anchor="t" bIns="0" lIns="0" spcFirstLastPara="1" rIns="0" wrap="square" tIns="0">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extLst>
    <p:ext uri="{DCECCB84-F9BA-43D5-87BE-67443E8EF086}">
      <p15:sldGuideLst>
        <p15:guide id="1" orient="horz" pos="1904">
          <p15:clr>
            <a:srgbClr val="E46962"/>
          </p15:clr>
        </p15:guide>
        <p15:guide id="2" pos="4718">
          <p15:clr>
            <a:srgbClr val="E46962"/>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Slide 1_1_1_D">
  <p:cSld name="TITLE_AND_BODY_2_1_1_1_1_1">
    <p:spTree>
      <p:nvGrpSpPr>
        <p:cNvPr id="70" name="Shape 70"/>
        <p:cNvGrpSpPr/>
        <p:nvPr/>
      </p:nvGrpSpPr>
      <p:grpSpPr>
        <a:xfrm>
          <a:off x="0" y="0"/>
          <a:ext cx="0" cy="0"/>
          <a:chOff x="0" y="0"/>
          <a:chExt cx="0" cy="0"/>
        </a:xfrm>
      </p:grpSpPr>
      <p:sp>
        <p:nvSpPr>
          <p:cNvPr id="71" name="Google Shape;71;p14"/>
          <p:cNvSpPr txBox="1"/>
          <p:nvPr>
            <p:ph type="title"/>
          </p:nvPr>
        </p:nvSpPr>
        <p:spPr>
          <a:xfrm>
            <a:off x="228600" y="804675"/>
            <a:ext cx="3730200" cy="795600"/>
          </a:xfrm>
          <a:prstGeom prst="rect">
            <a:avLst/>
          </a:prstGeom>
        </p:spPr>
        <p:txBody>
          <a:bodyPr anchorCtr="0" anchor="t" bIns="0" lIns="0" spcFirstLastPara="1" rIns="0" wrap="square" tIns="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2" name="Google Shape;72;p14"/>
          <p:cNvSpPr txBox="1"/>
          <p:nvPr>
            <p:ph idx="1" type="body"/>
          </p:nvPr>
        </p:nvSpPr>
        <p:spPr>
          <a:xfrm>
            <a:off x="228600" y="1901954"/>
            <a:ext cx="3730200" cy="2697600"/>
          </a:xfrm>
          <a:prstGeom prst="rect">
            <a:avLst/>
          </a:prstGeom>
        </p:spPr>
        <p:txBody>
          <a:bodyPr anchorCtr="0" anchor="t" bIns="0" lIns="0" spcFirstLastPara="1" rIns="0" wrap="square" tIns="0">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73" name="Google Shape;73;p14"/>
          <p:cNvSpPr/>
          <p:nvPr>
            <p:ph idx="2" type="pic"/>
          </p:nvPr>
        </p:nvSpPr>
        <p:spPr>
          <a:xfrm>
            <a:off x="4233672" y="228600"/>
            <a:ext cx="4690800" cy="4690800"/>
          </a:xfrm>
          <a:prstGeom prst="round2DiagRect">
            <a:avLst>
              <a:gd fmla="val 16667" name="adj1"/>
              <a:gd fmla="val 0" name="adj2"/>
            </a:avLst>
          </a:prstGeom>
          <a:noFill/>
          <a:ln>
            <a:noFill/>
          </a:ln>
        </p:spPr>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pearmint">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1pPr>
            <a:lvl2pPr lvl="1">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2pPr>
            <a:lvl3pPr lvl="2">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3pPr>
            <a:lvl4pPr lvl="3">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4pPr>
            <a:lvl5pPr lvl="4">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5pPr>
            <a:lvl6pPr lvl="5">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6pPr>
            <a:lvl7pPr lvl="6">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7pPr>
            <a:lvl8pPr lvl="7">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8pPr>
            <a:lvl9pPr lvl="8">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Proxima Nova"/>
              <a:buChar char="●"/>
              <a:defRPr sz="1800">
                <a:solidFill>
                  <a:schemeClr val="accent3"/>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Proxima Nova"/>
                <a:ea typeface="Proxima Nova"/>
                <a:cs typeface="Proxima Nova"/>
                <a:sym typeface="Proxima Nova"/>
              </a:defRPr>
            </a:lvl1pPr>
            <a:lvl2pPr lvl="1" algn="r">
              <a:buNone/>
              <a:defRPr sz="1000">
                <a:solidFill>
                  <a:schemeClr val="dk1"/>
                </a:solidFill>
                <a:latin typeface="Proxima Nova"/>
                <a:ea typeface="Proxima Nova"/>
                <a:cs typeface="Proxima Nova"/>
                <a:sym typeface="Proxima Nova"/>
              </a:defRPr>
            </a:lvl2pPr>
            <a:lvl3pPr lvl="2" algn="r">
              <a:buNone/>
              <a:defRPr sz="1000">
                <a:solidFill>
                  <a:schemeClr val="dk1"/>
                </a:solidFill>
                <a:latin typeface="Proxima Nova"/>
                <a:ea typeface="Proxima Nova"/>
                <a:cs typeface="Proxima Nova"/>
                <a:sym typeface="Proxima Nova"/>
              </a:defRPr>
            </a:lvl3pPr>
            <a:lvl4pPr lvl="3" algn="r">
              <a:buNone/>
              <a:defRPr sz="1000">
                <a:solidFill>
                  <a:schemeClr val="dk1"/>
                </a:solidFill>
                <a:latin typeface="Proxima Nova"/>
                <a:ea typeface="Proxima Nova"/>
                <a:cs typeface="Proxima Nova"/>
                <a:sym typeface="Proxima Nova"/>
              </a:defRPr>
            </a:lvl4pPr>
            <a:lvl5pPr lvl="4" algn="r">
              <a:buNone/>
              <a:defRPr sz="1000">
                <a:solidFill>
                  <a:schemeClr val="dk1"/>
                </a:solidFill>
                <a:latin typeface="Proxima Nova"/>
                <a:ea typeface="Proxima Nova"/>
                <a:cs typeface="Proxima Nova"/>
                <a:sym typeface="Proxima Nova"/>
              </a:defRPr>
            </a:lvl5pPr>
            <a:lvl6pPr lvl="5" algn="r">
              <a:buNone/>
              <a:defRPr sz="1000">
                <a:solidFill>
                  <a:schemeClr val="dk1"/>
                </a:solidFill>
                <a:latin typeface="Proxima Nova"/>
                <a:ea typeface="Proxima Nova"/>
                <a:cs typeface="Proxima Nova"/>
                <a:sym typeface="Proxima Nova"/>
              </a:defRPr>
            </a:lvl6pPr>
            <a:lvl7pPr lvl="6" algn="r">
              <a:buNone/>
              <a:defRPr sz="1000">
                <a:solidFill>
                  <a:schemeClr val="dk1"/>
                </a:solidFill>
                <a:latin typeface="Proxima Nova"/>
                <a:ea typeface="Proxima Nova"/>
                <a:cs typeface="Proxima Nova"/>
                <a:sym typeface="Proxima Nova"/>
              </a:defRPr>
            </a:lvl7pPr>
            <a:lvl8pPr lvl="7" algn="r">
              <a:buNone/>
              <a:defRPr sz="1000">
                <a:solidFill>
                  <a:schemeClr val="dk1"/>
                </a:solidFill>
                <a:latin typeface="Proxima Nova"/>
                <a:ea typeface="Proxima Nova"/>
                <a:cs typeface="Proxima Nova"/>
                <a:sym typeface="Proxima Nova"/>
              </a:defRPr>
            </a:lvl8pPr>
            <a:lvl9pPr lvl="8" algn="r">
              <a:buNone/>
              <a:defRPr sz="1000">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9.gi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8.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5.png"/><Relationship Id="rId6"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hyperlink" Target="about:blank" TargetMode="External"/><Relationship Id="rId4" Type="http://schemas.openxmlformats.org/officeDocument/2006/relationships/hyperlink" Target="about:blank" TargetMode="External"/><Relationship Id="rId5" Type="http://schemas.openxmlformats.org/officeDocument/2006/relationships/image" Target="../media/image3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3.png"/><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2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2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2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7.png"/><Relationship Id="rId4" Type="http://schemas.openxmlformats.org/officeDocument/2006/relationships/image" Target="../media/image10.png"/><Relationship Id="rId5" Type="http://schemas.openxmlformats.org/officeDocument/2006/relationships/image" Target="../media/image1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6.png"/><Relationship Id="rId4" Type="http://schemas.openxmlformats.org/officeDocument/2006/relationships/image" Target="../media/image2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29.png"/><Relationship Id="rId4" Type="http://schemas.openxmlformats.org/officeDocument/2006/relationships/image" Target="../media/image27.png"/><Relationship Id="rId5" Type="http://schemas.openxmlformats.org/officeDocument/2006/relationships/image" Target="../media/image3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5"/>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AI in Healthcare</a:t>
            </a:r>
            <a:endParaRPr/>
          </a:p>
        </p:txBody>
      </p:sp>
      <p:sp>
        <p:nvSpPr>
          <p:cNvPr id="79" name="Google Shape;79;p15"/>
          <p:cNvSpPr txBox="1"/>
          <p:nvPr>
            <p:ph idx="1" type="subTitle"/>
          </p:nvPr>
        </p:nvSpPr>
        <p:spPr>
          <a:xfrm>
            <a:off x="510450" y="3182313"/>
            <a:ext cx="8123100" cy="630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LLM Tutorial</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6"/>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Local Server Setup</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7"/>
          <p:cNvSpPr txBox="1"/>
          <p:nvPr>
            <p:ph type="title"/>
          </p:nvPr>
        </p:nvSpPr>
        <p:spPr>
          <a:xfrm>
            <a:off x="228600" y="228600"/>
            <a:ext cx="8686800" cy="850500"/>
          </a:xfrm>
          <a:prstGeom prst="rect">
            <a:avLst/>
          </a:prstGeom>
        </p:spPr>
        <p:txBody>
          <a:bodyPr anchorCtr="0" anchor="ctr" bIns="0" lIns="0" spcFirstLastPara="1" rIns="0" wrap="square" tIns="0">
            <a:normAutofit/>
          </a:bodyPr>
          <a:lstStyle/>
          <a:p>
            <a:pPr indent="0" lvl="0" marL="0" rtl="0" algn="ctr">
              <a:spcBef>
                <a:spcPts val="0"/>
              </a:spcBef>
              <a:spcAft>
                <a:spcPts val="0"/>
              </a:spcAft>
              <a:buNone/>
            </a:pPr>
            <a:r>
              <a:rPr lang="en"/>
              <a:t>Ollama: LLMs Made Easy</a:t>
            </a:r>
            <a:endParaRPr/>
          </a:p>
        </p:txBody>
      </p:sp>
      <p:sp>
        <p:nvSpPr>
          <p:cNvPr id="89" name="Google Shape;89;p17"/>
          <p:cNvSpPr txBox="1"/>
          <p:nvPr>
            <p:ph idx="1" type="body"/>
          </p:nvPr>
        </p:nvSpPr>
        <p:spPr>
          <a:xfrm>
            <a:off x="1042416" y="1244312"/>
            <a:ext cx="1664100" cy="1536300"/>
          </a:xfrm>
          <a:prstGeom prst="rect">
            <a:avLst/>
          </a:prstGeom>
        </p:spPr>
        <p:txBody>
          <a:bodyPr anchorCtr="0" anchor="t" bIns="0" lIns="0" spcFirstLastPara="1" rIns="0" wrap="square" tIns="0">
            <a:normAutofit/>
          </a:bodyPr>
          <a:lstStyle/>
          <a:p>
            <a:pPr indent="0" lvl="0" marL="0" rtl="0" algn="l">
              <a:spcBef>
                <a:spcPts val="0"/>
              </a:spcBef>
              <a:spcAft>
                <a:spcPts val="1200"/>
              </a:spcAft>
              <a:buNone/>
            </a:pPr>
            <a:r>
              <a:rPr lang="en"/>
              <a:t>Ollama is a tool for running large language models locally.</a:t>
            </a:r>
            <a:endParaRPr/>
          </a:p>
        </p:txBody>
      </p:sp>
      <p:sp>
        <p:nvSpPr>
          <p:cNvPr id="90" name="Google Shape;90;p17"/>
          <p:cNvSpPr txBox="1"/>
          <p:nvPr>
            <p:ph idx="3" type="body"/>
          </p:nvPr>
        </p:nvSpPr>
        <p:spPr>
          <a:xfrm>
            <a:off x="7178040" y="1243584"/>
            <a:ext cx="1664100" cy="1536300"/>
          </a:xfrm>
          <a:prstGeom prst="rect">
            <a:avLst/>
          </a:prstGeom>
        </p:spPr>
        <p:txBody>
          <a:bodyPr anchorCtr="0" anchor="t" bIns="0" lIns="0" spcFirstLastPara="1" rIns="0" wrap="square" tIns="0">
            <a:normAutofit/>
          </a:bodyPr>
          <a:lstStyle/>
          <a:p>
            <a:pPr indent="0" lvl="0" marL="0" rtl="0" algn="l">
              <a:spcBef>
                <a:spcPts val="0"/>
              </a:spcBef>
              <a:spcAft>
                <a:spcPts val="1200"/>
              </a:spcAft>
              <a:buNone/>
            </a:pPr>
            <a:r>
              <a:rPr lang="en"/>
              <a:t>Runs on Linux, macOS, and WSL2.</a:t>
            </a:r>
            <a:endParaRPr/>
          </a:p>
        </p:txBody>
      </p:sp>
      <p:sp>
        <p:nvSpPr>
          <p:cNvPr id="91" name="Google Shape;91;p17"/>
          <p:cNvSpPr txBox="1"/>
          <p:nvPr>
            <p:ph idx="4" type="body"/>
          </p:nvPr>
        </p:nvSpPr>
        <p:spPr>
          <a:xfrm>
            <a:off x="7178040" y="3346704"/>
            <a:ext cx="1664100" cy="1536300"/>
          </a:xfrm>
          <a:prstGeom prst="rect">
            <a:avLst/>
          </a:prstGeom>
        </p:spPr>
        <p:txBody>
          <a:bodyPr anchorCtr="0" anchor="t" bIns="0" lIns="0" spcFirstLastPara="1" rIns="0" wrap="square" tIns="0">
            <a:normAutofit/>
          </a:bodyPr>
          <a:lstStyle/>
          <a:p>
            <a:pPr indent="0" lvl="0" marL="0" rtl="0" algn="l">
              <a:spcBef>
                <a:spcPts val="0"/>
              </a:spcBef>
              <a:spcAft>
                <a:spcPts val="1200"/>
              </a:spcAft>
              <a:buNone/>
            </a:pPr>
            <a:r>
              <a:rPr lang="en"/>
              <a:t>Simplifies downloading, serving, and querying LLMs.</a:t>
            </a:r>
            <a:endParaRPr/>
          </a:p>
        </p:txBody>
      </p:sp>
      <p:sp>
        <p:nvSpPr>
          <p:cNvPr id="92" name="Google Shape;92;p17"/>
          <p:cNvSpPr txBox="1"/>
          <p:nvPr>
            <p:ph idx="5" type="body"/>
          </p:nvPr>
        </p:nvSpPr>
        <p:spPr>
          <a:xfrm>
            <a:off x="1042416" y="3347432"/>
            <a:ext cx="1664100" cy="1536300"/>
          </a:xfrm>
          <a:prstGeom prst="rect">
            <a:avLst/>
          </a:prstGeom>
        </p:spPr>
        <p:txBody>
          <a:bodyPr anchorCtr="0" anchor="t" bIns="0" lIns="0" spcFirstLastPara="1" rIns="0" wrap="square" tIns="0">
            <a:normAutofit/>
          </a:bodyPr>
          <a:lstStyle/>
          <a:p>
            <a:pPr indent="0" lvl="0" marL="0" rtl="0" algn="l">
              <a:spcBef>
                <a:spcPts val="0"/>
              </a:spcBef>
              <a:spcAft>
                <a:spcPts val="1200"/>
              </a:spcAft>
              <a:buNone/>
            </a:pPr>
            <a:r>
              <a:rPr lang="en"/>
              <a:t>Supports models like Deepseek R1, LLaMA 3, and LLaMA 4.</a:t>
            </a:r>
            <a:endParaRPr/>
          </a:p>
        </p:txBody>
      </p:sp>
      <p:pic>
        <p:nvPicPr>
          <p:cNvPr descr="a pink llama with a pink wig is smiling and says yeah (Provided by Tenor)" id="93" name="Google Shape;93;p17"/>
          <p:cNvPicPr preferRelativeResize="0"/>
          <p:nvPr>
            <p:ph idx="2" type="pic"/>
          </p:nvPr>
        </p:nvPicPr>
        <p:blipFill rotWithShape="1">
          <a:blip r:embed="rId3">
            <a:alphaModFix/>
          </a:blip>
          <a:srcRect b="0" l="0" r="0" t="0"/>
          <a:stretch/>
        </p:blipFill>
        <p:spPr>
          <a:xfrm>
            <a:off x="2990088" y="1436336"/>
            <a:ext cx="3173100" cy="3173100"/>
          </a:xfrm>
          <a:prstGeom prst="roundRect">
            <a:avLst>
              <a:gd fmla="val 50000" name="adj"/>
            </a:avLst>
          </a:prstGeom>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8"/>
          <p:cNvSpPr txBox="1"/>
          <p:nvPr>
            <p:ph type="title"/>
          </p:nvPr>
        </p:nvSpPr>
        <p:spPr>
          <a:xfrm>
            <a:off x="228600" y="804675"/>
            <a:ext cx="3730200" cy="7956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Why Docker?</a:t>
            </a:r>
            <a:endParaRPr/>
          </a:p>
        </p:txBody>
      </p:sp>
      <p:sp>
        <p:nvSpPr>
          <p:cNvPr id="98" name="Google Shape;98;p18"/>
          <p:cNvSpPr txBox="1"/>
          <p:nvPr>
            <p:ph idx="1" type="body"/>
          </p:nvPr>
        </p:nvSpPr>
        <p:spPr>
          <a:xfrm>
            <a:off x="228600" y="1901954"/>
            <a:ext cx="3730200" cy="2697600"/>
          </a:xfrm>
          <a:prstGeom prst="rect">
            <a:avLst/>
          </a:prstGeom>
        </p:spPr>
        <p:txBody>
          <a:bodyPr anchorCtr="0" anchor="t" bIns="0" lIns="0" spcFirstLastPara="1" rIns="0" wrap="square" tIns="0">
            <a:normAutofit/>
          </a:bodyPr>
          <a:lstStyle/>
          <a:p>
            <a:pPr indent="-342900" lvl="0" marL="457200" rtl="0" algn="l">
              <a:spcBef>
                <a:spcPts val="0"/>
              </a:spcBef>
              <a:spcAft>
                <a:spcPts val="0"/>
              </a:spcAft>
              <a:buSzPts val="1800"/>
              <a:buChar char="●"/>
            </a:pPr>
            <a:r>
              <a:rPr lang="en"/>
              <a:t>✅ Containerized, reproducible environment</a:t>
            </a:r>
            <a:endParaRPr/>
          </a:p>
          <a:p>
            <a:pPr indent="-342900" lvl="0" marL="457200" rtl="0" algn="l">
              <a:spcBef>
                <a:spcPts val="0"/>
              </a:spcBef>
              <a:spcAft>
                <a:spcPts val="0"/>
              </a:spcAft>
              <a:buSzPts val="1800"/>
              <a:buChar char="●"/>
            </a:pPr>
            <a:r>
              <a:rPr lang="en"/>
              <a:t>🛠️ No need to install system-wide dependencies</a:t>
            </a:r>
            <a:endParaRPr/>
          </a:p>
          <a:p>
            <a:pPr indent="-342900" lvl="0" marL="457200" rtl="0" algn="l">
              <a:spcBef>
                <a:spcPts val="0"/>
              </a:spcBef>
              <a:spcAft>
                <a:spcPts val="0"/>
              </a:spcAft>
              <a:buSzPts val="1800"/>
              <a:buChar char="●"/>
            </a:pPr>
            <a:r>
              <a:rPr lang="en"/>
              <a:t>🔐 Isolated and portable — works well in the server environment with docker compose</a:t>
            </a:r>
            <a:endParaRPr/>
          </a:p>
        </p:txBody>
      </p:sp>
      <p:pic>
        <p:nvPicPr>
          <p:cNvPr descr="a blue whale with containers on its back (Provided by Tenor)" id="99" name="Google Shape;99;p18"/>
          <p:cNvPicPr preferRelativeResize="0"/>
          <p:nvPr>
            <p:ph idx="2" type="pic"/>
          </p:nvPr>
        </p:nvPicPr>
        <p:blipFill rotWithShape="1">
          <a:blip r:embed="rId3">
            <a:alphaModFix/>
          </a:blip>
          <a:srcRect b="0" l="0" r="0" t="0"/>
          <a:stretch/>
        </p:blipFill>
        <p:spPr>
          <a:xfrm>
            <a:off x="4233672" y="228600"/>
            <a:ext cx="4690800" cy="4690800"/>
          </a:xfrm>
          <a:prstGeom prst="round2DiagRect">
            <a:avLst>
              <a:gd fmla="val 16667" name="adj1"/>
              <a:gd fmla="val 0" name="adj2"/>
            </a:avLst>
          </a:prstGeom>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9"/>
          <p:cNvSpPr txBox="1"/>
          <p:nvPr>
            <p:ph type="title"/>
          </p:nvPr>
        </p:nvSpPr>
        <p:spPr>
          <a:xfrm>
            <a:off x="276175" y="134650"/>
            <a:ext cx="3730200" cy="795600"/>
          </a:xfrm>
          <a:prstGeom prst="rect">
            <a:avLst/>
          </a:prstGeom>
        </p:spPr>
        <p:txBody>
          <a:bodyPr anchorCtr="0" anchor="t" bIns="0" lIns="0" spcFirstLastPara="1" rIns="0" wrap="square" tIns="0">
            <a:normAutofit fontScale="90000"/>
          </a:bodyPr>
          <a:lstStyle/>
          <a:p>
            <a:pPr indent="0" lvl="0" marL="0" rtl="0" algn="l">
              <a:spcBef>
                <a:spcPts val="0"/>
              </a:spcBef>
              <a:spcAft>
                <a:spcPts val="0"/>
              </a:spcAft>
              <a:buNone/>
            </a:pPr>
            <a:r>
              <a:rPr lang="en"/>
              <a:t>Installing Ollama with Docker &amp; Downloading Models</a:t>
            </a:r>
            <a:endParaRPr/>
          </a:p>
        </p:txBody>
      </p:sp>
      <p:sp>
        <p:nvSpPr>
          <p:cNvPr id="105" name="Google Shape;105;p19"/>
          <p:cNvSpPr txBox="1"/>
          <p:nvPr>
            <p:ph idx="1" type="body"/>
          </p:nvPr>
        </p:nvSpPr>
        <p:spPr>
          <a:xfrm>
            <a:off x="104900" y="1430950"/>
            <a:ext cx="3377700" cy="2860500"/>
          </a:xfrm>
          <a:prstGeom prst="rect">
            <a:avLst/>
          </a:prstGeom>
        </p:spPr>
        <p:txBody>
          <a:bodyPr anchorCtr="0" anchor="t" bIns="0" lIns="0" spcFirstLastPara="1" rIns="0" wrap="square" tIns="0">
            <a:normAutofit/>
          </a:bodyPr>
          <a:lstStyle/>
          <a:p>
            <a:pPr indent="-342900" lvl="0" marL="457200" rtl="0" algn="l">
              <a:spcBef>
                <a:spcPts val="0"/>
              </a:spcBef>
              <a:spcAft>
                <a:spcPts val="0"/>
              </a:spcAft>
              <a:buSzPts val="1800"/>
              <a:buChar char="-"/>
            </a:pPr>
            <a:r>
              <a:rPr lang="en"/>
              <a:t>First initialize and run the docker ollama container</a:t>
            </a:r>
            <a:endParaRPr/>
          </a:p>
          <a:p>
            <a:pPr indent="-342900" lvl="0" marL="457200" rtl="0" algn="l">
              <a:spcBef>
                <a:spcPts val="0"/>
              </a:spcBef>
              <a:spcAft>
                <a:spcPts val="0"/>
              </a:spcAft>
              <a:buSzPts val="1800"/>
              <a:buChar char="-"/>
            </a:pPr>
            <a:r>
              <a:rPr lang="en"/>
              <a:t>Then enter the console for that container (docker exec -it ollama bash)</a:t>
            </a:r>
            <a:endParaRPr/>
          </a:p>
          <a:p>
            <a:pPr indent="-342900" lvl="0" marL="457200" rtl="0" algn="l">
              <a:spcBef>
                <a:spcPts val="0"/>
              </a:spcBef>
              <a:spcAft>
                <a:spcPts val="0"/>
              </a:spcAft>
              <a:buSzPts val="1800"/>
              <a:buChar char="-"/>
            </a:pPr>
            <a:r>
              <a:rPr lang="en"/>
              <a:t>Finally, pull the models of your choice, like llama4 and Deepseek R1</a:t>
            </a:r>
            <a:endParaRPr/>
          </a:p>
        </p:txBody>
      </p:sp>
      <p:pic>
        <p:nvPicPr>
          <p:cNvPr id="106" name="Google Shape;106;p19"/>
          <p:cNvPicPr preferRelativeResize="0"/>
          <p:nvPr/>
        </p:nvPicPr>
        <p:blipFill>
          <a:blip r:embed="rId3">
            <a:alphaModFix/>
          </a:blip>
          <a:stretch>
            <a:fillRect/>
          </a:stretch>
        </p:blipFill>
        <p:spPr>
          <a:xfrm>
            <a:off x="4307950" y="134650"/>
            <a:ext cx="4610100" cy="2381250"/>
          </a:xfrm>
          <a:prstGeom prst="rect">
            <a:avLst/>
          </a:prstGeom>
          <a:noFill/>
          <a:ln>
            <a:noFill/>
          </a:ln>
        </p:spPr>
      </p:pic>
      <p:pic>
        <p:nvPicPr>
          <p:cNvPr id="107" name="Google Shape;107;p19"/>
          <p:cNvPicPr preferRelativeResize="0"/>
          <p:nvPr/>
        </p:nvPicPr>
        <p:blipFill>
          <a:blip r:embed="rId4">
            <a:alphaModFix/>
          </a:blip>
          <a:stretch>
            <a:fillRect/>
          </a:stretch>
        </p:blipFill>
        <p:spPr>
          <a:xfrm>
            <a:off x="4317475" y="2571752"/>
            <a:ext cx="4591050" cy="742950"/>
          </a:xfrm>
          <a:prstGeom prst="rect">
            <a:avLst/>
          </a:prstGeom>
          <a:noFill/>
          <a:ln>
            <a:noFill/>
          </a:ln>
        </p:spPr>
      </p:pic>
      <p:pic>
        <p:nvPicPr>
          <p:cNvPr id="108" name="Google Shape;108;p19"/>
          <p:cNvPicPr preferRelativeResize="0"/>
          <p:nvPr/>
        </p:nvPicPr>
        <p:blipFill>
          <a:blip r:embed="rId5">
            <a:alphaModFix/>
          </a:blip>
          <a:stretch>
            <a:fillRect/>
          </a:stretch>
        </p:blipFill>
        <p:spPr>
          <a:xfrm>
            <a:off x="3660250" y="3370552"/>
            <a:ext cx="5257800" cy="742950"/>
          </a:xfrm>
          <a:prstGeom prst="rect">
            <a:avLst/>
          </a:prstGeom>
          <a:noFill/>
          <a:ln>
            <a:noFill/>
          </a:ln>
        </p:spPr>
      </p:pic>
      <p:pic>
        <p:nvPicPr>
          <p:cNvPr id="109" name="Google Shape;109;p19"/>
          <p:cNvPicPr preferRelativeResize="0"/>
          <p:nvPr/>
        </p:nvPicPr>
        <p:blipFill>
          <a:blip r:embed="rId6">
            <a:alphaModFix/>
          </a:blip>
          <a:stretch>
            <a:fillRect/>
          </a:stretch>
        </p:blipFill>
        <p:spPr>
          <a:xfrm>
            <a:off x="2902050" y="4227825"/>
            <a:ext cx="6006475" cy="6534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0"/>
          <p:cNvSpPr txBox="1"/>
          <p:nvPr>
            <p:ph type="title"/>
          </p:nvPr>
        </p:nvSpPr>
        <p:spPr>
          <a:xfrm>
            <a:off x="0" y="0"/>
            <a:ext cx="3829800" cy="1017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Testing the Connection: Deepseek R1</a:t>
            </a:r>
            <a:endParaRPr/>
          </a:p>
        </p:txBody>
      </p:sp>
      <p:sp>
        <p:nvSpPr>
          <p:cNvPr id="115" name="Google Shape;115;p20"/>
          <p:cNvSpPr txBox="1"/>
          <p:nvPr>
            <p:ph idx="1" type="body"/>
          </p:nvPr>
        </p:nvSpPr>
        <p:spPr>
          <a:xfrm>
            <a:off x="0" y="1298700"/>
            <a:ext cx="9144000" cy="1173000"/>
          </a:xfrm>
          <a:prstGeom prst="rect">
            <a:avLst/>
          </a:prstGeom>
        </p:spPr>
        <p:txBody>
          <a:bodyPr anchorCtr="0" anchor="t" bIns="91425" lIns="91425" spcFirstLastPara="1" rIns="91425" wrap="square" tIns="91425">
            <a:normAutofit fontScale="25000"/>
          </a:bodyPr>
          <a:lstStyle/>
          <a:p>
            <a:pPr indent="0" lvl="0" marL="0" rtl="0" algn="l">
              <a:lnSpc>
                <a:spcPct val="100000"/>
              </a:lnSpc>
              <a:spcBef>
                <a:spcPts val="0"/>
              </a:spcBef>
              <a:spcAft>
                <a:spcPts val="0"/>
              </a:spcAft>
              <a:buNone/>
            </a:pPr>
            <a:r>
              <a:rPr lang="en"/>
              <a:t>&lt;think&gt;</a:t>
            </a:r>
            <a:endParaRPr/>
          </a:p>
          <a:p>
            <a:pPr indent="0" lvl="0" marL="0" rtl="0" algn="l">
              <a:lnSpc>
                <a:spcPct val="100000"/>
              </a:lnSpc>
              <a:spcBef>
                <a:spcPts val="0"/>
              </a:spcBef>
              <a:spcAft>
                <a:spcPts val="0"/>
              </a:spcAft>
              <a:buNone/>
            </a:pPr>
            <a:r>
              <a:rPr lang="en"/>
              <a:t>Okay, so I'm trying to understand this Star Wars lore about the Force and how it relates to the Force sensitivity. Let me break it down. First, the user provided a detailed description of the Force as both an energy field and a way of being for Jedi Knights. They also mentioned the Force sensitivity, which is the ability to sense and harness the Force. The user clarified that Force sensitivity isn't about having emotions but more about the physical sensations from the Force. They explained that there are two types: Light Side and Dark Side. So, does this mean that people can be born with a preference for one side? Or is it something they develop over time? The concept of Ancestry was also mentioned as a way to determine one's alignment. I'm not entirely sure how that works in the lore. Is it based on family history or some other criteria? And does it affect their personality or abilities significantly? Then there's the Force Sensitive Registry, which categorizes people into Jedi Knights, Sith Lords, and Kylenes. I guess this system is used to identify who can be trained as Jedi Knights or Sith Lords versus those who are just Kylenes, unable to join either side. The Force powers like Force Slinging, Channeling, and Filtering are interesting. They seem to relate to how users interact with the Force. For example, Force Slinging is about using energy from the Force through lightsabers or other weapons. But what exactly happens when you sling force? Is it a physical action or something more abstract? Kylenes being excluded from both the Jedi and Sith orders is a bit confusing. Why can't they join either side? Are there specific traits that Kylenes have that make them incompatible with these orders, like being too neutral or having a dual Force presence? The user also mentioned the concept of Balance in Episode IV. I know that Balance refers to the idea that the Force should be in harmony and not tipped towards one side. But how does this tie into the Force sensitivity and the different types of Jedi? Are Kylenes seen as disrupting Balance, or is it more about their resistance? When the user talked about the Force being a part of their identity for Jedi Knights, they emphasized that it's not based on emotions but physical sensations. So, even though some people might feel emotions, only those who are Force Sensitive can harness the Force through their lightsabers. I'm also trying to grasp how the Force works beyond just the physical aspect. Is it a purely physical energy field, or does it have any influence on mental or spiritual aspects? And for Sith Lords, being Force Trained means they're more focused on manipulating the Dark Side, but is that reflected in their Force sensitivity as well? The Force Sensitive Registry has three categories: Jedi Knight, Sith Lord, and Kylen. It's interesting because it creates a clear hierarchy among Force users, but I'm curious about how common each category is or if there are any other categories beyond these three. Lastly, the user asked for an example of using Force powers in combat. Thinking through this, someone using Force Slinging would probably aim their lightsaber towards an enemy and feel the Force energy, either pushing them away (positive) or drawing them closer (negative). Channeling might involve blocking incoming attacks with a Force-generated shield, while Filtering could be used to block unwanted force interference from the environment. Overall, it seems like the Force is central to the Star Wars universe, not just as a special ability but as an integral part of the identity and behavior of Jedi Knights. Understanding the nuances between Light Side and Dark Side sensitivity is crucial in grasping how different characters function within the galaxy.</a:t>
            </a:r>
            <a:endParaRPr/>
          </a:p>
          <a:p>
            <a:pPr indent="0" lvl="0" marL="0" rtl="0" algn="l">
              <a:lnSpc>
                <a:spcPct val="100000"/>
              </a:lnSpc>
              <a:spcBef>
                <a:spcPts val="0"/>
              </a:spcBef>
              <a:spcAft>
                <a:spcPts val="0"/>
              </a:spcAft>
              <a:buNone/>
            </a:pPr>
            <a:r>
              <a:rPr lang="en"/>
              <a:t>&lt;/think&gt;</a:t>
            </a:r>
            <a:endParaRPr/>
          </a:p>
        </p:txBody>
      </p:sp>
      <p:pic>
        <p:nvPicPr>
          <p:cNvPr id="116" name="Google Shape;116;p20"/>
          <p:cNvPicPr preferRelativeResize="0"/>
          <p:nvPr/>
        </p:nvPicPr>
        <p:blipFill>
          <a:blip r:embed="rId3">
            <a:alphaModFix/>
          </a:blip>
          <a:stretch>
            <a:fillRect/>
          </a:stretch>
        </p:blipFill>
        <p:spPr>
          <a:xfrm>
            <a:off x="3829825" y="3"/>
            <a:ext cx="5314174" cy="1298700"/>
          </a:xfrm>
          <a:prstGeom prst="rect">
            <a:avLst/>
          </a:prstGeom>
          <a:noFill/>
          <a:ln>
            <a:noFill/>
          </a:ln>
        </p:spPr>
      </p:pic>
      <p:sp>
        <p:nvSpPr>
          <p:cNvPr id="117" name="Google Shape;117;p20"/>
          <p:cNvSpPr txBox="1"/>
          <p:nvPr/>
        </p:nvSpPr>
        <p:spPr>
          <a:xfrm>
            <a:off x="45525" y="2294100"/>
            <a:ext cx="4246800" cy="2822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400">
                <a:solidFill>
                  <a:schemeClr val="dk2"/>
                </a:solidFill>
              </a:rPr>
              <a:t>The Star Wars universe presents a rich tapestry of lore regarding the Force, a central concept that underpins much of its narrative and character development. Here's an organized summary based on the thought process:</a:t>
            </a:r>
            <a:endParaRPr sz="400">
              <a:solidFill>
                <a:schemeClr val="dk2"/>
              </a:solidFill>
            </a:endParaRPr>
          </a:p>
          <a:p>
            <a:pPr indent="0" lvl="0" marL="0" rtl="0" algn="l">
              <a:lnSpc>
                <a:spcPct val="115000"/>
              </a:lnSpc>
              <a:spcBef>
                <a:spcPts val="1200"/>
              </a:spcBef>
              <a:spcAft>
                <a:spcPts val="0"/>
              </a:spcAft>
              <a:buClr>
                <a:schemeClr val="dk1"/>
              </a:buClr>
              <a:buSzPts val="1100"/>
              <a:buFont typeface="Arial"/>
              <a:buNone/>
            </a:pPr>
            <a:r>
              <a:rPr b="1" lang="en" sz="400">
                <a:solidFill>
                  <a:schemeClr val="dk2"/>
                </a:solidFill>
              </a:rPr>
              <a:t>Force as Energy and Identity</a:t>
            </a:r>
            <a:endParaRPr b="1" sz="400">
              <a:solidFill>
                <a:schemeClr val="dk2"/>
              </a:solidFill>
            </a:endParaRPr>
          </a:p>
          <a:p>
            <a:pPr indent="-254000" lvl="0" marL="457200" rtl="0" algn="l">
              <a:lnSpc>
                <a:spcPct val="115000"/>
              </a:lnSpc>
              <a:spcBef>
                <a:spcPts val="1200"/>
              </a:spcBef>
              <a:spcAft>
                <a:spcPts val="0"/>
              </a:spcAft>
              <a:buClr>
                <a:schemeClr val="dk2"/>
              </a:buClr>
              <a:buSzPts val="400"/>
              <a:buChar char="●"/>
            </a:pPr>
            <a:r>
              <a:rPr lang="en" sz="400">
                <a:solidFill>
                  <a:schemeClr val="dk2"/>
                </a:solidFill>
              </a:rPr>
              <a:t>The Force is both an energy field and a way of being for Jedi Knights. It is not merely emotional but involves physical sensations.</a:t>
            </a:r>
            <a:endParaRPr sz="400">
              <a:solidFill>
                <a:schemeClr val="dk2"/>
              </a:solidFill>
            </a:endParaRPr>
          </a:p>
          <a:p>
            <a:pPr indent="-254000" lvl="0" marL="457200" rtl="0" algn="l">
              <a:lnSpc>
                <a:spcPct val="115000"/>
              </a:lnSpc>
              <a:spcBef>
                <a:spcPts val="0"/>
              </a:spcBef>
              <a:spcAft>
                <a:spcPts val="0"/>
              </a:spcAft>
              <a:buClr>
                <a:schemeClr val="dk2"/>
              </a:buClr>
              <a:buSzPts val="400"/>
              <a:buChar char="●"/>
            </a:pPr>
            <a:r>
              <a:rPr lang="en" sz="400">
                <a:solidFill>
                  <a:schemeClr val="dk2"/>
                </a:solidFill>
              </a:rPr>
              <a:t>Jedi Knights identify with their Force sensitivity, which allows them to interact with the Force through actions like Force Slinging.</a:t>
            </a:r>
            <a:endParaRPr sz="400">
              <a:solidFill>
                <a:schemeClr val="dk2"/>
              </a:solidFill>
            </a:endParaRPr>
          </a:p>
          <a:p>
            <a:pPr indent="0" lvl="0" marL="0" rtl="0" algn="l">
              <a:lnSpc>
                <a:spcPct val="115000"/>
              </a:lnSpc>
              <a:spcBef>
                <a:spcPts val="1200"/>
              </a:spcBef>
              <a:spcAft>
                <a:spcPts val="0"/>
              </a:spcAft>
              <a:buClr>
                <a:schemeClr val="dk1"/>
              </a:buClr>
              <a:buSzPts val="1100"/>
              <a:buFont typeface="Arial"/>
              <a:buNone/>
            </a:pPr>
            <a:r>
              <a:rPr b="1" lang="en" sz="400">
                <a:solidFill>
                  <a:schemeClr val="dk2"/>
                </a:solidFill>
              </a:rPr>
              <a:t>Force Sensitivity Types</a:t>
            </a:r>
            <a:endParaRPr sz="400">
              <a:solidFill>
                <a:schemeClr val="dk2"/>
              </a:solidFill>
            </a:endParaRPr>
          </a:p>
          <a:p>
            <a:pPr indent="-254000" lvl="0" marL="457200" rtl="0" algn="l">
              <a:lnSpc>
                <a:spcPct val="115000"/>
              </a:lnSpc>
              <a:spcBef>
                <a:spcPts val="1200"/>
              </a:spcBef>
              <a:spcAft>
                <a:spcPts val="0"/>
              </a:spcAft>
              <a:buClr>
                <a:schemeClr val="dk2"/>
              </a:buClr>
              <a:buSzPts val="400"/>
              <a:buChar char="●"/>
            </a:pPr>
            <a:r>
              <a:rPr lang="en" sz="400">
                <a:solidFill>
                  <a:schemeClr val="dk2"/>
                </a:solidFill>
              </a:rPr>
              <a:t>There are two types: Light Side (Positive) and Dark Side (Negative) sensitivity.</a:t>
            </a:r>
            <a:endParaRPr sz="400">
              <a:solidFill>
                <a:schemeClr val="dk2"/>
              </a:solidFill>
            </a:endParaRPr>
          </a:p>
          <a:p>
            <a:pPr indent="-254000" lvl="0" marL="457200" rtl="0" algn="l">
              <a:lnSpc>
                <a:spcPct val="115000"/>
              </a:lnSpc>
              <a:spcBef>
                <a:spcPts val="0"/>
              </a:spcBef>
              <a:spcAft>
                <a:spcPts val="0"/>
              </a:spcAft>
              <a:buClr>
                <a:schemeClr val="dk2"/>
              </a:buClr>
              <a:buSzPts val="400"/>
              <a:buChar char="●"/>
            </a:pPr>
            <a:r>
              <a:rPr lang="en" sz="400">
                <a:solidFill>
                  <a:schemeClr val="dk2"/>
                </a:solidFill>
              </a:rPr>
              <a:t>Sensitivity can be innate or developed over time, influencing a character's alignment.</a:t>
            </a:r>
            <a:endParaRPr sz="400">
              <a:solidFill>
                <a:schemeClr val="dk2"/>
              </a:solidFill>
            </a:endParaRPr>
          </a:p>
          <a:p>
            <a:pPr indent="0" lvl="0" marL="0" rtl="0" algn="l">
              <a:lnSpc>
                <a:spcPct val="115000"/>
              </a:lnSpc>
              <a:spcBef>
                <a:spcPts val="1200"/>
              </a:spcBef>
              <a:spcAft>
                <a:spcPts val="0"/>
              </a:spcAft>
              <a:buClr>
                <a:schemeClr val="dk1"/>
              </a:buClr>
              <a:buSzPts val="1100"/>
              <a:buFont typeface="Arial"/>
              <a:buNone/>
            </a:pPr>
            <a:r>
              <a:rPr b="1" lang="en" sz="400">
                <a:solidFill>
                  <a:schemeClr val="dk2"/>
                </a:solidFill>
              </a:rPr>
              <a:t>Ancestry and Alignment</a:t>
            </a:r>
            <a:endParaRPr sz="400">
              <a:solidFill>
                <a:schemeClr val="dk2"/>
              </a:solidFill>
            </a:endParaRPr>
          </a:p>
          <a:p>
            <a:pPr indent="-254000" lvl="0" marL="457200" rtl="0" algn="l">
              <a:lnSpc>
                <a:spcPct val="115000"/>
              </a:lnSpc>
              <a:spcBef>
                <a:spcPts val="1200"/>
              </a:spcBef>
              <a:spcAft>
                <a:spcPts val="0"/>
              </a:spcAft>
              <a:buClr>
                <a:schemeClr val="dk2"/>
              </a:buClr>
              <a:buSzPts val="400"/>
              <a:buChar char="●"/>
            </a:pPr>
            <a:r>
              <a:rPr lang="en" sz="400">
                <a:solidFill>
                  <a:schemeClr val="dk2"/>
                </a:solidFill>
              </a:rPr>
              <a:t>Ancestry determines one's Force alignment through family history. This trait significantly affects personality and abilities, often dictating whether someone becomes a Jedi Knight, Sith Lord, or Kylen.</a:t>
            </a:r>
            <a:endParaRPr sz="400">
              <a:solidFill>
                <a:schemeClr val="dk2"/>
              </a:solidFill>
            </a:endParaRPr>
          </a:p>
          <a:p>
            <a:pPr indent="-254000" lvl="0" marL="457200" rtl="0" algn="l">
              <a:lnSpc>
                <a:spcPct val="115000"/>
              </a:lnSpc>
              <a:spcBef>
                <a:spcPts val="0"/>
              </a:spcBef>
              <a:spcAft>
                <a:spcPts val="0"/>
              </a:spcAft>
              <a:buClr>
                <a:schemeClr val="dk2"/>
              </a:buClr>
              <a:buSzPts val="400"/>
              <a:buChar char="●"/>
            </a:pPr>
            <a:r>
              <a:rPr lang="en" sz="400">
                <a:solidFill>
                  <a:schemeClr val="dk2"/>
                </a:solidFill>
              </a:rPr>
              <a:t>Kylenes are excluded from the Jedi and Sith orders due to their neutrality or dual Force presence, disrupting Balance.</a:t>
            </a:r>
            <a:endParaRPr sz="400">
              <a:solidFill>
                <a:schemeClr val="dk2"/>
              </a:solidFill>
            </a:endParaRPr>
          </a:p>
          <a:p>
            <a:pPr indent="0" lvl="0" marL="0" rtl="0" algn="l">
              <a:lnSpc>
                <a:spcPct val="115000"/>
              </a:lnSpc>
              <a:spcBef>
                <a:spcPts val="1200"/>
              </a:spcBef>
              <a:spcAft>
                <a:spcPts val="0"/>
              </a:spcAft>
              <a:buClr>
                <a:schemeClr val="dk1"/>
              </a:buClr>
              <a:buSzPts val="1100"/>
              <a:buFont typeface="Arial"/>
              <a:buNone/>
            </a:pPr>
            <a:r>
              <a:rPr b="1" lang="en" sz="400">
                <a:solidFill>
                  <a:schemeClr val="dk2"/>
                </a:solidFill>
              </a:rPr>
              <a:t>Force Sensitive Registry</a:t>
            </a:r>
            <a:endParaRPr sz="400">
              <a:solidFill>
                <a:schemeClr val="dk2"/>
              </a:solidFill>
            </a:endParaRPr>
          </a:p>
          <a:p>
            <a:pPr indent="-254000" lvl="0" marL="457200" rtl="0" algn="l">
              <a:lnSpc>
                <a:spcPct val="115000"/>
              </a:lnSpc>
              <a:spcBef>
                <a:spcPts val="1200"/>
              </a:spcBef>
              <a:spcAft>
                <a:spcPts val="0"/>
              </a:spcAft>
              <a:buClr>
                <a:schemeClr val="dk2"/>
              </a:buClr>
              <a:buSzPts val="400"/>
              <a:buChar char="●"/>
            </a:pPr>
            <a:r>
              <a:rPr lang="en" sz="400">
                <a:solidFill>
                  <a:schemeClr val="dk2"/>
                </a:solidFill>
              </a:rPr>
              <a:t>This system categorizes individuals into Jedi Knights (Positive), Sith Lords (Negative), or Kylenes (Neutral).</a:t>
            </a:r>
            <a:endParaRPr sz="400">
              <a:solidFill>
                <a:schemeClr val="dk2"/>
              </a:solidFill>
            </a:endParaRPr>
          </a:p>
          <a:p>
            <a:pPr indent="-254000" lvl="0" marL="457200" rtl="0" algn="l">
              <a:lnSpc>
                <a:spcPct val="115000"/>
              </a:lnSpc>
              <a:spcBef>
                <a:spcPts val="0"/>
              </a:spcBef>
              <a:spcAft>
                <a:spcPts val="0"/>
              </a:spcAft>
              <a:buClr>
                <a:schemeClr val="dk2"/>
              </a:buClr>
              <a:buSzPts val="400"/>
              <a:buChar char="●"/>
            </a:pPr>
            <a:r>
              <a:rPr lang="en" sz="400">
                <a:solidFill>
                  <a:schemeClr val="dk2"/>
                </a:solidFill>
              </a:rPr>
              <a:t>Kylenes are seen as disruptors of Balance, often due to their lack of strong Force presence on one side.</a:t>
            </a:r>
            <a:endParaRPr sz="400">
              <a:solidFill>
                <a:schemeClr val="dk2"/>
              </a:solidFill>
            </a:endParaRPr>
          </a:p>
          <a:p>
            <a:pPr indent="0" lvl="0" marL="0" rtl="0" algn="l">
              <a:spcBef>
                <a:spcPts val="1200"/>
              </a:spcBef>
              <a:spcAft>
                <a:spcPts val="0"/>
              </a:spcAft>
              <a:buNone/>
            </a:pPr>
            <a:r>
              <a:t/>
            </a:r>
            <a:endParaRPr sz="1800">
              <a:solidFill>
                <a:schemeClr val="dk2"/>
              </a:solidFill>
            </a:endParaRPr>
          </a:p>
        </p:txBody>
      </p:sp>
      <p:sp>
        <p:nvSpPr>
          <p:cNvPr id="118" name="Google Shape;118;p20"/>
          <p:cNvSpPr txBox="1"/>
          <p:nvPr/>
        </p:nvSpPr>
        <p:spPr>
          <a:xfrm>
            <a:off x="4324175" y="2303200"/>
            <a:ext cx="4797600" cy="2116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400">
                <a:solidFill>
                  <a:schemeClr val="dk2"/>
                </a:solidFill>
              </a:rPr>
              <a:t>Force Powers and Applications</a:t>
            </a:r>
            <a:endParaRPr b="1" sz="400">
              <a:solidFill>
                <a:schemeClr val="dk2"/>
              </a:solidFill>
            </a:endParaRPr>
          </a:p>
          <a:p>
            <a:pPr indent="-254000" lvl="0" marL="457200" rtl="0" algn="l">
              <a:lnSpc>
                <a:spcPct val="115000"/>
              </a:lnSpc>
              <a:spcBef>
                <a:spcPts val="1200"/>
              </a:spcBef>
              <a:spcAft>
                <a:spcPts val="0"/>
              </a:spcAft>
              <a:buClr>
                <a:schemeClr val="dk2"/>
              </a:buClr>
              <a:buSzPts val="400"/>
              <a:buChar char="●"/>
            </a:pPr>
            <a:r>
              <a:rPr lang="en" sz="400">
                <a:solidFill>
                  <a:schemeClr val="dk2"/>
                </a:solidFill>
              </a:rPr>
              <a:t>Force Slinging: Utilizes energy from the Force through lightsabers, typically affecting enemies positively or negatively.</a:t>
            </a:r>
            <a:endParaRPr sz="400">
              <a:solidFill>
                <a:schemeClr val="dk2"/>
              </a:solidFill>
            </a:endParaRPr>
          </a:p>
          <a:p>
            <a:pPr indent="-254000" lvl="0" marL="457200" rtl="0" algn="l">
              <a:lnSpc>
                <a:spcPct val="115000"/>
              </a:lnSpc>
              <a:spcBef>
                <a:spcPts val="0"/>
              </a:spcBef>
              <a:spcAft>
                <a:spcPts val="0"/>
              </a:spcAft>
              <a:buClr>
                <a:schemeClr val="dk2"/>
              </a:buClr>
              <a:buSzPts val="400"/>
              <a:buChar char="●"/>
            </a:pPr>
            <a:r>
              <a:rPr lang="en" sz="400">
                <a:solidFill>
                  <a:schemeClr val="dk2"/>
                </a:solidFill>
              </a:rPr>
              <a:t>Channeling: Blocks incoming attacks with a shield generated by Force.</a:t>
            </a:r>
            <a:endParaRPr sz="400">
              <a:solidFill>
                <a:schemeClr val="dk2"/>
              </a:solidFill>
            </a:endParaRPr>
          </a:p>
          <a:p>
            <a:pPr indent="-254000" lvl="0" marL="457200" rtl="0" algn="l">
              <a:lnSpc>
                <a:spcPct val="115000"/>
              </a:lnSpc>
              <a:spcBef>
                <a:spcPts val="0"/>
              </a:spcBef>
              <a:spcAft>
                <a:spcPts val="0"/>
              </a:spcAft>
              <a:buClr>
                <a:schemeClr val="dk2"/>
              </a:buClr>
              <a:buSzPts val="400"/>
              <a:buChar char="●"/>
            </a:pPr>
            <a:r>
              <a:rPr lang="en" sz="400">
                <a:solidFill>
                  <a:schemeClr val="dk2"/>
                </a:solidFill>
              </a:rPr>
              <a:t>Filtering: Blocks unwanted interference from the environment, enhancing combat effectiveness.</a:t>
            </a:r>
            <a:endParaRPr sz="400">
              <a:solidFill>
                <a:schemeClr val="dk2"/>
              </a:solidFill>
            </a:endParaRPr>
          </a:p>
          <a:p>
            <a:pPr indent="0" lvl="0" marL="0" rtl="0" algn="l">
              <a:lnSpc>
                <a:spcPct val="115000"/>
              </a:lnSpc>
              <a:spcBef>
                <a:spcPts val="1200"/>
              </a:spcBef>
              <a:spcAft>
                <a:spcPts val="0"/>
              </a:spcAft>
              <a:buClr>
                <a:schemeClr val="dk1"/>
              </a:buClr>
              <a:buSzPts val="1100"/>
              <a:buFont typeface="Arial"/>
              <a:buNone/>
            </a:pPr>
            <a:r>
              <a:rPr b="1" lang="en" sz="400">
                <a:solidFill>
                  <a:schemeClr val="dk2"/>
                </a:solidFill>
              </a:rPr>
              <a:t>Kylenes and Balance</a:t>
            </a:r>
            <a:endParaRPr sz="400">
              <a:solidFill>
                <a:schemeClr val="dk2"/>
              </a:solidFill>
            </a:endParaRPr>
          </a:p>
          <a:p>
            <a:pPr indent="-254000" lvl="0" marL="457200" rtl="0" algn="l">
              <a:lnSpc>
                <a:spcPct val="115000"/>
              </a:lnSpc>
              <a:spcBef>
                <a:spcPts val="1200"/>
              </a:spcBef>
              <a:spcAft>
                <a:spcPts val="0"/>
              </a:spcAft>
              <a:buClr>
                <a:schemeClr val="dk2"/>
              </a:buClr>
              <a:buSzPts val="400"/>
              <a:buChar char="●"/>
            </a:pPr>
            <a:r>
              <a:rPr lang="en" sz="400">
                <a:solidFill>
                  <a:schemeClr val="dk2"/>
                </a:solidFill>
              </a:rPr>
              <a:t>Kylenes are neutral in their Force presence, making them unable to join Jedi or Sith orders. Their neutrality disrupts Balance, often leading to their elimination early in battles.</a:t>
            </a:r>
            <a:endParaRPr sz="400">
              <a:solidFill>
                <a:schemeClr val="dk2"/>
              </a:solidFill>
            </a:endParaRPr>
          </a:p>
          <a:p>
            <a:pPr indent="0" lvl="0" marL="0" rtl="0" algn="l">
              <a:lnSpc>
                <a:spcPct val="115000"/>
              </a:lnSpc>
              <a:spcBef>
                <a:spcPts val="1200"/>
              </a:spcBef>
              <a:spcAft>
                <a:spcPts val="0"/>
              </a:spcAft>
              <a:buClr>
                <a:schemeClr val="dk1"/>
              </a:buClr>
              <a:buSzPts val="1100"/>
              <a:buFont typeface="Arial"/>
              <a:buNone/>
            </a:pPr>
            <a:r>
              <a:rPr b="1" lang="en" sz="400">
                <a:solidFill>
                  <a:schemeClr val="dk2"/>
                </a:solidFill>
              </a:rPr>
              <a:t>Force and Identity</a:t>
            </a:r>
            <a:endParaRPr sz="400">
              <a:solidFill>
                <a:schemeClr val="dk2"/>
              </a:solidFill>
            </a:endParaRPr>
          </a:p>
          <a:p>
            <a:pPr indent="-254000" lvl="0" marL="457200" rtl="0" algn="l">
              <a:lnSpc>
                <a:spcPct val="115000"/>
              </a:lnSpc>
              <a:spcBef>
                <a:spcPts val="1200"/>
              </a:spcBef>
              <a:spcAft>
                <a:spcPts val="0"/>
              </a:spcAft>
              <a:buClr>
                <a:schemeClr val="dk2"/>
              </a:buClr>
              <a:buSzPts val="400"/>
              <a:buChar char="●"/>
            </a:pPr>
            <a:r>
              <a:rPr lang="en" sz="400">
                <a:solidFill>
                  <a:schemeClr val="dk2"/>
                </a:solidFill>
              </a:rPr>
              <a:t>For Jedi Knights, the Force is integral to their identity, influencing their behavior and combat strategies.</a:t>
            </a:r>
            <a:endParaRPr sz="400">
              <a:solidFill>
                <a:schemeClr val="dk2"/>
              </a:solidFill>
            </a:endParaRPr>
          </a:p>
          <a:p>
            <a:pPr indent="-254000" lvl="0" marL="457200" rtl="0" algn="l">
              <a:lnSpc>
                <a:spcPct val="115000"/>
              </a:lnSpc>
              <a:spcBef>
                <a:spcPts val="0"/>
              </a:spcBef>
              <a:spcAft>
                <a:spcPts val="0"/>
              </a:spcAft>
              <a:buClr>
                <a:schemeClr val="dk2"/>
              </a:buClr>
              <a:buSzPts val="400"/>
              <a:buChar char="●"/>
            </a:pPr>
            <a:r>
              <a:rPr lang="en" sz="400">
                <a:solidFill>
                  <a:schemeClr val="dk2"/>
                </a:solidFill>
              </a:rPr>
              <a:t>Sith Lords focus on manipulating the Dark Side through Force Training, affecting both physical actions and psychological manipulation.</a:t>
            </a:r>
            <a:endParaRPr sz="400">
              <a:solidFill>
                <a:schemeClr val="dk2"/>
              </a:solidFill>
            </a:endParaRPr>
          </a:p>
          <a:p>
            <a:pPr indent="0" lvl="0" marL="0" rtl="0" algn="l">
              <a:lnSpc>
                <a:spcPct val="115000"/>
              </a:lnSpc>
              <a:spcBef>
                <a:spcPts val="1200"/>
              </a:spcBef>
              <a:spcAft>
                <a:spcPts val="0"/>
              </a:spcAft>
              <a:buClr>
                <a:schemeClr val="dk1"/>
              </a:buClr>
              <a:buSzPts val="1100"/>
              <a:buFont typeface="Arial"/>
              <a:buNone/>
            </a:pPr>
            <a:r>
              <a:rPr b="1" lang="en" sz="400">
                <a:solidFill>
                  <a:schemeClr val="dk2"/>
                </a:solidFill>
              </a:rPr>
              <a:t>Summary:</a:t>
            </a:r>
            <a:endParaRPr b="1" sz="400">
              <a:solidFill>
                <a:schemeClr val="dk2"/>
              </a:solidFill>
            </a:endParaRPr>
          </a:p>
          <a:p>
            <a:pPr indent="0" lvl="0" marL="0" rtl="0" algn="l">
              <a:lnSpc>
                <a:spcPct val="115000"/>
              </a:lnSpc>
              <a:spcBef>
                <a:spcPts val="1200"/>
              </a:spcBef>
              <a:spcAft>
                <a:spcPts val="0"/>
              </a:spcAft>
              <a:buClr>
                <a:schemeClr val="dk1"/>
              </a:buClr>
              <a:buSzPts val="1100"/>
              <a:buFont typeface="Arial"/>
              <a:buNone/>
            </a:pPr>
            <a:r>
              <a:rPr lang="en" sz="400">
                <a:solidFill>
                  <a:schemeClr val="dk2"/>
                </a:solidFill>
              </a:rPr>
              <a:t>The Force is a foundational element of Star Wars, shaping the identities and abilities of its characters. Understanding the nuances between Light Side and Dark Side sensitivity, Ancestry's role in determining alignment, and the Force Sensitive Registry helps contextualize how Jedi Knights and Sith Lords interact with the universe.</a:t>
            </a:r>
            <a:endParaRPr sz="400">
              <a:solidFill>
                <a:schemeClr val="dk2"/>
              </a:solidFill>
            </a:endParaRPr>
          </a:p>
          <a:p>
            <a:pPr indent="0" lvl="0" marL="0" rtl="0" algn="l">
              <a:spcBef>
                <a:spcPts val="1200"/>
              </a:spcBef>
              <a:spcAft>
                <a:spcPts val="0"/>
              </a:spcAft>
              <a:buNone/>
            </a:pPr>
            <a:r>
              <a:rPr lang="en" sz="1800">
                <a:solidFill>
                  <a:schemeClr val="dk2"/>
                </a:solidFill>
              </a:rPr>
              <a:t>Not so bad, showing chain-of-thought reasoning</a:t>
            </a:r>
            <a:endParaRPr sz="18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1"/>
          <p:cNvSpPr txBox="1"/>
          <p:nvPr>
            <p:ph type="title"/>
          </p:nvPr>
        </p:nvSpPr>
        <p:spPr>
          <a:xfrm>
            <a:off x="0" y="0"/>
            <a:ext cx="3829800" cy="1017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Testing the Connection: Llama4</a:t>
            </a:r>
            <a:endParaRPr/>
          </a:p>
        </p:txBody>
      </p:sp>
      <p:pic>
        <p:nvPicPr>
          <p:cNvPr id="124" name="Google Shape;124;p21"/>
          <p:cNvPicPr preferRelativeResize="0"/>
          <p:nvPr/>
        </p:nvPicPr>
        <p:blipFill>
          <a:blip r:embed="rId3">
            <a:alphaModFix/>
          </a:blip>
          <a:stretch>
            <a:fillRect/>
          </a:stretch>
        </p:blipFill>
        <p:spPr>
          <a:xfrm>
            <a:off x="4815775" y="0"/>
            <a:ext cx="4328223" cy="3510349"/>
          </a:xfrm>
          <a:prstGeom prst="rect">
            <a:avLst/>
          </a:prstGeom>
          <a:noFill/>
          <a:ln>
            <a:noFill/>
          </a:ln>
        </p:spPr>
      </p:pic>
      <p:sp>
        <p:nvSpPr>
          <p:cNvPr id="125" name="Google Shape;125;p21"/>
          <p:cNvSpPr txBox="1"/>
          <p:nvPr/>
        </p:nvSpPr>
        <p:spPr>
          <a:xfrm>
            <a:off x="4811225" y="3541275"/>
            <a:ext cx="4287900" cy="77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50">
                <a:solidFill>
                  <a:schemeClr val="dk1"/>
                </a:solidFill>
                <a:latin typeface="Courier New"/>
                <a:ea typeface="Courier New"/>
                <a:cs typeface="Courier New"/>
                <a:sym typeface="Courier New"/>
              </a:rPr>
              <a:t>Number of tokens in the prompt: 381</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Time taken to generate response (from LLM): 431.38 seconds</a:t>
            </a:r>
            <a:endParaRPr sz="10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latin typeface="Courier New"/>
                <a:ea typeface="Courier New"/>
                <a:cs typeface="Courier New"/>
                <a:sym typeface="Courier New"/>
              </a:rPr>
              <a:t>Number of output tokens: 912</a:t>
            </a:r>
            <a:endParaRPr sz="1800">
              <a:solidFill>
                <a:schemeClr val="dk1"/>
              </a:solidFill>
            </a:endParaRPr>
          </a:p>
        </p:txBody>
      </p:sp>
      <p:sp>
        <p:nvSpPr>
          <p:cNvPr id="126" name="Google Shape;126;p21"/>
          <p:cNvSpPr txBox="1"/>
          <p:nvPr/>
        </p:nvSpPr>
        <p:spPr>
          <a:xfrm>
            <a:off x="27300" y="928550"/>
            <a:ext cx="4747500" cy="421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400">
                <a:solidFill>
                  <a:schemeClr val="dk2"/>
                </a:solidFill>
              </a:rPr>
              <a:t>Step 1: Clinical Reasoning - Differential Diagnosis</a:t>
            </a:r>
            <a:endParaRPr b="1" sz="400">
              <a:solidFill>
                <a:schemeClr val="dk2"/>
              </a:solidFill>
            </a:endParaRPr>
          </a:p>
          <a:p>
            <a:pPr indent="0" lvl="0" marL="0" rtl="0" algn="l">
              <a:spcBef>
                <a:spcPts val="0"/>
              </a:spcBef>
              <a:spcAft>
                <a:spcPts val="0"/>
              </a:spcAft>
              <a:buClr>
                <a:schemeClr val="dk1"/>
              </a:buClr>
              <a:buSzPts val="1100"/>
              <a:buFont typeface="Arial"/>
              <a:buNone/>
            </a:pPr>
            <a:r>
              <a:rPr lang="en" sz="400">
                <a:solidFill>
                  <a:schemeClr val="dk2"/>
                </a:solidFill>
              </a:rPr>
              <a:t>The patient presents with worsening shortness of breath, productive cough with greenish sputum, low-grade fever, and fatigue, alongside a significant smoking history and recent hospitalization for COPD exacerbation. The differential diagnosis, ranked by likelihood, includes:</a:t>
            </a:r>
            <a:endParaRPr sz="400">
              <a:solidFill>
                <a:schemeClr val="dk2"/>
              </a:solidFill>
            </a:endParaRPr>
          </a:p>
          <a:p>
            <a:pPr indent="0" lvl="0" marL="0" rtl="0" algn="l">
              <a:spcBef>
                <a:spcPts val="0"/>
              </a:spcBef>
              <a:spcAft>
                <a:spcPts val="0"/>
              </a:spcAft>
              <a:buClr>
                <a:schemeClr val="dk1"/>
              </a:buClr>
              <a:buSzPts val="1100"/>
              <a:buFont typeface="Arial"/>
              <a:buNone/>
            </a:pPr>
            <a:r>
              <a:rPr lang="en" sz="400">
                <a:solidFill>
                  <a:schemeClr val="dk2"/>
                </a:solidFill>
              </a:rPr>
              <a:t>1. **COPD Exacerbation**: Given the patient's history of COPD and recent exacerbation, this is the most likely diagnosis.</a:t>
            </a:r>
            <a:endParaRPr sz="400">
              <a:solidFill>
                <a:schemeClr val="dk2"/>
              </a:solidFill>
            </a:endParaRPr>
          </a:p>
          <a:p>
            <a:pPr indent="0" lvl="0" marL="0" rtl="0" algn="l">
              <a:spcBef>
                <a:spcPts val="0"/>
              </a:spcBef>
              <a:spcAft>
                <a:spcPts val="0"/>
              </a:spcAft>
              <a:buClr>
                <a:schemeClr val="dk1"/>
              </a:buClr>
              <a:buSzPts val="1100"/>
              <a:buFont typeface="Arial"/>
              <a:buNone/>
            </a:pPr>
            <a:r>
              <a:rPr lang="en" sz="400">
                <a:solidFill>
                  <a:schemeClr val="dk2"/>
                </a:solidFill>
              </a:rPr>
              <a:t>2. **Community-Acquired Pneumonia (CAP)**: The productive cough with greenish sputum and low-grade fever could indicate a bacterial infection.</a:t>
            </a:r>
            <a:endParaRPr sz="400">
              <a:solidFill>
                <a:schemeClr val="dk2"/>
              </a:solidFill>
            </a:endParaRPr>
          </a:p>
          <a:p>
            <a:pPr indent="0" lvl="0" marL="0" rtl="0" algn="l">
              <a:spcBef>
                <a:spcPts val="0"/>
              </a:spcBef>
              <a:spcAft>
                <a:spcPts val="0"/>
              </a:spcAft>
              <a:buClr>
                <a:schemeClr val="dk1"/>
              </a:buClr>
              <a:buSzPts val="1100"/>
              <a:buFont typeface="Arial"/>
              <a:buNone/>
            </a:pPr>
            <a:r>
              <a:rPr lang="en" sz="400">
                <a:solidFill>
                  <a:schemeClr val="dk2"/>
                </a:solidFill>
              </a:rPr>
              <a:t>3. **Acute Bronchitis**: This could be considered, especially with the productive cough, but it's less likely given the severity of symptoms and recent COPD exacerbation.</a:t>
            </a:r>
            <a:endParaRPr sz="400">
              <a:solidFill>
                <a:schemeClr val="dk2"/>
              </a:solidFill>
            </a:endParaRPr>
          </a:p>
          <a:p>
            <a:pPr indent="0" lvl="0" marL="0" rtl="0" algn="l">
              <a:spcBef>
                <a:spcPts val="0"/>
              </a:spcBef>
              <a:spcAft>
                <a:spcPts val="0"/>
              </a:spcAft>
              <a:buClr>
                <a:schemeClr val="dk1"/>
              </a:buClr>
              <a:buSzPts val="1100"/>
              <a:buFont typeface="Arial"/>
              <a:buNone/>
            </a:pPr>
            <a:r>
              <a:rPr lang="en" sz="400">
                <a:solidFill>
                  <a:schemeClr val="dk2"/>
                </a:solidFill>
              </a:rPr>
              <a:t>4. **Pulmonary Embolism**: Although less likely, it should be considered due to the acute onset of shortness of breath and tachycardia.</a:t>
            </a:r>
            <a:endParaRPr sz="400">
              <a:solidFill>
                <a:schemeClr val="dk2"/>
              </a:solidFill>
            </a:endParaRPr>
          </a:p>
          <a:p>
            <a:pPr indent="0" lvl="0" marL="0" rtl="0" algn="l">
              <a:spcBef>
                <a:spcPts val="0"/>
              </a:spcBef>
              <a:spcAft>
                <a:spcPts val="0"/>
              </a:spcAft>
              <a:buClr>
                <a:schemeClr val="dk1"/>
              </a:buClr>
              <a:buSzPts val="1100"/>
              <a:buFont typeface="Arial"/>
              <a:buNone/>
            </a:pPr>
            <a:r>
              <a:t/>
            </a:r>
            <a:endParaRPr sz="400">
              <a:solidFill>
                <a:schemeClr val="dk2"/>
              </a:solidFill>
            </a:endParaRPr>
          </a:p>
          <a:p>
            <a:pPr indent="0" lvl="0" marL="0" rtl="0" algn="l">
              <a:spcBef>
                <a:spcPts val="0"/>
              </a:spcBef>
              <a:spcAft>
                <a:spcPts val="0"/>
              </a:spcAft>
              <a:buClr>
                <a:schemeClr val="dk1"/>
              </a:buClr>
              <a:buSzPts val="1100"/>
              <a:buFont typeface="Arial"/>
              <a:buNone/>
            </a:pPr>
            <a:r>
              <a:rPr b="1" lang="en" sz="400">
                <a:solidFill>
                  <a:schemeClr val="dk2"/>
                </a:solidFill>
              </a:rPr>
              <a:t>Step 2: Clinical Reasoning - Next Diagnostic Steps</a:t>
            </a:r>
            <a:endParaRPr b="1" sz="400">
              <a:solidFill>
                <a:schemeClr val="dk2"/>
              </a:solidFill>
            </a:endParaRPr>
          </a:p>
          <a:p>
            <a:pPr indent="0" lvl="0" marL="0" rtl="0" algn="l">
              <a:spcBef>
                <a:spcPts val="0"/>
              </a:spcBef>
              <a:spcAft>
                <a:spcPts val="0"/>
              </a:spcAft>
              <a:buClr>
                <a:schemeClr val="dk1"/>
              </a:buClr>
              <a:buSzPts val="1100"/>
              <a:buFont typeface="Arial"/>
              <a:buNone/>
            </a:pPr>
            <a:r>
              <a:rPr lang="en" sz="400">
                <a:solidFill>
                  <a:schemeClr val="dk2"/>
                </a:solidFill>
              </a:rPr>
              <a:t>The next three diagnostic steps and their justification are:</a:t>
            </a:r>
            <a:endParaRPr sz="400">
              <a:solidFill>
                <a:schemeClr val="dk2"/>
              </a:solidFill>
            </a:endParaRPr>
          </a:p>
          <a:p>
            <a:pPr indent="0" lvl="0" marL="0" rtl="0" algn="l">
              <a:spcBef>
                <a:spcPts val="0"/>
              </a:spcBef>
              <a:spcAft>
                <a:spcPts val="0"/>
              </a:spcAft>
              <a:buClr>
                <a:schemeClr val="dk1"/>
              </a:buClr>
              <a:buSzPts val="1100"/>
              <a:buFont typeface="Arial"/>
              <a:buNone/>
            </a:pPr>
            <a:r>
              <a:rPr lang="en" sz="400">
                <a:solidFill>
                  <a:schemeClr val="dk2"/>
                </a:solidFill>
              </a:rPr>
              <a:t>1. **Chest X-ray**: To evaluate for signs of pneumonia, pulmonary edema, or other lung abnormalities.</a:t>
            </a:r>
            <a:endParaRPr sz="400">
              <a:solidFill>
                <a:schemeClr val="dk2"/>
              </a:solidFill>
            </a:endParaRPr>
          </a:p>
          <a:p>
            <a:pPr indent="0" lvl="0" marL="0" rtl="0" algn="l">
              <a:spcBef>
                <a:spcPts val="0"/>
              </a:spcBef>
              <a:spcAft>
                <a:spcPts val="0"/>
              </a:spcAft>
              <a:buClr>
                <a:schemeClr val="dk1"/>
              </a:buClr>
              <a:buSzPts val="1100"/>
              <a:buFont typeface="Arial"/>
              <a:buNone/>
            </a:pPr>
            <a:r>
              <a:rPr lang="en" sz="400">
                <a:solidFill>
                  <a:schemeClr val="dk2"/>
                </a:solidFill>
              </a:rPr>
              <a:t>2. **Complete Blood Count (CBC) and Blood Cultures**: To assess for infection (e.g., pneumonia) and potential bacterial pathogens.</a:t>
            </a:r>
            <a:endParaRPr sz="400">
              <a:solidFill>
                <a:schemeClr val="dk2"/>
              </a:solidFill>
            </a:endParaRPr>
          </a:p>
          <a:p>
            <a:pPr indent="0" lvl="0" marL="0" rtl="0" algn="l">
              <a:spcBef>
                <a:spcPts val="0"/>
              </a:spcBef>
              <a:spcAft>
                <a:spcPts val="0"/>
              </a:spcAft>
              <a:buClr>
                <a:schemeClr val="dk1"/>
              </a:buClr>
              <a:buSzPts val="1100"/>
              <a:buFont typeface="Arial"/>
              <a:buNone/>
            </a:pPr>
            <a:r>
              <a:rPr lang="en" sz="400">
                <a:solidFill>
                  <a:schemeClr val="dk2"/>
                </a:solidFill>
              </a:rPr>
              <a:t>3. **Arterial Blood Gas (ABG) or Venous Blood Gas (VBG)**: To evaluate the severity of respiratory failure and acid-base status.</a:t>
            </a:r>
            <a:endParaRPr sz="400">
              <a:solidFill>
                <a:schemeClr val="dk2"/>
              </a:solidFill>
            </a:endParaRPr>
          </a:p>
          <a:p>
            <a:pPr indent="0" lvl="0" marL="0" rtl="0" algn="l">
              <a:spcBef>
                <a:spcPts val="0"/>
              </a:spcBef>
              <a:spcAft>
                <a:spcPts val="0"/>
              </a:spcAft>
              <a:buClr>
                <a:schemeClr val="dk1"/>
              </a:buClr>
              <a:buSzPts val="1100"/>
              <a:buFont typeface="Arial"/>
              <a:buNone/>
            </a:pPr>
            <a:r>
              <a:t/>
            </a:r>
            <a:endParaRPr sz="400">
              <a:solidFill>
                <a:schemeClr val="dk2"/>
              </a:solidFill>
            </a:endParaRPr>
          </a:p>
          <a:p>
            <a:pPr indent="0" lvl="0" marL="0" rtl="0" algn="l">
              <a:spcBef>
                <a:spcPts val="0"/>
              </a:spcBef>
              <a:spcAft>
                <a:spcPts val="0"/>
              </a:spcAft>
              <a:buClr>
                <a:schemeClr val="dk1"/>
              </a:buClr>
              <a:buSzPts val="1100"/>
              <a:buFont typeface="Arial"/>
              <a:buNone/>
            </a:pPr>
            <a:r>
              <a:rPr b="1" lang="en" sz="400">
                <a:solidFill>
                  <a:schemeClr val="dk2"/>
                </a:solidFill>
              </a:rPr>
              <a:t>3: Clinical Reasoning - Evidence-Based Treatment Plan</a:t>
            </a:r>
            <a:endParaRPr b="1" sz="400">
              <a:solidFill>
                <a:schemeClr val="dk2"/>
              </a:solidFill>
            </a:endParaRPr>
          </a:p>
          <a:p>
            <a:pPr indent="0" lvl="0" marL="0" rtl="0" algn="l">
              <a:spcBef>
                <a:spcPts val="0"/>
              </a:spcBef>
              <a:spcAft>
                <a:spcPts val="0"/>
              </a:spcAft>
              <a:buClr>
                <a:schemeClr val="dk1"/>
              </a:buClr>
              <a:buSzPts val="1100"/>
              <a:buFont typeface="Arial"/>
              <a:buNone/>
            </a:pPr>
            <a:r>
              <a:rPr lang="en" sz="400">
                <a:solidFill>
                  <a:schemeClr val="dk2"/>
                </a:solidFill>
              </a:rPr>
              <a:t>An evidence-based treatment plan would include:</a:t>
            </a:r>
            <a:endParaRPr sz="400">
              <a:solidFill>
                <a:schemeClr val="dk2"/>
              </a:solidFill>
            </a:endParaRPr>
          </a:p>
          <a:p>
            <a:pPr indent="0" lvl="0" marL="0" rtl="0" algn="l">
              <a:spcBef>
                <a:spcPts val="0"/>
              </a:spcBef>
              <a:spcAft>
                <a:spcPts val="0"/>
              </a:spcAft>
              <a:buClr>
                <a:schemeClr val="dk1"/>
              </a:buClr>
              <a:buSzPts val="1100"/>
              <a:buFont typeface="Arial"/>
              <a:buNone/>
            </a:pPr>
            <a:r>
              <a:rPr lang="en" sz="400">
                <a:solidFill>
                  <a:schemeClr val="dk2"/>
                </a:solidFill>
              </a:rPr>
              <a:t>- **Oxygen Therapy**: To improve oxygenation, targeting SpO₂ &gt; 92%.</a:t>
            </a:r>
            <a:endParaRPr sz="400">
              <a:solidFill>
                <a:schemeClr val="dk2"/>
              </a:solidFill>
            </a:endParaRPr>
          </a:p>
          <a:p>
            <a:pPr indent="0" lvl="0" marL="0" rtl="0" algn="l">
              <a:spcBef>
                <a:spcPts val="0"/>
              </a:spcBef>
              <a:spcAft>
                <a:spcPts val="0"/>
              </a:spcAft>
              <a:buClr>
                <a:schemeClr val="dk1"/>
              </a:buClr>
              <a:buSzPts val="1100"/>
              <a:buFont typeface="Arial"/>
              <a:buNone/>
            </a:pPr>
            <a:r>
              <a:rPr lang="en" sz="400">
                <a:solidFill>
                  <a:schemeClr val="dk2"/>
                </a:solidFill>
              </a:rPr>
              <a:t>- **Bronchodilators**: Short-acting bronchodilators (e.g., albuterol) for bronchospasm.</a:t>
            </a:r>
            <a:endParaRPr sz="400">
              <a:solidFill>
                <a:schemeClr val="dk2"/>
              </a:solidFill>
            </a:endParaRPr>
          </a:p>
          <a:p>
            <a:pPr indent="0" lvl="0" marL="0" rtl="0" algn="l">
              <a:spcBef>
                <a:spcPts val="0"/>
              </a:spcBef>
              <a:spcAft>
                <a:spcPts val="0"/>
              </a:spcAft>
              <a:buClr>
                <a:schemeClr val="dk1"/>
              </a:buClr>
              <a:buSzPts val="1100"/>
              <a:buFont typeface="Arial"/>
              <a:buNone/>
            </a:pPr>
            <a:r>
              <a:rPr lang="en" sz="400">
                <a:solidFill>
                  <a:schemeClr val="dk2"/>
                </a:solidFill>
              </a:rPr>
              <a:t>- **Antibiotics**: For suspected CAP or bacterial infection, choosing an antibiotic that covers typical respiratory pathogens.</a:t>
            </a:r>
            <a:endParaRPr sz="400">
              <a:solidFill>
                <a:schemeClr val="dk2"/>
              </a:solidFill>
            </a:endParaRPr>
          </a:p>
          <a:p>
            <a:pPr indent="0" lvl="0" marL="0" rtl="0" algn="l">
              <a:spcBef>
                <a:spcPts val="0"/>
              </a:spcBef>
              <a:spcAft>
                <a:spcPts val="0"/>
              </a:spcAft>
              <a:buClr>
                <a:schemeClr val="dk1"/>
              </a:buClr>
              <a:buSzPts val="1100"/>
              <a:buFont typeface="Arial"/>
              <a:buNone/>
            </a:pPr>
            <a:r>
              <a:rPr lang="en" sz="400">
                <a:solidFill>
                  <a:schemeClr val="dk2"/>
                </a:solidFill>
              </a:rPr>
              <a:t>- **Steroids**: Systemic corticosteroids for COPD exacerbation to reduce inflammation.</a:t>
            </a:r>
            <a:endParaRPr sz="400">
              <a:solidFill>
                <a:schemeClr val="dk2"/>
              </a:solidFill>
            </a:endParaRPr>
          </a:p>
          <a:p>
            <a:pPr indent="0" lvl="0" marL="0" rtl="0" algn="l">
              <a:spcBef>
                <a:spcPts val="0"/>
              </a:spcBef>
              <a:spcAft>
                <a:spcPts val="0"/>
              </a:spcAft>
              <a:buClr>
                <a:schemeClr val="dk1"/>
              </a:buClr>
              <a:buSzPts val="1100"/>
              <a:buFont typeface="Arial"/>
              <a:buNone/>
            </a:pPr>
            <a:r>
              <a:t/>
            </a:r>
            <a:endParaRPr sz="400">
              <a:solidFill>
                <a:schemeClr val="dk2"/>
              </a:solidFill>
            </a:endParaRPr>
          </a:p>
          <a:p>
            <a:pPr indent="0" lvl="0" marL="0" rtl="0" algn="l">
              <a:spcBef>
                <a:spcPts val="0"/>
              </a:spcBef>
              <a:spcAft>
                <a:spcPts val="0"/>
              </a:spcAft>
              <a:buClr>
                <a:schemeClr val="dk1"/>
              </a:buClr>
              <a:buSzPts val="1100"/>
              <a:buFont typeface="Arial"/>
              <a:buNone/>
            </a:pPr>
            <a:r>
              <a:rPr b="1" lang="en" sz="400">
                <a:solidFill>
                  <a:schemeClr val="dk2"/>
                </a:solidFill>
              </a:rPr>
              <a:t>4: Clinical Reasoning - Potential Complication and Management</a:t>
            </a:r>
            <a:endParaRPr b="1" sz="400">
              <a:solidFill>
                <a:schemeClr val="dk2"/>
              </a:solidFill>
            </a:endParaRPr>
          </a:p>
          <a:p>
            <a:pPr indent="0" lvl="0" marL="0" rtl="0" algn="l">
              <a:spcBef>
                <a:spcPts val="0"/>
              </a:spcBef>
              <a:spcAft>
                <a:spcPts val="0"/>
              </a:spcAft>
              <a:buClr>
                <a:schemeClr val="dk1"/>
              </a:buClr>
              <a:buSzPts val="1100"/>
              <a:buFont typeface="Arial"/>
              <a:buNone/>
            </a:pPr>
            <a:r>
              <a:rPr lang="en" sz="400">
                <a:solidFill>
                  <a:schemeClr val="dk2"/>
                </a:solidFill>
              </a:rPr>
              <a:t>A potential complication is **respiratory failure**, which could necessitate mechanical ventilation. Prevention and management include:</a:t>
            </a:r>
            <a:endParaRPr sz="400">
              <a:solidFill>
                <a:schemeClr val="dk2"/>
              </a:solidFill>
            </a:endParaRPr>
          </a:p>
          <a:p>
            <a:pPr indent="0" lvl="0" marL="0" rtl="0" algn="l">
              <a:spcBef>
                <a:spcPts val="0"/>
              </a:spcBef>
              <a:spcAft>
                <a:spcPts val="0"/>
              </a:spcAft>
              <a:buClr>
                <a:schemeClr val="dk1"/>
              </a:buClr>
              <a:buSzPts val="1100"/>
              <a:buFont typeface="Arial"/>
              <a:buNone/>
            </a:pPr>
            <a:r>
              <a:rPr lang="en" sz="400">
                <a:solidFill>
                  <a:schemeClr val="dk2"/>
                </a:solidFill>
              </a:rPr>
              <a:t>- Early recognition of worsening respiratory status.</a:t>
            </a:r>
            <a:endParaRPr sz="400">
              <a:solidFill>
                <a:schemeClr val="dk2"/>
              </a:solidFill>
            </a:endParaRPr>
          </a:p>
          <a:p>
            <a:pPr indent="0" lvl="0" marL="0" rtl="0" algn="l">
              <a:spcBef>
                <a:spcPts val="0"/>
              </a:spcBef>
              <a:spcAft>
                <a:spcPts val="0"/>
              </a:spcAft>
              <a:buClr>
                <a:schemeClr val="dk1"/>
              </a:buClr>
              <a:buSzPts val="1100"/>
              <a:buFont typeface="Arial"/>
              <a:buNone/>
            </a:pPr>
            <a:r>
              <a:rPr lang="en" sz="400">
                <a:solidFill>
                  <a:schemeClr val="dk2"/>
                </a:solidFill>
              </a:rPr>
              <a:t>- Prompt initiation of oxygen therapy and bronchodilators.</a:t>
            </a:r>
            <a:endParaRPr sz="400">
              <a:solidFill>
                <a:schemeClr val="dk2"/>
              </a:solidFill>
            </a:endParaRPr>
          </a:p>
          <a:p>
            <a:pPr indent="0" lvl="0" marL="0" rtl="0" algn="l">
              <a:spcBef>
                <a:spcPts val="0"/>
              </a:spcBef>
              <a:spcAft>
                <a:spcPts val="0"/>
              </a:spcAft>
              <a:buClr>
                <a:schemeClr val="dk1"/>
              </a:buClr>
              <a:buSzPts val="1100"/>
              <a:buFont typeface="Arial"/>
              <a:buNone/>
            </a:pPr>
            <a:r>
              <a:rPr lang="en" sz="400">
                <a:solidFill>
                  <a:schemeClr val="dk2"/>
                </a:solidFill>
              </a:rPr>
              <a:t>- Consideration of non-invasive ventilation (NIV) or intubation if there's no improvement.</a:t>
            </a:r>
            <a:endParaRPr sz="400">
              <a:solidFill>
                <a:schemeClr val="dk2"/>
              </a:solidFill>
            </a:endParaRPr>
          </a:p>
          <a:p>
            <a:pPr indent="0" lvl="0" marL="0" rtl="0" algn="l">
              <a:spcBef>
                <a:spcPts val="0"/>
              </a:spcBef>
              <a:spcAft>
                <a:spcPts val="0"/>
              </a:spcAft>
              <a:buClr>
                <a:schemeClr val="dk1"/>
              </a:buClr>
              <a:buSzPts val="1100"/>
              <a:buFont typeface="Arial"/>
              <a:buNone/>
            </a:pPr>
            <a:r>
              <a:t/>
            </a:r>
            <a:endParaRPr sz="400">
              <a:solidFill>
                <a:schemeClr val="dk2"/>
              </a:solidFill>
            </a:endParaRPr>
          </a:p>
          <a:p>
            <a:pPr indent="0" lvl="0" marL="0" rtl="0" algn="l">
              <a:spcBef>
                <a:spcPts val="0"/>
              </a:spcBef>
              <a:spcAft>
                <a:spcPts val="0"/>
              </a:spcAft>
              <a:buClr>
                <a:schemeClr val="dk1"/>
              </a:buClr>
              <a:buSzPts val="1100"/>
              <a:buFont typeface="Arial"/>
              <a:buNone/>
            </a:pPr>
            <a:r>
              <a:rPr b="1" lang="en" sz="400">
                <a:solidFill>
                  <a:schemeClr val="dk2"/>
                </a:solidFill>
              </a:rPr>
              <a:t>Part 2: Ethical Dilemma</a:t>
            </a:r>
            <a:endParaRPr b="1" sz="400">
              <a:solidFill>
                <a:schemeClr val="dk2"/>
              </a:solidFill>
            </a:endParaRPr>
          </a:p>
          <a:p>
            <a:pPr indent="0" lvl="0" marL="0" rtl="0" algn="l">
              <a:spcBef>
                <a:spcPts val="0"/>
              </a:spcBef>
              <a:spcAft>
                <a:spcPts val="0"/>
              </a:spcAft>
              <a:buClr>
                <a:schemeClr val="dk1"/>
              </a:buClr>
              <a:buSzPts val="1100"/>
              <a:buFont typeface="Arial"/>
              <a:buNone/>
            </a:pPr>
            <a:r>
              <a:t/>
            </a:r>
            <a:endParaRPr sz="400">
              <a:solidFill>
                <a:schemeClr val="dk2"/>
              </a:solidFill>
            </a:endParaRPr>
          </a:p>
          <a:p>
            <a:pPr indent="0" lvl="0" marL="0" rtl="0" algn="l">
              <a:spcBef>
                <a:spcPts val="0"/>
              </a:spcBef>
              <a:spcAft>
                <a:spcPts val="0"/>
              </a:spcAft>
              <a:buClr>
                <a:schemeClr val="dk1"/>
              </a:buClr>
              <a:buSzPts val="1100"/>
              <a:buFont typeface="Arial"/>
              <a:buNone/>
            </a:pPr>
            <a:r>
              <a:rPr b="1" lang="en" sz="400">
                <a:solidFill>
                  <a:schemeClr val="dk2"/>
                </a:solidFill>
              </a:rPr>
              <a:t>Step 5: Analyzing the Situation from Different Perspectives</a:t>
            </a:r>
            <a:endParaRPr b="1" sz="400">
              <a:solidFill>
                <a:schemeClr val="dk2"/>
              </a:solidFill>
            </a:endParaRPr>
          </a:p>
          <a:p>
            <a:pPr indent="0" lvl="0" marL="0" rtl="0" algn="l">
              <a:spcBef>
                <a:spcPts val="0"/>
              </a:spcBef>
              <a:spcAft>
                <a:spcPts val="0"/>
              </a:spcAft>
              <a:buClr>
                <a:schemeClr val="dk1"/>
              </a:buClr>
              <a:buSzPts val="1100"/>
              <a:buFont typeface="Arial"/>
              <a:buNone/>
            </a:pPr>
            <a:r>
              <a:rPr lang="en" sz="400">
                <a:solidFill>
                  <a:schemeClr val="dk2"/>
                </a:solidFill>
              </a:rPr>
              <a:t>1. **Attending Physician**: Concerned about providing optimal care while facing limitations due to the patient's undocumented status and lack of insurance.</a:t>
            </a:r>
            <a:endParaRPr sz="400">
              <a:solidFill>
                <a:schemeClr val="dk2"/>
              </a:solidFill>
            </a:endParaRPr>
          </a:p>
          <a:p>
            <a:pPr indent="0" lvl="0" marL="0" rtl="0" algn="l">
              <a:spcBef>
                <a:spcPts val="0"/>
              </a:spcBef>
              <a:spcAft>
                <a:spcPts val="0"/>
              </a:spcAft>
              <a:buClr>
                <a:schemeClr val="dk1"/>
              </a:buClr>
              <a:buSzPts val="1100"/>
              <a:buFont typeface="Arial"/>
              <a:buNone/>
            </a:pPr>
            <a:r>
              <a:rPr lang="en" sz="400">
                <a:solidFill>
                  <a:schemeClr val="dk2"/>
                </a:solidFill>
              </a:rPr>
              <a:t>2. **Hospital Administration**: Faces financial constraints and the ethical obligation to provide care while managing hospital resources.</a:t>
            </a:r>
            <a:endParaRPr sz="400">
              <a:solidFill>
                <a:schemeClr val="dk2"/>
              </a:solidFill>
            </a:endParaRPr>
          </a:p>
          <a:p>
            <a:pPr indent="0" lvl="0" marL="0" rtl="0" algn="l">
              <a:spcBef>
                <a:spcPts val="0"/>
              </a:spcBef>
              <a:spcAft>
                <a:spcPts val="0"/>
              </a:spcAft>
              <a:buClr>
                <a:schemeClr val="dk1"/>
              </a:buClr>
              <a:buSzPts val="1100"/>
              <a:buFont typeface="Arial"/>
              <a:buNone/>
            </a:pPr>
            <a:r>
              <a:rPr lang="en" sz="400">
                <a:solidFill>
                  <a:schemeClr val="dk2"/>
                </a:solidFill>
              </a:rPr>
              <a:t>3. **The Patient**: Worried about receiving necessary care and possibly facing deportation or further hardship.</a:t>
            </a:r>
            <a:endParaRPr sz="400">
              <a:solidFill>
                <a:schemeClr val="dk2"/>
              </a:solidFill>
            </a:endParaRPr>
          </a:p>
          <a:p>
            <a:pPr indent="0" lvl="0" marL="0" rtl="0" algn="l">
              <a:spcBef>
                <a:spcPts val="0"/>
              </a:spcBef>
              <a:spcAft>
                <a:spcPts val="0"/>
              </a:spcAft>
              <a:buClr>
                <a:schemeClr val="dk1"/>
              </a:buClr>
              <a:buSzPts val="1100"/>
              <a:buFont typeface="Arial"/>
              <a:buNone/>
            </a:pPr>
            <a:r>
              <a:t/>
            </a:r>
            <a:endParaRPr sz="400">
              <a:solidFill>
                <a:schemeClr val="dk2"/>
              </a:solidFill>
            </a:endParaRPr>
          </a:p>
          <a:p>
            <a:pPr indent="0" lvl="0" marL="0" rtl="0" algn="l">
              <a:spcBef>
                <a:spcPts val="0"/>
              </a:spcBef>
              <a:spcAft>
                <a:spcPts val="0"/>
              </a:spcAft>
              <a:buClr>
                <a:schemeClr val="dk1"/>
              </a:buClr>
              <a:buSzPts val="1100"/>
              <a:buFont typeface="Arial"/>
              <a:buNone/>
            </a:pPr>
            <a:r>
              <a:rPr b="1" lang="en" sz="400">
                <a:solidFill>
                  <a:schemeClr val="dk2"/>
                </a:solidFill>
              </a:rPr>
              <a:t>6: Proposing a Balanced Course of Action</a:t>
            </a:r>
            <a:endParaRPr b="1" sz="400">
              <a:solidFill>
                <a:schemeClr val="dk2"/>
              </a:solidFill>
            </a:endParaRPr>
          </a:p>
          <a:p>
            <a:pPr indent="0" lvl="0" marL="0" rtl="0" algn="l">
              <a:spcBef>
                <a:spcPts val="0"/>
              </a:spcBef>
              <a:spcAft>
                <a:spcPts val="0"/>
              </a:spcAft>
              <a:buClr>
                <a:schemeClr val="dk1"/>
              </a:buClr>
              <a:buSzPts val="1100"/>
              <a:buFont typeface="Arial"/>
              <a:buNone/>
            </a:pPr>
            <a:r>
              <a:rPr lang="en" sz="400">
                <a:solidFill>
                  <a:schemeClr val="dk2"/>
                </a:solidFill>
              </a:rPr>
              <a:t>Using principles of biomedical ethics:</a:t>
            </a:r>
            <a:endParaRPr sz="400">
              <a:solidFill>
                <a:schemeClr val="dk2"/>
              </a:solidFill>
            </a:endParaRPr>
          </a:p>
          <a:p>
            <a:pPr indent="0" lvl="0" marL="0" rtl="0" algn="l">
              <a:spcBef>
                <a:spcPts val="0"/>
              </a:spcBef>
              <a:spcAft>
                <a:spcPts val="0"/>
              </a:spcAft>
              <a:buClr>
                <a:schemeClr val="dk1"/>
              </a:buClr>
              <a:buSzPts val="1100"/>
              <a:buFont typeface="Arial"/>
              <a:buNone/>
            </a:pPr>
            <a:r>
              <a:rPr lang="en" sz="400">
                <a:solidFill>
                  <a:schemeClr val="dk2"/>
                </a:solidFill>
              </a:rPr>
              <a:t>- **Autonomy**: Respect the patient's right to make decisions about their care.</a:t>
            </a:r>
            <a:endParaRPr sz="400">
              <a:solidFill>
                <a:schemeClr val="dk2"/>
              </a:solidFill>
            </a:endParaRPr>
          </a:p>
          <a:p>
            <a:pPr indent="0" lvl="0" marL="0" rtl="0" algn="l">
              <a:spcBef>
                <a:spcPts val="0"/>
              </a:spcBef>
              <a:spcAft>
                <a:spcPts val="0"/>
              </a:spcAft>
              <a:buClr>
                <a:schemeClr val="dk1"/>
              </a:buClr>
              <a:buSzPts val="1100"/>
              <a:buFont typeface="Arial"/>
              <a:buNone/>
            </a:pPr>
            <a:r>
              <a:rPr lang="en" sz="400">
                <a:solidFill>
                  <a:schemeClr val="dk2"/>
                </a:solidFill>
              </a:rPr>
              <a:t>- **Beneficence**: Provide beneficial care within the constraints.</a:t>
            </a:r>
            <a:endParaRPr sz="400">
              <a:solidFill>
                <a:schemeClr val="dk2"/>
              </a:solidFill>
            </a:endParaRPr>
          </a:p>
          <a:p>
            <a:pPr indent="0" lvl="0" marL="0" rtl="0" algn="l">
              <a:spcBef>
                <a:spcPts val="0"/>
              </a:spcBef>
              <a:spcAft>
                <a:spcPts val="0"/>
              </a:spcAft>
              <a:buClr>
                <a:schemeClr val="dk1"/>
              </a:buClr>
              <a:buSzPts val="1100"/>
              <a:buFont typeface="Arial"/>
              <a:buNone/>
            </a:pPr>
            <a:r>
              <a:rPr lang="en" sz="400">
                <a:solidFill>
                  <a:schemeClr val="dk2"/>
                </a:solidFill>
              </a:rPr>
              <a:t>- **Non-maleficence**: Avoid harm, including not denying necessary care.</a:t>
            </a:r>
            <a:endParaRPr sz="400">
              <a:solidFill>
                <a:schemeClr val="dk2"/>
              </a:solidFill>
            </a:endParaRPr>
          </a:p>
          <a:p>
            <a:pPr indent="0" lvl="0" marL="0" rtl="0" algn="l">
              <a:spcBef>
                <a:spcPts val="0"/>
              </a:spcBef>
              <a:spcAft>
                <a:spcPts val="0"/>
              </a:spcAft>
              <a:buClr>
                <a:schemeClr val="dk1"/>
              </a:buClr>
              <a:buSzPts val="1100"/>
              <a:buFont typeface="Arial"/>
              <a:buNone/>
            </a:pPr>
            <a:r>
              <a:rPr lang="en" sz="400">
                <a:solidFill>
                  <a:schemeClr val="dk2"/>
                </a:solidFill>
              </a:rPr>
              <a:t>- **Justice**: Advocate for fair access to healthcare.</a:t>
            </a:r>
            <a:endParaRPr sz="400">
              <a:solidFill>
                <a:schemeClr val="dk2"/>
              </a:solidFill>
            </a:endParaRPr>
          </a:p>
          <a:p>
            <a:pPr indent="0" lvl="0" marL="0" rtl="0" algn="l">
              <a:spcBef>
                <a:spcPts val="0"/>
              </a:spcBef>
              <a:spcAft>
                <a:spcPts val="0"/>
              </a:spcAft>
              <a:buClr>
                <a:schemeClr val="dk1"/>
              </a:buClr>
              <a:buSzPts val="1100"/>
              <a:buFont typeface="Arial"/>
              <a:buNone/>
            </a:pPr>
            <a:r>
              <a:t/>
            </a:r>
            <a:endParaRPr sz="400">
              <a:solidFill>
                <a:schemeClr val="dk2"/>
              </a:solidFill>
            </a:endParaRPr>
          </a:p>
          <a:p>
            <a:pPr indent="0" lvl="0" marL="0" rtl="0" algn="l">
              <a:spcBef>
                <a:spcPts val="0"/>
              </a:spcBef>
              <a:spcAft>
                <a:spcPts val="0"/>
              </a:spcAft>
              <a:buClr>
                <a:schemeClr val="dk1"/>
              </a:buClr>
              <a:buSzPts val="1100"/>
              <a:buFont typeface="Arial"/>
              <a:buNone/>
            </a:pPr>
            <a:r>
              <a:rPr lang="en" sz="400">
                <a:solidFill>
                  <a:schemeClr val="dk2"/>
                </a:solidFill>
              </a:rPr>
              <a:t>A balanced approach could involve:</a:t>
            </a:r>
            <a:endParaRPr sz="400">
              <a:solidFill>
                <a:schemeClr val="dk2"/>
              </a:solidFill>
            </a:endParaRPr>
          </a:p>
          <a:p>
            <a:pPr indent="0" lvl="0" marL="0" rtl="0" algn="l">
              <a:spcBef>
                <a:spcPts val="0"/>
              </a:spcBef>
              <a:spcAft>
                <a:spcPts val="0"/>
              </a:spcAft>
              <a:buClr>
                <a:schemeClr val="dk1"/>
              </a:buClr>
              <a:buSzPts val="1100"/>
              <a:buFont typeface="Arial"/>
              <a:buNone/>
            </a:pPr>
            <a:r>
              <a:rPr lang="en" sz="400">
                <a:solidFill>
                  <a:schemeClr val="dk2"/>
                </a:solidFill>
              </a:rPr>
              <a:t>- Utilizing hospital charity programs or seeking external resources for long-term oxygen therapy and pulmonary rehabilitation.</a:t>
            </a:r>
            <a:endParaRPr sz="400">
              <a:solidFill>
                <a:schemeClr val="dk2"/>
              </a:solidFill>
            </a:endParaRPr>
          </a:p>
          <a:p>
            <a:pPr indent="0" lvl="0" marL="0" rtl="0" algn="l">
              <a:spcBef>
                <a:spcPts val="0"/>
              </a:spcBef>
              <a:spcAft>
                <a:spcPts val="0"/>
              </a:spcAft>
              <a:buClr>
                <a:schemeClr val="dk1"/>
              </a:buClr>
              <a:buSzPts val="1100"/>
              <a:buFont typeface="Arial"/>
              <a:buNone/>
            </a:pPr>
            <a:r>
              <a:rPr lang="en" sz="400">
                <a:solidFill>
                  <a:schemeClr val="dk2"/>
                </a:solidFill>
              </a:rPr>
              <a:t>- Collaborating with social services to explore options for the patient's immigration status and potential access to healthcare programs.</a:t>
            </a:r>
            <a:endParaRPr sz="400">
              <a:solidFill>
                <a:schemeClr val="dk2"/>
              </a:solidFill>
            </a:endParaRPr>
          </a:p>
          <a:p>
            <a:pPr indent="0" lvl="0" marL="0" rtl="0" algn="l">
              <a:spcBef>
                <a:spcPts val="0"/>
              </a:spcBef>
              <a:spcAft>
                <a:spcPts val="0"/>
              </a:spcAft>
              <a:buClr>
                <a:schemeClr val="dk1"/>
              </a:buClr>
              <a:buSzPts val="1100"/>
              <a:buFont typeface="Arial"/>
              <a:buNone/>
            </a:pPr>
            <a:r>
              <a:t/>
            </a:r>
            <a:endParaRPr sz="400">
              <a:solidFill>
                <a:schemeClr val="dk2"/>
              </a:solidFill>
            </a:endParaRPr>
          </a:p>
          <a:p>
            <a:pPr indent="0" lvl="0" marL="0" rtl="0" algn="l">
              <a:spcBef>
                <a:spcPts val="0"/>
              </a:spcBef>
              <a:spcAft>
                <a:spcPts val="0"/>
              </a:spcAft>
              <a:buClr>
                <a:schemeClr val="dk1"/>
              </a:buClr>
              <a:buSzPts val="1100"/>
              <a:buFont typeface="Arial"/>
              <a:buNone/>
            </a:pPr>
            <a:r>
              <a:rPr b="1" lang="en" sz="400">
                <a:solidFill>
                  <a:schemeClr val="dk2"/>
                </a:solidFill>
              </a:rPr>
              <a:t>7: Policy Recommendation</a:t>
            </a:r>
            <a:endParaRPr b="1" sz="400">
              <a:solidFill>
                <a:schemeClr val="dk2"/>
              </a:solidFill>
            </a:endParaRPr>
          </a:p>
          <a:p>
            <a:pPr indent="0" lvl="0" marL="0" rtl="0" algn="l">
              <a:spcBef>
                <a:spcPts val="0"/>
              </a:spcBef>
              <a:spcAft>
                <a:spcPts val="0"/>
              </a:spcAft>
              <a:buClr>
                <a:schemeClr val="dk1"/>
              </a:buClr>
              <a:buSzPts val="1100"/>
              <a:buFont typeface="Arial"/>
              <a:buNone/>
            </a:pPr>
            <a:r>
              <a:rPr lang="en" sz="400">
                <a:solidFill>
                  <a:schemeClr val="dk2"/>
                </a:solidFill>
              </a:rPr>
              <a:t>Improving access involves:</a:t>
            </a:r>
            <a:endParaRPr sz="400">
              <a:solidFill>
                <a:schemeClr val="dk2"/>
              </a:solidFill>
            </a:endParaRPr>
          </a:p>
          <a:p>
            <a:pPr indent="0" lvl="0" marL="0" rtl="0" algn="l">
              <a:spcBef>
                <a:spcPts val="0"/>
              </a:spcBef>
              <a:spcAft>
                <a:spcPts val="0"/>
              </a:spcAft>
              <a:buClr>
                <a:schemeClr val="dk1"/>
              </a:buClr>
              <a:buSzPts val="1100"/>
              <a:buFont typeface="Arial"/>
              <a:buNone/>
            </a:pPr>
            <a:r>
              <a:rPr lang="en" sz="400">
                <a:solidFill>
                  <a:schemeClr val="dk2"/>
                </a:solidFill>
              </a:rPr>
              <a:t>- Advocating for policy changes that allow undocumented immigrants access to healthcare.</a:t>
            </a:r>
            <a:endParaRPr sz="400">
              <a:solidFill>
                <a:schemeClr val="dk2"/>
              </a:solidFill>
            </a:endParaRPr>
          </a:p>
          <a:p>
            <a:pPr indent="0" lvl="0" marL="0" rtl="0" algn="l">
              <a:spcBef>
                <a:spcPts val="0"/>
              </a:spcBef>
              <a:spcAft>
                <a:spcPts val="0"/>
              </a:spcAft>
              <a:buClr>
                <a:schemeClr val="dk1"/>
              </a:buClr>
              <a:buSzPts val="1100"/>
              <a:buFont typeface="Arial"/>
              <a:buNone/>
            </a:pPr>
            <a:r>
              <a:rPr lang="en" sz="400">
                <a:solidFill>
                  <a:schemeClr val="dk2"/>
                </a:solidFill>
              </a:rPr>
              <a:t>- Enhancing hospital charity programs and community partnerships.</a:t>
            </a:r>
            <a:endParaRPr sz="400">
              <a:solidFill>
                <a:schemeClr val="dk2"/>
              </a:solidFill>
            </a:endParaRPr>
          </a:p>
          <a:p>
            <a:pPr indent="0" lvl="0" marL="0" rtl="0" algn="l">
              <a:spcBef>
                <a:spcPts val="0"/>
              </a:spcBef>
              <a:spcAft>
                <a:spcPts val="0"/>
              </a:spcAft>
              <a:buClr>
                <a:schemeClr val="dk1"/>
              </a:buClr>
              <a:buSzPts val="1100"/>
              <a:buFont typeface="Arial"/>
              <a:buNone/>
            </a:pPr>
            <a:r>
              <a:t/>
            </a:r>
            <a:endParaRPr sz="400">
              <a:solidFill>
                <a:schemeClr val="dk2"/>
              </a:solidFill>
            </a:endParaRPr>
          </a:p>
          <a:p>
            <a:pPr indent="0" lvl="0" marL="0" rtl="0" algn="l">
              <a:spcBef>
                <a:spcPts val="0"/>
              </a:spcBef>
              <a:spcAft>
                <a:spcPts val="0"/>
              </a:spcAft>
              <a:buClr>
                <a:schemeClr val="dk1"/>
              </a:buClr>
              <a:buSzPts val="1100"/>
              <a:buFont typeface="Arial"/>
              <a:buNone/>
            </a:pPr>
            <a:r>
              <a:rPr b="1" lang="en" sz="400">
                <a:solidFill>
                  <a:schemeClr val="dk2"/>
                </a:solidFill>
              </a:rPr>
              <a:t>Part 3: Communication Skills</a:t>
            </a:r>
            <a:endParaRPr b="1" sz="400">
              <a:solidFill>
                <a:schemeClr val="dk2"/>
              </a:solidFill>
            </a:endParaRPr>
          </a:p>
          <a:p>
            <a:pPr indent="0" lvl="0" marL="0" rtl="0" algn="l">
              <a:spcBef>
                <a:spcPts val="0"/>
              </a:spcBef>
              <a:spcAft>
                <a:spcPts val="0"/>
              </a:spcAft>
              <a:buClr>
                <a:schemeClr val="dk1"/>
              </a:buClr>
              <a:buSzPts val="1100"/>
              <a:buFont typeface="Arial"/>
              <a:buNone/>
            </a:pPr>
            <a:r>
              <a:t/>
            </a:r>
            <a:endParaRPr sz="400">
              <a:solidFill>
                <a:schemeClr val="dk2"/>
              </a:solidFill>
            </a:endParaRPr>
          </a:p>
          <a:p>
            <a:pPr indent="0" lvl="0" marL="0" rtl="0" algn="l">
              <a:spcBef>
                <a:spcPts val="0"/>
              </a:spcBef>
              <a:spcAft>
                <a:spcPts val="0"/>
              </a:spcAft>
              <a:buClr>
                <a:schemeClr val="dk1"/>
              </a:buClr>
              <a:buSzPts val="1100"/>
              <a:buFont typeface="Arial"/>
              <a:buNone/>
            </a:pPr>
            <a:r>
              <a:rPr b="1" lang="en" sz="400">
                <a:solidFill>
                  <a:schemeClr val="dk2"/>
                </a:solidFill>
              </a:rPr>
              <a:t>8: Dialogue with the Patient</a:t>
            </a:r>
            <a:endParaRPr b="1" sz="400">
              <a:solidFill>
                <a:schemeClr val="dk2"/>
              </a:solidFill>
            </a:endParaRPr>
          </a:p>
          <a:p>
            <a:pPr indent="0" lvl="0" marL="0" rtl="0" algn="l">
              <a:spcBef>
                <a:spcPts val="0"/>
              </a:spcBef>
              <a:spcAft>
                <a:spcPts val="0"/>
              </a:spcAft>
              <a:buClr>
                <a:schemeClr val="dk1"/>
              </a:buClr>
              <a:buSzPts val="1100"/>
              <a:buFont typeface="Arial"/>
              <a:buNone/>
            </a:pPr>
            <a:r>
              <a:rPr lang="en" sz="400">
                <a:solidFill>
                  <a:schemeClr val="dk2"/>
                </a:solidFill>
              </a:rPr>
              <a:t>**Me**: "Mr. [Patient's Name], I want to talk to you about your condition. You have a lung infection and your lungs are inflamed, which is making it hard for you to breathe. We need to treat the infection with antibiotics and help your lungs recover with oxygen therapy."</a:t>
            </a:r>
            <a:endParaRPr sz="400">
              <a:solidFill>
                <a:schemeClr val="dk2"/>
              </a:solidFill>
            </a:endParaRPr>
          </a:p>
          <a:p>
            <a:pPr indent="0" lvl="0" marL="0" rtl="0" algn="l">
              <a:spcBef>
                <a:spcPts val="0"/>
              </a:spcBef>
              <a:spcAft>
                <a:spcPts val="0"/>
              </a:spcAft>
              <a:buClr>
                <a:schemeClr val="dk1"/>
              </a:buClr>
              <a:buSzPts val="1100"/>
              <a:buFont typeface="Arial"/>
              <a:buNone/>
            </a:pPr>
            <a:r>
              <a:rPr lang="en" sz="400">
                <a:solidFill>
                  <a:schemeClr val="dk2"/>
                </a:solidFill>
              </a:rPr>
              <a:t>**Patient**: "Okay, I just want to get better."</a:t>
            </a:r>
            <a:endParaRPr sz="400">
              <a:solidFill>
                <a:schemeClr val="dk2"/>
              </a:solidFill>
            </a:endParaRPr>
          </a:p>
          <a:p>
            <a:pPr indent="0" lvl="0" marL="0" rtl="0" algn="l">
              <a:spcBef>
                <a:spcPts val="0"/>
              </a:spcBef>
              <a:spcAft>
                <a:spcPts val="0"/>
              </a:spcAft>
              <a:buClr>
                <a:schemeClr val="dk1"/>
              </a:buClr>
              <a:buSzPts val="1100"/>
              <a:buFont typeface="Arial"/>
              <a:buNone/>
            </a:pPr>
            <a:r>
              <a:rPr lang="en" sz="400">
                <a:solidFill>
                  <a:schemeClr val="dk2"/>
                </a:solidFill>
              </a:rPr>
              <a:t>**Me**: "I understand. Unfortunately, we have some challenges with your care after you leave the hospital. We can provide some help, but there are limitations due to your insurance status. Let's discuss what we can do and explore options for getting you the help you need."</a:t>
            </a:r>
            <a:endParaRPr sz="400">
              <a:solidFill>
                <a:schemeClr val="dk2"/>
              </a:solidFill>
            </a:endParaRPr>
          </a:p>
          <a:p>
            <a:pPr indent="0" lvl="0" marL="0" rtl="0" algn="l">
              <a:spcBef>
                <a:spcPts val="0"/>
              </a:spcBef>
              <a:spcAft>
                <a:spcPts val="0"/>
              </a:spcAft>
              <a:buClr>
                <a:schemeClr val="dk1"/>
              </a:buClr>
              <a:buSzPts val="1100"/>
              <a:buFont typeface="Arial"/>
              <a:buNone/>
            </a:pPr>
            <a:r>
              <a:t/>
            </a:r>
            <a:endParaRPr sz="400">
              <a:solidFill>
                <a:schemeClr val="dk2"/>
              </a:solidFill>
            </a:endParaRPr>
          </a:p>
          <a:p>
            <a:pPr indent="0" lvl="0" marL="0" rtl="0" algn="l">
              <a:spcBef>
                <a:spcPts val="0"/>
              </a:spcBef>
              <a:spcAft>
                <a:spcPts val="0"/>
              </a:spcAft>
              <a:buNone/>
            </a:pPr>
            <a:r>
              <a:rPr lang="en" sz="400">
                <a:solidFill>
                  <a:schemeClr val="dk2"/>
                </a:solidFill>
              </a:rPr>
              <a:t>The best answer is &lt;|reserved_special_token_65|&gt;</a:t>
            </a:r>
            <a:endParaRPr sz="400">
              <a:solidFill>
                <a:schemeClr val="dk2"/>
              </a:solidFill>
            </a:endParaRPr>
          </a:p>
        </p:txBody>
      </p:sp>
      <p:sp>
        <p:nvSpPr>
          <p:cNvPr id="127" name="Google Shape;127;p21"/>
          <p:cNvSpPr txBox="1"/>
          <p:nvPr/>
        </p:nvSpPr>
        <p:spPr>
          <a:xfrm>
            <a:off x="4802125" y="4356050"/>
            <a:ext cx="4328100" cy="76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Llama4 seems to be effective at medical reasoning</a:t>
            </a:r>
            <a:endParaRPr sz="180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2"/>
          <p:cNvSpPr txBox="1"/>
          <p:nvPr>
            <p:ph type="title"/>
          </p:nvPr>
        </p:nvSpPr>
        <p:spPr>
          <a:xfrm>
            <a:off x="510450" y="2057400"/>
            <a:ext cx="8123100" cy="7788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Healthcare Issue: Medical </a:t>
            </a:r>
            <a:r>
              <a:rPr lang="en"/>
              <a:t>Literacy</a:t>
            </a:r>
            <a:r>
              <a:rPr lang="en"/>
              <a:t> Gaps in Discharge Summaries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Problem Statement</a:t>
            </a:r>
            <a:endParaRPr/>
          </a:p>
        </p:txBody>
      </p:sp>
      <p:sp>
        <p:nvSpPr>
          <p:cNvPr id="138" name="Google Shape;138;p23"/>
          <p:cNvSpPr txBox="1"/>
          <p:nvPr>
            <p:ph idx="1" type="body"/>
          </p:nvPr>
        </p:nvSpPr>
        <p:spPr>
          <a:xfrm>
            <a:off x="311700" y="1152475"/>
            <a:ext cx="4681500" cy="3416400"/>
          </a:xfrm>
          <a:prstGeom prst="rect">
            <a:avLst/>
          </a:prstGeom>
        </p:spPr>
        <p:txBody>
          <a:bodyPr anchorCtr="0" anchor="t" bIns="91425" lIns="91425" spcFirstLastPara="1" rIns="91425" wrap="square" tIns="91425">
            <a:normAutofit fontScale="25000" lnSpcReduction="20000"/>
          </a:bodyPr>
          <a:lstStyle/>
          <a:p>
            <a:pPr indent="0" lvl="0" marL="0" rtl="0" algn="l">
              <a:spcBef>
                <a:spcPts val="1200"/>
              </a:spcBef>
              <a:spcAft>
                <a:spcPts val="0"/>
              </a:spcAft>
              <a:buClr>
                <a:schemeClr val="dk1"/>
              </a:buClr>
              <a:buSzPct val="28946"/>
              <a:buFont typeface="Arial"/>
              <a:buNone/>
            </a:pPr>
            <a:r>
              <a:rPr b="1" lang="en" sz="3800">
                <a:solidFill>
                  <a:schemeClr val="dk1"/>
                </a:solidFill>
              </a:rPr>
              <a:t>Healthcare Issue: Medical Literacy Gaps in Discharge Summaries</a:t>
            </a:r>
            <a:endParaRPr b="1" sz="3800">
              <a:solidFill>
                <a:schemeClr val="dk1"/>
              </a:solidFill>
            </a:endParaRPr>
          </a:p>
          <a:p>
            <a:pPr indent="-288927" lvl="0" marL="457200" rtl="0" algn="l">
              <a:spcBef>
                <a:spcPts val="1200"/>
              </a:spcBef>
              <a:spcAft>
                <a:spcPts val="0"/>
              </a:spcAft>
              <a:buClr>
                <a:schemeClr val="dk1"/>
              </a:buClr>
              <a:buSzPct val="100000"/>
              <a:buChar char="●"/>
            </a:pPr>
            <a:r>
              <a:rPr lang="en" sz="3800">
                <a:solidFill>
                  <a:schemeClr val="dk1"/>
                </a:solidFill>
              </a:rPr>
              <a:t>Many patients struggle to understand their discharge summaries due to complex medical jargon and lack of plain-language communication.</a:t>
            </a:r>
            <a:br>
              <a:rPr lang="en" sz="3800">
                <a:solidFill>
                  <a:schemeClr val="dk1"/>
                </a:solidFill>
              </a:rPr>
            </a:br>
            <a:endParaRPr sz="3800">
              <a:solidFill>
                <a:schemeClr val="dk1"/>
              </a:solidFill>
            </a:endParaRPr>
          </a:p>
          <a:p>
            <a:pPr indent="-288927" lvl="0" marL="457200" rtl="0" algn="l">
              <a:spcBef>
                <a:spcPts val="0"/>
              </a:spcBef>
              <a:spcAft>
                <a:spcPts val="0"/>
              </a:spcAft>
              <a:buClr>
                <a:schemeClr val="dk1"/>
              </a:buClr>
              <a:buSzPct val="100000"/>
              <a:buChar char="●"/>
            </a:pPr>
            <a:r>
              <a:rPr lang="en" sz="3800">
                <a:solidFill>
                  <a:schemeClr val="dk1"/>
                </a:solidFill>
              </a:rPr>
              <a:t>This issue disproportionately affects:</a:t>
            </a:r>
            <a:br>
              <a:rPr lang="en" sz="3800">
                <a:solidFill>
                  <a:schemeClr val="dk1"/>
                </a:solidFill>
              </a:rPr>
            </a:br>
            <a:endParaRPr sz="3800">
              <a:solidFill>
                <a:schemeClr val="dk1"/>
              </a:solidFill>
            </a:endParaRPr>
          </a:p>
          <a:p>
            <a:pPr indent="-288927" lvl="1" marL="914400" rtl="0" algn="l">
              <a:spcBef>
                <a:spcPts val="0"/>
              </a:spcBef>
              <a:spcAft>
                <a:spcPts val="0"/>
              </a:spcAft>
              <a:buClr>
                <a:schemeClr val="dk1"/>
              </a:buClr>
              <a:buSzPct val="100000"/>
              <a:buChar char="○"/>
            </a:pPr>
            <a:r>
              <a:rPr b="1" lang="en" sz="3800">
                <a:solidFill>
                  <a:schemeClr val="dk1"/>
                </a:solidFill>
              </a:rPr>
              <a:t>Minors</a:t>
            </a:r>
            <a:br>
              <a:rPr b="1" lang="en" sz="3800">
                <a:solidFill>
                  <a:schemeClr val="dk1"/>
                </a:solidFill>
              </a:rPr>
            </a:br>
            <a:endParaRPr b="1" sz="3800">
              <a:solidFill>
                <a:schemeClr val="dk1"/>
              </a:solidFill>
            </a:endParaRPr>
          </a:p>
          <a:p>
            <a:pPr indent="-288927" lvl="1" marL="914400" rtl="0" algn="l">
              <a:spcBef>
                <a:spcPts val="0"/>
              </a:spcBef>
              <a:spcAft>
                <a:spcPts val="0"/>
              </a:spcAft>
              <a:buClr>
                <a:schemeClr val="dk1"/>
              </a:buClr>
              <a:buSzPct val="100000"/>
              <a:buChar char="○"/>
            </a:pPr>
            <a:r>
              <a:rPr b="1" lang="en" sz="3800">
                <a:solidFill>
                  <a:schemeClr val="dk1"/>
                </a:solidFill>
              </a:rPr>
              <a:t>Elderly patients</a:t>
            </a:r>
            <a:br>
              <a:rPr b="1" lang="en" sz="3800">
                <a:solidFill>
                  <a:schemeClr val="dk1"/>
                </a:solidFill>
              </a:rPr>
            </a:br>
            <a:endParaRPr b="1" sz="3800">
              <a:solidFill>
                <a:schemeClr val="dk1"/>
              </a:solidFill>
            </a:endParaRPr>
          </a:p>
          <a:p>
            <a:pPr indent="-288927" lvl="1" marL="914400" rtl="0" algn="l">
              <a:spcBef>
                <a:spcPts val="0"/>
              </a:spcBef>
              <a:spcAft>
                <a:spcPts val="0"/>
              </a:spcAft>
              <a:buClr>
                <a:schemeClr val="dk1"/>
              </a:buClr>
              <a:buSzPct val="100000"/>
              <a:buChar char="○"/>
            </a:pPr>
            <a:r>
              <a:rPr b="1" lang="en" sz="3800">
                <a:solidFill>
                  <a:schemeClr val="dk1"/>
                </a:solidFill>
              </a:rPr>
              <a:t>Cognitively impaired individuals</a:t>
            </a:r>
            <a:br>
              <a:rPr b="1" lang="en" sz="3800">
                <a:solidFill>
                  <a:schemeClr val="dk1"/>
                </a:solidFill>
              </a:rPr>
            </a:br>
            <a:endParaRPr b="1" sz="3800">
              <a:solidFill>
                <a:schemeClr val="dk1"/>
              </a:solidFill>
            </a:endParaRPr>
          </a:p>
          <a:p>
            <a:pPr indent="-288927" lvl="0" marL="457200" rtl="0" algn="l">
              <a:spcBef>
                <a:spcPts val="0"/>
              </a:spcBef>
              <a:spcAft>
                <a:spcPts val="0"/>
              </a:spcAft>
              <a:buClr>
                <a:schemeClr val="dk1"/>
              </a:buClr>
              <a:buSzPct val="100000"/>
              <a:buChar char="●"/>
            </a:pPr>
            <a:r>
              <a:rPr b="1" lang="en" sz="3800">
                <a:solidFill>
                  <a:schemeClr val="dk1"/>
                </a:solidFill>
              </a:rPr>
              <a:t>Consequences</a:t>
            </a:r>
            <a:r>
              <a:rPr lang="en" sz="3800">
                <a:solidFill>
                  <a:schemeClr val="dk1"/>
                </a:solidFill>
              </a:rPr>
              <a:t> include:</a:t>
            </a:r>
            <a:br>
              <a:rPr lang="en" sz="3800">
                <a:solidFill>
                  <a:schemeClr val="dk1"/>
                </a:solidFill>
              </a:rPr>
            </a:br>
            <a:endParaRPr sz="3800">
              <a:solidFill>
                <a:schemeClr val="dk1"/>
              </a:solidFill>
            </a:endParaRPr>
          </a:p>
          <a:p>
            <a:pPr indent="-288927" lvl="1" marL="914400" rtl="0" algn="l">
              <a:spcBef>
                <a:spcPts val="0"/>
              </a:spcBef>
              <a:spcAft>
                <a:spcPts val="0"/>
              </a:spcAft>
              <a:buClr>
                <a:schemeClr val="dk1"/>
              </a:buClr>
              <a:buSzPct val="100000"/>
              <a:buChar char="○"/>
            </a:pPr>
            <a:r>
              <a:rPr lang="en" sz="3800">
                <a:solidFill>
                  <a:schemeClr val="dk1"/>
                </a:solidFill>
              </a:rPr>
              <a:t>Poor medication adherence</a:t>
            </a:r>
            <a:br>
              <a:rPr lang="en" sz="3800">
                <a:solidFill>
                  <a:schemeClr val="dk1"/>
                </a:solidFill>
              </a:rPr>
            </a:br>
            <a:endParaRPr sz="3800">
              <a:solidFill>
                <a:schemeClr val="dk1"/>
              </a:solidFill>
            </a:endParaRPr>
          </a:p>
          <a:p>
            <a:pPr indent="-288927" lvl="1" marL="914400" rtl="0" algn="l">
              <a:spcBef>
                <a:spcPts val="0"/>
              </a:spcBef>
              <a:spcAft>
                <a:spcPts val="0"/>
              </a:spcAft>
              <a:buClr>
                <a:schemeClr val="dk1"/>
              </a:buClr>
              <a:buSzPct val="100000"/>
              <a:buChar char="○"/>
            </a:pPr>
            <a:r>
              <a:rPr lang="en" sz="3800">
                <a:solidFill>
                  <a:schemeClr val="dk1"/>
                </a:solidFill>
              </a:rPr>
              <a:t>Misunderstanding of follow-up instructions</a:t>
            </a:r>
            <a:br>
              <a:rPr lang="en" sz="3800">
                <a:solidFill>
                  <a:schemeClr val="dk1"/>
                </a:solidFill>
              </a:rPr>
            </a:br>
            <a:endParaRPr sz="3800">
              <a:solidFill>
                <a:schemeClr val="dk1"/>
              </a:solidFill>
            </a:endParaRPr>
          </a:p>
          <a:p>
            <a:pPr indent="-288927" lvl="1" marL="914400" rtl="0" algn="l">
              <a:spcBef>
                <a:spcPts val="0"/>
              </a:spcBef>
              <a:spcAft>
                <a:spcPts val="0"/>
              </a:spcAft>
              <a:buClr>
                <a:schemeClr val="dk1"/>
              </a:buClr>
              <a:buSzPct val="100000"/>
              <a:buChar char="○"/>
            </a:pPr>
            <a:r>
              <a:rPr lang="en" sz="3800">
                <a:solidFill>
                  <a:schemeClr val="dk1"/>
                </a:solidFill>
              </a:rPr>
              <a:t>Increased readmission rates</a:t>
            </a:r>
            <a:br>
              <a:rPr lang="en" sz="3800">
                <a:solidFill>
                  <a:schemeClr val="dk1"/>
                </a:solidFill>
              </a:rPr>
            </a:br>
            <a:endParaRPr sz="3800">
              <a:solidFill>
                <a:schemeClr val="dk1"/>
              </a:solidFill>
            </a:endParaRPr>
          </a:p>
          <a:p>
            <a:pPr indent="-288927" lvl="0" marL="457200" rtl="0" algn="l">
              <a:spcBef>
                <a:spcPts val="0"/>
              </a:spcBef>
              <a:spcAft>
                <a:spcPts val="0"/>
              </a:spcAft>
              <a:buClr>
                <a:schemeClr val="dk1"/>
              </a:buClr>
              <a:buSzPct val="100000"/>
              <a:buChar char="●"/>
            </a:pPr>
            <a:r>
              <a:rPr lang="en" sz="3800">
                <a:solidFill>
                  <a:schemeClr val="dk1"/>
                </a:solidFill>
              </a:rPr>
              <a:t>Using the </a:t>
            </a:r>
            <a:r>
              <a:rPr b="1" lang="en" sz="3800">
                <a:solidFill>
                  <a:schemeClr val="dk1"/>
                </a:solidFill>
              </a:rPr>
              <a:t>Synthea synthetic patient dataset</a:t>
            </a:r>
            <a:r>
              <a:rPr lang="en" sz="3800">
                <a:solidFill>
                  <a:schemeClr val="dk1"/>
                </a:solidFill>
              </a:rPr>
              <a:t>, we analyzed discharge summaries with a focus on these vulnerable populations to identify patterns of incomprehensible or non-inclusive language.</a:t>
            </a:r>
            <a:endParaRPr sz="3800">
              <a:solidFill>
                <a:schemeClr val="dk1"/>
              </a:solidFill>
            </a:endParaRPr>
          </a:p>
          <a:p>
            <a:pPr indent="0" lvl="0" marL="0" rtl="0" algn="l">
              <a:spcBef>
                <a:spcPts val="1200"/>
              </a:spcBef>
              <a:spcAft>
                <a:spcPts val="1200"/>
              </a:spcAft>
              <a:buNone/>
            </a:pPr>
            <a:r>
              <a:t/>
            </a:r>
            <a:endParaRPr/>
          </a:p>
        </p:txBody>
      </p:sp>
      <p:pic>
        <p:nvPicPr>
          <p:cNvPr descr="Generate an image of a robot explaining the words a doctor is saying to a patient" id="139" name="Google Shape;139;p23"/>
          <p:cNvPicPr preferRelativeResize="0"/>
          <p:nvPr/>
        </p:nvPicPr>
        <p:blipFill>
          <a:blip r:embed="rId3">
            <a:alphaModFix/>
          </a:blip>
          <a:stretch>
            <a:fillRect/>
          </a:stretch>
        </p:blipFill>
        <p:spPr>
          <a:xfrm>
            <a:off x="5164625" y="561150"/>
            <a:ext cx="3820975" cy="38209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4"/>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Dataset Overview</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Dataset Overview: Synthea</a:t>
            </a:r>
            <a:endParaRPr/>
          </a:p>
        </p:txBody>
      </p:sp>
      <p:sp>
        <p:nvSpPr>
          <p:cNvPr id="150" name="Google Shape;150;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25000" lnSpcReduction="20000"/>
          </a:bodyPr>
          <a:lstStyle/>
          <a:p>
            <a:pPr indent="0" lvl="0" marL="0" rtl="0" algn="l">
              <a:spcBef>
                <a:spcPts val="1400"/>
              </a:spcBef>
              <a:spcAft>
                <a:spcPts val="0"/>
              </a:spcAft>
              <a:buClr>
                <a:schemeClr val="dk1"/>
              </a:buClr>
              <a:buSzPct val="32760"/>
              <a:buFont typeface="Arial"/>
              <a:buNone/>
            </a:pPr>
            <a:r>
              <a:rPr b="1" lang="en" sz="3357">
                <a:solidFill>
                  <a:schemeClr val="dk1"/>
                </a:solidFill>
              </a:rPr>
              <a:t>Dataset Overview: Synthea</a:t>
            </a:r>
            <a:endParaRPr b="1" sz="3357">
              <a:solidFill>
                <a:schemeClr val="dk1"/>
              </a:solidFill>
            </a:endParaRPr>
          </a:p>
          <a:p>
            <a:pPr indent="0" lvl="0" marL="0" rtl="0" algn="l">
              <a:spcBef>
                <a:spcPts val="1200"/>
              </a:spcBef>
              <a:spcAft>
                <a:spcPts val="0"/>
              </a:spcAft>
              <a:buClr>
                <a:schemeClr val="dk1"/>
              </a:buClr>
              <a:buSzPct val="34835"/>
              <a:buFont typeface="Arial"/>
              <a:buNone/>
            </a:pPr>
            <a:r>
              <a:rPr b="1" lang="en" sz="3157">
                <a:solidFill>
                  <a:schemeClr val="dk1"/>
                </a:solidFill>
              </a:rPr>
              <a:t>What is Synthea?</a:t>
            </a:r>
            <a:endParaRPr b="1" sz="3157">
              <a:solidFill>
                <a:schemeClr val="dk1"/>
              </a:solidFill>
            </a:endParaRPr>
          </a:p>
          <a:p>
            <a:pPr indent="-278728" lvl="0" marL="457200" rtl="0" algn="l">
              <a:spcBef>
                <a:spcPts val="1200"/>
              </a:spcBef>
              <a:spcAft>
                <a:spcPts val="0"/>
              </a:spcAft>
              <a:buClr>
                <a:schemeClr val="dk1"/>
              </a:buClr>
              <a:buSzPct val="100000"/>
              <a:buChar char="●"/>
            </a:pPr>
            <a:r>
              <a:rPr lang="en" sz="3157">
                <a:solidFill>
                  <a:schemeClr val="dk1"/>
                </a:solidFill>
              </a:rPr>
              <a:t>Synthia is a </a:t>
            </a:r>
            <a:r>
              <a:rPr b="1" lang="en" sz="3157">
                <a:solidFill>
                  <a:schemeClr val="dk1"/>
                </a:solidFill>
              </a:rPr>
              <a:t>synthetic patient dataset</a:t>
            </a:r>
            <a:r>
              <a:rPr lang="en" sz="3157">
                <a:solidFill>
                  <a:schemeClr val="dk1"/>
                </a:solidFill>
              </a:rPr>
              <a:t> created for research and development in healthcare.</a:t>
            </a:r>
            <a:br>
              <a:rPr lang="en" sz="3157">
                <a:solidFill>
                  <a:schemeClr val="dk1"/>
                </a:solidFill>
              </a:rPr>
            </a:br>
            <a:endParaRPr sz="3157">
              <a:solidFill>
                <a:schemeClr val="dk1"/>
              </a:solidFill>
            </a:endParaRPr>
          </a:p>
          <a:p>
            <a:pPr indent="-278728" lvl="0" marL="457200" rtl="0" algn="l">
              <a:spcBef>
                <a:spcPts val="0"/>
              </a:spcBef>
              <a:spcAft>
                <a:spcPts val="0"/>
              </a:spcAft>
              <a:buClr>
                <a:schemeClr val="dk1"/>
              </a:buClr>
              <a:buSzPct val="100000"/>
              <a:buChar char="●"/>
            </a:pPr>
            <a:r>
              <a:rPr lang="en" sz="3157">
                <a:solidFill>
                  <a:schemeClr val="dk1"/>
                </a:solidFill>
              </a:rPr>
              <a:t>It mimics real Electronic Health Records (EHRs) while ensuring full patient privacy.</a:t>
            </a:r>
            <a:br>
              <a:rPr lang="en" sz="3157">
                <a:solidFill>
                  <a:schemeClr val="dk1"/>
                </a:solidFill>
              </a:rPr>
            </a:br>
            <a:endParaRPr sz="3157">
              <a:solidFill>
                <a:schemeClr val="dk1"/>
              </a:solidFill>
            </a:endParaRPr>
          </a:p>
          <a:p>
            <a:pPr indent="0" lvl="0" marL="0" rtl="0" algn="l">
              <a:spcBef>
                <a:spcPts val="1200"/>
              </a:spcBef>
              <a:spcAft>
                <a:spcPts val="0"/>
              </a:spcAft>
              <a:buClr>
                <a:schemeClr val="dk1"/>
              </a:buClr>
              <a:buSzPct val="34835"/>
              <a:buFont typeface="Arial"/>
              <a:buNone/>
            </a:pPr>
            <a:r>
              <a:rPr b="1" lang="en" sz="3157">
                <a:solidFill>
                  <a:schemeClr val="dk1"/>
                </a:solidFill>
              </a:rPr>
              <a:t>Key Features</a:t>
            </a:r>
            <a:r>
              <a:rPr lang="en" sz="3157">
                <a:solidFill>
                  <a:schemeClr val="dk1"/>
                </a:solidFill>
              </a:rPr>
              <a:t>:</a:t>
            </a:r>
            <a:endParaRPr sz="3157">
              <a:solidFill>
                <a:schemeClr val="dk1"/>
              </a:solidFill>
            </a:endParaRPr>
          </a:p>
          <a:p>
            <a:pPr indent="-278728" lvl="0" marL="457200" rtl="0" algn="l">
              <a:spcBef>
                <a:spcPts val="1200"/>
              </a:spcBef>
              <a:spcAft>
                <a:spcPts val="0"/>
              </a:spcAft>
              <a:buClr>
                <a:schemeClr val="dk1"/>
              </a:buClr>
              <a:buSzPct val="100000"/>
              <a:buChar char="●"/>
            </a:pPr>
            <a:r>
              <a:rPr lang="en" sz="3157">
                <a:solidFill>
                  <a:schemeClr val="dk1"/>
                </a:solidFill>
              </a:rPr>
              <a:t>Contains </a:t>
            </a:r>
            <a:r>
              <a:rPr b="1" lang="en" sz="3157">
                <a:solidFill>
                  <a:schemeClr val="dk1"/>
                </a:solidFill>
              </a:rPr>
              <a:t>1,000 synthetic patient profiles</a:t>
            </a:r>
            <a:br>
              <a:rPr b="1" lang="en" sz="3157">
                <a:solidFill>
                  <a:schemeClr val="dk1"/>
                </a:solidFill>
              </a:rPr>
            </a:br>
            <a:endParaRPr b="1" sz="3157">
              <a:solidFill>
                <a:schemeClr val="dk1"/>
              </a:solidFill>
            </a:endParaRPr>
          </a:p>
          <a:p>
            <a:pPr indent="-278728" lvl="0" marL="457200" rtl="0" algn="l">
              <a:spcBef>
                <a:spcPts val="0"/>
              </a:spcBef>
              <a:spcAft>
                <a:spcPts val="0"/>
              </a:spcAft>
              <a:buClr>
                <a:schemeClr val="dk1"/>
              </a:buClr>
              <a:buSzPct val="100000"/>
              <a:buChar char="●"/>
            </a:pPr>
            <a:r>
              <a:rPr lang="en" sz="3157">
                <a:solidFill>
                  <a:schemeClr val="dk1"/>
                </a:solidFill>
              </a:rPr>
              <a:t>Includes structured data and </a:t>
            </a:r>
            <a:r>
              <a:rPr b="1" lang="en" sz="3157">
                <a:solidFill>
                  <a:schemeClr val="dk1"/>
                </a:solidFill>
              </a:rPr>
              <a:t>free-text discharge summaries</a:t>
            </a:r>
            <a:br>
              <a:rPr b="1" lang="en" sz="3157">
                <a:solidFill>
                  <a:schemeClr val="dk1"/>
                </a:solidFill>
              </a:rPr>
            </a:br>
            <a:endParaRPr b="1" sz="3157">
              <a:solidFill>
                <a:schemeClr val="dk1"/>
              </a:solidFill>
            </a:endParaRPr>
          </a:p>
          <a:p>
            <a:pPr indent="-278728" lvl="0" marL="457200" rtl="0" algn="l">
              <a:spcBef>
                <a:spcPts val="0"/>
              </a:spcBef>
              <a:spcAft>
                <a:spcPts val="0"/>
              </a:spcAft>
              <a:buClr>
                <a:schemeClr val="dk1"/>
              </a:buClr>
              <a:buSzPct val="100000"/>
              <a:buChar char="●"/>
            </a:pPr>
            <a:r>
              <a:rPr lang="en" sz="3157">
                <a:solidFill>
                  <a:schemeClr val="dk1"/>
                </a:solidFill>
              </a:rPr>
              <a:t>Covers a range of demographics, diagnoses, medications, procedures, and cognitive assessments</a:t>
            </a:r>
            <a:br>
              <a:rPr lang="en" sz="3157">
                <a:solidFill>
                  <a:schemeClr val="dk1"/>
                </a:solidFill>
              </a:rPr>
            </a:br>
            <a:endParaRPr sz="3157">
              <a:solidFill>
                <a:schemeClr val="dk1"/>
              </a:solidFill>
            </a:endParaRPr>
          </a:p>
          <a:p>
            <a:pPr indent="-278728" lvl="0" marL="457200" rtl="0" algn="l">
              <a:spcBef>
                <a:spcPts val="0"/>
              </a:spcBef>
              <a:spcAft>
                <a:spcPts val="0"/>
              </a:spcAft>
              <a:buClr>
                <a:schemeClr val="dk1"/>
              </a:buClr>
              <a:buSzPct val="100000"/>
              <a:buChar char="●"/>
            </a:pPr>
            <a:r>
              <a:rPr lang="en" sz="3157">
                <a:solidFill>
                  <a:schemeClr val="dk1"/>
                </a:solidFill>
              </a:rPr>
              <a:t>Designed to reflect real-world clinical documentation patterns</a:t>
            </a:r>
            <a:br>
              <a:rPr lang="en" sz="3157">
                <a:solidFill>
                  <a:schemeClr val="dk1"/>
                </a:solidFill>
              </a:rPr>
            </a:br>
            <a:endParaRPr sz="3157">
              <a:solidFill>
                <a:schemeClr val="dk1"/>
              </a:solidFill>
            </a:endParaRPr>
          </a:p>
          <a:p>
            <a:pPr indent="0" lvl="0" marL="0" rtl="0" algn="l">
              <a:spcBef>
                <a:spcPts val="1200"/>
              </a:spcBef>
              <a:spcAft>
                <a:spcPts val="0"/>
              </a:spcAft>
              <a:buClr>
                <a:schemeClr val="dk1"/>
              </a:buClr>
              <a:buSzPct val="34835"/>
              <a:buFont typeface="Arial"/>
              <a:buNone/>
            </a:pPr>
            <a:r>
              <a:rPr b="1" lang="en" sz="3157">
                <a:solidFill>
                  <a:schemeClr val="dk1"/>
                </a:solidFill>
              </a:rPr>
              <a:t>Why Use Synthea?</a:t>
            </a:r>
            <a:endParaRPr b="1" sz="3157">
              <a:solidFill>
                <a:schemeClr val="dk1"/>
              </a:solidFill>
            </a:endParaRPr>
          </a:p>
          <a:p>
            <a:pPr indent="-278728" lvl="0" marL="457200" rtl="0" algn="l">
              <a:spcBef>
                <a:spcPts val="1200"/>
              </a:spcBef>
              <a:spcAft>
                <a:spcPts val="0"/>
              </a:spcAft>
              <a:buClr>
                <a:schemeClr val="dk1"/>
              </a:buClr>
              <a:buSzPct val="100000"/>
              <a:buChar char="●"/>
            </a:pPr>
            <a:r>
              <a:rPr lang="en" sz="3157">
                <a:solidFill>
                  <a:schemeClr val="dk1"/>
                </a:solidFill>
              </a:rPr>
              <a:t>Enables analysis of discharge summaries without the risk of exposing PHI</a:t>
            </a:r>
            <a:br>
              <a:rPr lang="en" sz="3157">
                <a:solidFill>
                  <a:schemeClr val="dk1"/>
                </a:solidFill>
              </a:rPr>
            </a:br>
            <a:endParaRPr sz="3157">
              <a:solidFill>
                <a:schemeClr val="dk1"/>
              </a:solidFill>
            </a:endParaRPr>
          </a:p>
          <a:p>
            <a:pPr indent="-278728" lvl="0" marL="457200" rtl="0" algn="l">
              <a:spcBef>
                <a:spcPts val="0"/>
              </a:spcBef>
              <a:spcAft>
                <a:spcPts val="0"/>
              </a:spcAft>
              <a:buClr>
                <a:schemeClr val="dk1"/>
              </a:buClr>
              <a:buSzPct val="100000"/>
              <a:buChar char="●"/>
            </a:pPr>
            <a:r>
              <a:rPr lang="en" sz="3157">
                <a:solidFill>
                  <a:schemeClr val="dk1"/>
                </a:solidFill>
              </a:rPr>
              <a:t>Suitable for NLP tasks involving patient communication and health literacy</a:t>
            </a:r>
            <a:br>
              <a:rPr lang="en" sz="3157">
                <a:solidFill>
                  <a:schemeClr val="dk1"/>
                </a:solidFill>
              </a:rPr>
            </a:br>
            <a:endParaRPr sz="3157">
              <a:solidFill>
                <a:schemeClr val="dk1"/>
              </a:solidFill>
            </a:endParaRPr>
          </a:p>
          <a:p>
            <a:pPr indent="-278728" lvl="0" marL="457200" rtl="0" algn="l">
              <a:spcBef>
                <a:spcPts val="0"/>
              </a:spcBef>
              <a:spcAft>
                <a:spcPts val="0"/>
              </a:spcAft>
              <a:buClr>
                <a:schemeClr val="dk1"/>
              </a:buClr>
              <a:buSzPct val="100000"/>
              <a:buChar char="●"/>
            </a:pPr>
            <a:r>
              <a:rPr lang="en" sz="3157">
                <a:solidFill>
                  <a:schemeClr val="dk1"/>
                </a:solidFill>
              </a:rPr>
              <a:t>Provides a privacy-safe environment to develop and evaluate interventions for vulnerable populations</a:t>
            </a:r>
            <a:endParaRPr sz="3157">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6"/>
          <p:cNvSpPr txBox="1"/>
          <p:nvPr>
            <p:ph type="title"/>
          </p:nvPr>
        </p:nvSpPr>
        <p:spPr>
          <a:xfrm>
            <a:off x="311700" y="3404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Exploration: Tables in Synthea</a:t>
            </a:r>
            <a:endParaRPr/>
          </a:p>
        </p:txBody>
      </p:sp>
      <p:sp>
        <p:nvSpPr>
          <p:cNvPr id="156" name="Google Shape;156;p26"/>
          <p:cNvSpPr txBox="1"/>
          <p:nvPr/>
        </p:nvSpPr>
        <p:spPr>
          <a:xfrm>
            <a:off x="185150" y="968525"/>
            <a:ext cx="4386900" cy="39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700">
                <a:solidFill>
                  <a:schemeClr val="dk2"/>
                </a:solidFill>
              </a:rPr>
              <a:t>File: immunizations.csv | Shape: (17009, 6) Columns: ['DATE', 'PATIENT', 'ENCOUNTER', 'CODE', 'DESCRIPTION', 'BASE_COST']</a:t>
            </a:r>
            <a:endParaRPr sz="700">
              <a:solidFill>
                <a:schemeClr val="dk2"/>
              </a:solidFill>
            </a:endParaRPr>
          </a:p>
          <a:p>
            <a:pPr indent="0" lvl="0" marL="0" rtl="0" algn="l">
              <a:spcBef>
                <a:spcPts val="0"/>
              </a:spcBef>
              <a:spcAft>
                <a:spcPts val="0"/>
              </a:spcAft>
              <a:buClr>
                <a:schemeClr val="dk1"/>
              </a:buClr>
              <a:buSzPts val="1100"/>
              <a:buFont typeface="Arial"/>
              <a:buNone/>
            </a:pPr>
            <a:r>
              <a:t/>
            </a:r>
            <a:endParaRPr sz="700">
              <a:solidFill>
                <a:schemeClr val="dk2"/>
              </a:solidFill>
            </a:endParaRPr>
          </a:p>
          <a:p>
            <a:pPr indent="0" lvl="0" marL="0" rtl="0" algn="l">
              <a:spcBef>
                <a:spcPts val="0"/>
              </a:spcBef>
              <a:spcAft>
                <a:spcPts val="0"/>
              </a:spcAft>
              <a:buClr>
                <a:schemeClr val="dk1"/>
              </a:buClr>
              <a:buSzPts val="1100"/>
              <a:buFont typeface="Arial"/>
              <a:buNone/>
            </a:pPr>
            <a:r>
              <a:rPr lang="en" sz="700">
                <a:solidFill>
                  <a:schemeClr val="dk2"/>
                </a:solidFill>
              </a:rPr>
              <a:t>File: imaging_studies.csv | Shape: (151637, 13) Columns: ['Id', 'DATE', 'PATIENT', 'ENCOUNTER', 'SERIES_UID', 'BODYSITE_CODE', 'BODYSITE_DESCRIPTION', 'MODALITY_CODE', 'MODALITY_DESCRIPTION', 'INSTANCE_UID', 'SOP_CODE', 'SOP_DESCRIPTION', 'PROCEDURE_CODE']</a:t>
            </a:r>
            <a:endParaRPr sz="700">
              <a:solidFill>
                <a:schemeClr val="dk2"/>
              </a:solidFill>
            </a:endParaRPr>
          </a:p>
          <a:p>
            <a:pPr indent="0" lvl="0" marL="0" rtl="0" algn="l">
              <a:spcBef>
                <a:spcPts val="0"/>
              </a:spcBef>
              <a:spcAft>
                <a:spcPts val="0"/>
              </a:spcAft>
              <a:buClr>
                <a:schemeClr val="dk1"/>
              </a:buClr>
              <a:buSzPts val="1100"/>
              <a:buFont typeface="Arial"/>
              <a:buNone/>
            </a:pPr>
            <a:r>
              <a:t/>
            </a:r>
            <a:endParaRPr sz="700">
              <a:solidFill>
                <a:schemeClr val="dk2"/>
              </a:solidFill>
            </a:endParaRPr>
          </a:p>
          <a:p>
            <a:pPr indent="0" lvl="0" marL="0" rtl="0" algn="l">
              <a:spcBef>
                <a:spcPts val="0"/>
              </a:spcBef>
              <a:spcAft>
                <a:spcPts val="0"/>
              </a:spcAft>
              <a:buClr>
                <a:schemeClr val="dk1"/>
              </a:buClr>
              <a:buSzPts val="1100"/>
              <a:buFont typeface="Arial"/>
              <a:buNone/>
            </a:pPr>
            <a:r>
              <a:rPr lang="en" sz="700">
                <a:solidFill>
                  <a:schemeClr val="dk2"/>
                </a:solidFill>
              </a:rPr>
              <a:t>File: claims_transactions.csv | Shape: (711238, 33) Columns: ['ID', 'CLAIMID', 'CHARGEID', 'PATIENTID', 'TYPE', 'AMOUNT', 'METHOD', 'FROMDATE', 'TODATE', 'PLACEOFSERVICE', 'PROCEDURECODE', 'MODIFIER1', 'MODIFIER2', 'DIAGNOSISREF1', 'DIAGNOSISREF2', 'DIAGNOSISREF3', 'DIAGNOSISREF4', 'UNITS', 'DEPARTMENTID', 'NOTES', 'UNITAMOUNT', 'TRANSFEROUTID', 'TRANSFERTYPE', 'PAYMENTS', 'ADJUSTMENTS', 'TRANSFERS', 'OUTSTANDING', 'APPOINTMENTID', 'LINENOTE', 'PATIENTINSURANCEID', 'FEESCHEDULEID', 'PROVIDERID', 'SUPERVISINGPROVIDERID']</a:t>
            </a:r>
            <a:endParaRPr sz="700">
              <a:solidFill>
                <a:schemeClr val="dk2"/>
              </a:solidFill>
            </a:endParaRPr>
          </a:p>
          <a:p>
            <a:pPr indent="0" lvl="0" marL="0" rtl="0" algn="l">
              <a:spcBef>
                <a:spcPts val="0"/>
              </a:spcBef>
              <a:spcAft>
                <a:spcPts val="0"/>
              </a:spcAft>
              <a:buClr>
                <a:schemeClr val="dk1"/>
              </a:buClr>
              <a:buSzPts val="1100"/>
              <a:buFont typeface="Arial"/>
              <a:buNone/>
            </a:pPr>
            <a:r>
              <a:t/>
            </a:r>
            <a:endParaRPr sz="700">
              <a:solidFill>
                <a:schemeClr val="dk2"/>
              </a:solidFill>
            </a:endParaRPr>
          </a:p>
          <a:p>
            <a:pPr indent="0" lvl="0" marL="0" rtl="0" algn="l">
              <a:spcBef>
                <a:spcPts val="0"/>
              </a:spcBef>
              <a:spcAft>
                <a:spcPts val="0"/>
              </a:spcAft>
              <a:buClr>
                <a:schemeClr val="dk1"/>
              </a:buClr>
              <a:buSzPts val="1100"/>
              <a:buFont typeface="Arial"/>
              <a:buNone/>
            </a:pPr>
            <a:r>
              <a:rPr lang="en" sz="700">
                <a:solidFill>
                  <a:schemeClr val="dk2"/>
                </a:solidFill>
              </a:rPr>
              <a:t>File: payers.csv | Shape: (10, 21) Columns: ['Id', 'NAME', 'ADDRESS', 'CITY', 'STATE_HEADQUARTERED', 'ZIP', 'PHONE', 'AMOUNT_COVERED', 'AMOUNT_UNCOVERED', 'REVENUE', 'COVERED_ENCOUNTERS', 'UNCOVERED_ENCOUNTERS', 'COVERED_MEDICATIONS', 'UNCOVERED_MEDICATIONS', 'COVERED_PROCEDURES', 'UNCOVERED_PROCEDURES', 'COVERED_IMMUNIZATIONS', 'UNCOVERED_IMMUNIZATIONS', 'UNIQUE_CUSTOMERS', 'QOLS_AVG', 'MEMBER_MONTHS']</a:t>
            </a:r>
            <a:endParaRPr sz="700">
              <a:solidFill>
                <a:schemeClr val="dk2"/>
              </a:solidFill>
            </a:endParaRPr>
          </a:p>
          <a:p>
            <a:pPr indent="0" lvl="0" marL="0" rtl="0" algn="l">
              <a:spcBef>
                <a:spcPts val="0"/>
              </a:spcBef>
              <a:spcAft>
                <a:spcPts val="0"/>
              </a:spcAft>
              <a:buClr>
                <a:schemeClr val="dk1"/>
              </a:buClr>
              <a:buSzPts val="1100"/>
              <a:buFont typeface="Arial"/>
              <a:buNone/>
            </a:pPr>
            <a:r>
              <a:t/>
            </a:r>
            <a:endParaRPr sz="700">
              <a:solidFill>
                <a:schemeClr val="dk2"/>
              </a:solidFill>
            </a:endParaRPr>
          </a:p>
          <a:p>
            <a:pPr indent="0" lvl="0" marL="0" rtl="0" algn="l">
              <a:spcBef>
                <a:spcPts val="0"/>
              </a:spcBef>
              <a:spcAft>
                <a:spcPts val="0"/>
              </a:spcAft>
              <a:buClr>
                <a:schemeClr val="dk1"/>
              </a:buClr>
              <a:buSzPts val="1100"/>
              <a:buFont typeface="Arial"/>
              <a:buNone/>
            </a:pPr>
            <a:r>
              <a:rPr lang="en" sz="700">
                <a:solidFill>
                  <a:schemeClr val="dk2"/>
                </a:solidFill>
              </a:rPr>
              <a:t>File: providers.csv | Shape: (5056, 12) Columns: ['Id', 'ORGANIZATION', 'NAME', 'GENDER', 'SPECIALITY', 'ADDRESS', 'CITY', 'STATE', 'ZIP', 'LAT', 'LON', 'UTILIZATION'] Sample data:</a:t>
            </a:r>
            <a:endParaRPr sz="700">
              <a:solidFill>
                <a:schemeClr val="dk2"/>
              </a:solidFill>
            </a:endParaRPr>
          </a:p>
          <a:p>
            <a:pPr indent="0" lvl="0" marL="0" rtl="0" algn="l">
              <a:spcBef>
                <a:spcPts val="0"/>
              </a:spcBef>
              <a:spcAft>
                <a:spcPts val="0"/>
              </a:spcAft>
              <a:buClr>
                <a:schemeClr val="dk1"/>
              </a:buClr>
              <a:buSzPts val="1100"/>
              <a:buFont typeface="Arial"/>
              <a:buNone/>
            </a:pPr>
            <a:r>
              <a:t/>
            </a:r>
            <a:endParaRPr sz="700">
              <a:solidFill>
                <a:schemeClr val="dk2"/>
              </a:solidFill>
            </a:endParaRPr>
          </a:p>
          <a:p>
            <a:pPr indent="0" lvl="0" marL="0" rtl="0" algn="l">
              <a:spcBef>
                <a:spcPts val="0"/>
              </a:spcBef>
              <a:spcAft>
                <a:spcPts val="0"/>
              </a:spcAft>
              <a:buClr>
                <a:schemeClr val="dk1"/>
              </a:buClr>
              <a:buSzPts val="1100"/>
              <a:buFont typeface="Arial"/>
              <a:buNone/>
            </a:pPr>
            <a:r>
              <a:rPr lang="en" sz="700">
                <a:solidFill>
                  <a:schemeClr val="dk2"/>
                </a:solidFill>
              </a:rPr>
              <a:t>File: patients.csv | Shape: (1163, 25) Columns: ['Id', 'BIRTHDATE', 'DEATHDATE', 'SSN', 'DRIVERS', 'PASSPORT', 'PREFIX', 'FIRST', 'LAST', 'SUFFIX', 'MAIDEN', 'MARITAL', 'RACE', 'ETHNICITY', 'GENDER', 'BIRTHPLACE', 'ADDRESS', 'CITY', 'STATE', 'COUNTY', 'ZIP', 'LAT', 'LON', 'HEALTHCARE_EXPENSES', 'HEALTHCARE_COVERAGE']</a:t>
            </a:r>
            <a:endParaRPr sz="700">
              <a:solidFill>
                <a:schemeClr val="dk2"/>
              </a:solidFill>
            </a:endParaRPr>
          </a:p>
          <a:p>
            <a:pPr indent="0" lvl="0" marL="0" rtl="0" algn="l">
              <a:spcBef>
                <a:spcPts val="0"/>
              </a:spcBef>
              <a:spcAft>
                <a:spcPts val="0"/>
              </a:spcAft>
              <a:buClr>
                <a:schemeClr val="dk1"/>
              </a:buClr>
              <a:buSzPts val="1100"/>
              <a:buFont typeface="Arial"/>
              <a:buNone/>
            </a:pPr>
            <a:r>
              <a:t/>
            </a:r>
            <a:endParaRPr sz="700">
              <a:solidFill>
                <a:schemeClr val="dk2"/>
              </a:solidFill>
            </a:endParaRPr>
          </a:p>
          <a:p>
            <a:pPr indent="0" lvl="0" marL="0" rtl="0" algn="l">
              <a:spcBef>
                <a:spcPts val="0"/>
              </a:spcBef>
              <a:spcAft>
                <a:spcPts val="0"/>
              </a:spcAft>
              <a:buClr>
                <a:schemeClr val="dk1"/>
              </a:buClr>
              <a:buSzPts val="1100"/>
              <a:buFont typeface="Arial"/>
              <a:buNone/>
            </a:pPr>
            <a:r>
              <a:rPr lang="en" sz="700">
                <a:solidFill>
                  <a:schemeClr val="dk2"/>
                </a:solidFill>
              </a:rPr>
              <a:t>File: observations.csv | Shape: (531144, 9) Columns: ['DATE', 'PATIENT', 'ENCOUNTER', 'CATEGORY', 'CODE', 'DESCRIPTION', 'VALUE', 'UNITS', 'TYPE']</a:t>
            </a:r>
            <a:endParaRPr sz="700">
              <a:solidFill>
                <a:schemeClr val="dk2"/>
              </a:solidFill>
            </a:endParaRPr>
          </a:p>
          <a:p>
            <a:pPr indent="0" lvl="0" marL="0" rtl="0" algn="l">
              <a:spcBef>
                <a:spcPts val="0"/>
              </a:spcBef>
              <a:spcAft>
                <a:spcPts val="0"/>
              </a:spcAft>
              <a:buClr>
                <a:schemeClr val="dk1"/>
              </a:buClr>
              <a:buSzPts val="1100"/>
              <a:buFont typeface="Arial"/>
              <a:buNone/>
            </a:pPr>
            <a:r>
              <a:t/>
            </a:r>
            <a:endParaRPr sz="700">
              <a:solidFill>
                <a:schemeClr val="dk2"/>
              </a:solidFill>
            </a:endParaRPr>
          </a:p>
          <a:p>
            <a:pPr indent="0" lvl="0" marL="0" rtl="0" algn="l">
              <a:spcBef>
                <a:spcPts val="0"/>
              </a:spcBef>
              <a:spcAft>
                <a:spcPts val="0"/>
              </a:spcAft>
              <a:buClr>
                <a:schemeClr val="dk1"/>
              </a:buClr>
              <a:buSzPts val="1100"/>
              <a:buFont typeface="Arial"/>
              <a:buNone/>
            </a:pPr>
            <a:r>
              <a:rPr lang="en" sz="700">
                <a:solidFill>
                  <a:schemeClr val="dk2"/>
                </a:solidFill>
              </a:rPr>
              <a:t>File: supplies.csv | Shape: (1573, 6) Columns: ['DATE', 'PATIENT', 'ENCOUNTER', 'CODE', 'DESCRIPTION', 'QUANTITY']</a:t>
            </a:r>
            <a:endParaRPr sz="700">
              <a:solidFill>
                <a:schemeClr val="dk2"/>
              </a:solidFill>
            </a:endParaRPr>
          </a:p>
          <a:p>
            <a:pPr indent="0" lvl="0" marL="0" rtl="0" algn="l">
              <a:spcBef>
                <a:spcPts val="0"/>
              </a:spcBef>
              <a:spcAft>
                <a:spcPts val="0"/>
              </a:spcAft>
              <a:buClr>
                <a:schemeClr val="dk1"/>
              </a:buClr>
              <a:buSzPts val="1100"/>
              <a:buFont typeface="Arial"/>
              <a:buNone/>
            </a:pPr>
            <a:r>
              <a:t/>
            </a:r>
            <a:endParaRPr sz="700">
              <a:solidFill>
                <a:schemeClr val="dk2"/>
              </a:solidFill>
            </a:endParaRPr>
          </a:p>
          <a:p>
            <a:pPr indent="0" lvl="0" marL="0" rtl="0" algn="l">
              <a:spcBef>
                <a:spcPts val="0"/>
              </a:spcBef>
              <a:spcAft>
                <a:spcPts val="0"/>
              </a:spcAft>
              <a:buNone/>
            </a:pPr>
            <a:r>
              <a:t/>
            </a:r>
            <a:endParaRPr sz="700">
              <a:solidFill>
                <a:schemeClr val="dk2"/>
              </a:solidFill>
            </a:endParaRPr>
          </a:p>
        </p:txBody>
      </p:sp>
      <p:sp>
        <p:nvSpPr>
          <p:cNvPr id="157" name="Google Shape;157;p26"/>
          <p:cNvSpPr txBox="1"/>
          <p:nvPr/>
        </p:nvSpPr>
        <p:spPr>
          <a:xfrm>
            <a:off x="4443800" y="868825"/>
            <a:ext cx="4486500" cy="39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700">
                <a:solidFill>
                  <a:schemeClr val="dk2"/>
                </a:solidFill>
              </a:rPr>
              <a:t>File: careplans.csv | Shape: (3931, 9) Columns: ['Id', 'START', 'STOP', 'PATIENT', 'ENCOUNTER', 'CODE', 'DESCRIPTION', 'REASONCODE', 'REASONDESCRIPTION']</a:t>
            </a:r>
            <a:endParaRPr sz="700">
              <a:solidFill>
                <a:schemeClr val="dk2"/>
              </a:solidFill>
            </a:endParaRPr>
          </a:p>
          <a:p>
            <a:pPr indent="0" lvl="0" marL="0" rtl="0" algn="l">
              <a:spcBef>
                <a:spcPts val="0"/>
              </a:spcBef>
              <a:spcAft>
                <a:spcPts val="0"/>
              </a:spcAft>
              <a:buClr>
                <a:schemeClr val="dk1"/>
              </a:buClr>
              <a:buSzPts val="1100"/>
              <a:buFont typeface="Arial"/>
              <a:buNone/>
            </a:pPr>
            <a:r>
              <a:t/>
            </a:r>
            <a:endParaRPr sz="700">
              <a:solidFill>
                <a:schemeClr val="dk2"/>
              </a:solidFill>
            </a:endParaRPr>
          </a:p>
          <a:p>
            <a:pPr indent="0" lvl="0" marL="0" rtl="0" algn="l">
              <a:spcBef>
                <a:spcPts val="0"/>
              </a:spcBef>
              <a:spcAft>
                <a:spcPts val="0"/>
              </a:spcAft>
              <a:buClr>
                <a:schemeClr val="dk1"/>
              </a:buClr>
              <a:buSzPts val="1100"/>
              <a:buFont typeface="Arial"/>
              <a:buNone/>
            </a:pPr>
            <a:r>
              <a:rPr lang="en" sz="700">
                <a:solidFill>
                  <a:schemeClr val="dk2"/>
                </a:solidFill>
              </a:rPr>
              <a:t>File: claims.csv | Shape: (117889, 31) Columns: ['Id', 'PATIENTID', 'PROVIDERID', 'PRIMARYPATIENTINSURANCEID', 'SECONDARYPATIENTINSURANCEID', 'DEPARTMENTID', 'PATIENTDEPARTMENTID', 'DIAGNOSIS1', 'DIAGNOSIS2', 'DIAGNOSIS3', 'DIAGNOSIS4', 'DIAGNOSIS5', 'DIAGNOSIS6', 'DIAGNOSIS7', 'DIAGNOSIS8', 'REFERRINGPROVIDERID', 'APPOINTMENTID', 'CURRENTILLNESSDATE', 'SERVICEDATE', 'SUPERVISINGPROVIDERID', 'STATUS1', 'STATUS2', 'STATUSP', 'OUTSTANDING1', 'OUTSTANDING2', 'OUTSTANDINGP', 'LASTBILLEDDATE1', 'LASTBILLEDDATE2', 'LASTBILLEDDATEP', 'HEALTHCARECLAIMTYPEID1', 'HEALTHCARECLAIMTYPEID2']</a:t>
            </a:r>
            <a:endParaRPr sz="700">
              <a:solidFill>
                <a:schemeClr val="dk2"/>
              </a:solidFill>
            </a:endParaRPr>
          </a:p>
          <a:p>
            <a:pPr indent="0" lvl="0" marL="0" rtl="0" algn="l">
              <a:spcBef>
                <a:spcPts val="0"/>
              </a:spcBef>
              <a:spcAft>
                <a:spcPts val="0"/>
              </a:spcAft>
              <a:buClr>
                <a:schemeClr val="dk1"/>
              </a:buClr>
              <a:buSzPts val="1100"/>
              <a:buFont typeface="Arial"/>
              <a:buNone/>
            </a:pPr>
            <a:r>
              <a:t/>
            </a:r>
            <a:endParaRPr sz="700">
              <a:solidFill>
                <a:schemeClr val="dk2"/>
              </a:solidFill>
            </a:endParaRPr>
          </a:p>
          <a:p>
            <a:pPr indent="0" lvl="0" marL="0" rtl="0" algn="l">
              <a:spcBef>
                <a:spcPts val="0"/>
              </a:spcBef>
              <a:spcAft>
                <a:spcPts val="0"/>
              </a:spcAft>
              <a:buClr>
                <a:schemeClr val="dk1"/>
              </a:buClr>
              <a:buSzPts val="1100"/>
              <a:buFont typeface="Arial"/>
              <a:buNone/>
            </a:pPr>
            <a:r>
              <a:rPr lang="en" sz="700">
                <a:solidFill>
                  <a:schemeClr val="dk2"/>
                </a:solidFill>
              </a:rPr>
              <a:t>File: procedures.csv | Shape: (83823, 9) Columns: ['START', 'STOP', 'PATIENT', 'ENCOUNTER', 'CODE', 'DESCRIPTION', 'BASE_COST', 'REASONCODE', 'REASONDESCRIPTION']</a:t>
            </a:r>
            <a:endParaRPr sz="700">
              <a:solidFill>
                <a:schemeClr val="dk2"/>
              </a:solidFill>
            </a:endParaRPr>
          </a:p>
          <a:p>
            <a:pPr indent="0" lvl="0" marL="0" rtl="0" algn="l">
              <a:spcBef>
                <a:spcPts val="0"/>
              </a:spcBef>
              <a:spcAft>
                <a:spcPts val="0"/>
              </a:spcAft>
              <a:buClr>
                <a:schemeClr val="dk1"/>
              </a:buClr>
              <a:buSzPts val="1100"/>
              <a:buFont typeface="Arial"/>
              <a:buNone/>
            </a:pPr>
            <a:r>
              <a:t/>
            </a:r>
            <a:endParaRPr sz="700">
              <a:solidFill>
                <a:schemeClr val="dk2"/>
              </a:solidFill>
            </a:endParaRPr>
          </a:p>
          <a:p>
            <a:pPr indent="0" lvl="0" marL="0" rtl="0" algn="l">
              <a:spcBef>
                <a:spcPts val="0"/>
              </a:spcBef>
              <a:spcAft>
                <a:spcPts val="0"/>
              </a:spcAft>
              <a:buClr>
                <a:schemeClr val="dk1"/>
              </a:buClr>
              <a:buSzPts val="1100"/>
              <a:buFont typeface="Arial"/>
              <a:buNone/>
            </a:pPr>
            <a:r>
              <a:rPr lang="en" sz="700">
                <a:solidFill>
                  <a:schemeClr val="dk2"/>
                </a:solidFill>
              </a:rPr>
              <a:t>File: organizations.csv | Shape: (1127, 11) Columns: ['Id', 'NAME', 'ADDRESS', 'CITY', 'STATE', 'ZIP', 'LAT', 'LON', 'PHONE', 'REVENUE', 'UTILIZATION']</a:t>
            </a:r>
            <a:endParaRPr sz="700">
              <a:solidFill>
                <a:schemeClr val="dk2"/>
              </a:solidFill>
            </a:endParaRPr>
          </a:p>
          <a:p>
            <a:pPr indent="0" lvl="0" marL="0" rtl="0" algn="l">
              <a:spcBef>
                <a:spcPts val="0"/>
              </a:spcBef>
              <a:spcAft>
                <a:spcPts val="0"/>
              </a:spcAft>
              <a:buClr>
                <a:schemeClr val="dk1"/>
              </a:buClr>
              <a:buSzPts val="1100"/>
              <a:buFont typeface="Arial"/>
              <a:buNone/>
            </a:pPr>
            <a:r>
              <a:t/>
            </a:r>
            <a:endParaRPr sz="700">
              <a:solidFill>
                <a:schemeClr val="dk2"/>
              </a:solidFill>
            </a:endParaRPr>
          </a:p>
          <a:p>
            <a:pPr indent="0" lvl="0" marL="0" rtl="0" algn="l">
              <a:spcBef>
                <a:spcPts val="0"/>
              </a:spcBef>
              <a:spcAft>
                <a:spcPts val="0"/>
              </a:spcAft>
              <a:buClr>
                <a:schemeClr val="dk1"/>
              </a:buClr>
              <a:buSzPts val="1100"/>
              <a:buFont typeface="Arial"/>
              <a:buNone/>
            </a:pPr>
            <a:r>
              <a:rPr lang="en" sz="700">
                <a:solidFill>
                  <a:schemeClr val="dk2"/>
                </a:solidFill>
              </a:rPr>
              <a:t>File: encounters.csv | Shape: (61459, 15) Columns: ['Id', 'START', 'STOP', 'PATIENT', 'ORGANIZATION', 'PROVIDER', 'PAYER', 'ENCOUNTERCLASS', 'CODE', 'DESCRIPTION', 'BASE_ENCOUNTER_COST', 'TOTAL_CLAIM_COST', 'PAYER_COVERAGE', 'REASONCODE', 'REASONDESCRIPTION']</a:t>
            </a:r>
            <a:endParaRPr sz="700">
              <a:solidFill>
                <a:schemeClr val="dk2"/>
              </a:solidFill>
            </a:endParaRPr>
          </a:p>
          <a:p>
            <a:pPr indent="0" lvl="0" marL="0" rtl="0" algn="l">
              <a:spcBef>
                <a:spcPts val="0"/>
              </a:spcBef>
              <a:spcAft>
                <a:spcPts val="0"/>
              </a:spcAft>
              <a:buClr>
                <a:schemeClr val="dk1"/>
              </a:buClr>
              <a:buSzPts val="1100"/>
              <a:buFont typeface="Arial"/>
              <a:buNone/>
            </a:pPr>
            <a:r>
              <a:t/>
            </a:r>
            <a:endParaRPr sz="700">
              <a:solidFill>
                <a:schemeClr val="dk2"/>
              </a:solidFill>
            </a:endParaRPr>
          </a:p>
          <a:p>
            <a:pPr indent="0" lvl="0" marL="0" rtl="0" algn="l">
              <a:spcBef>
                <a:spcPts val="0"/>
              </a:spcBef>
              <a:spcAft>
                <a:spcPts val="0"/>
              </a:spcAft>
              <a:buClr>
                <a:schemeClr val="dk1"/>
              </a:buClr>
              <a:buSzPts val="1100"/>
              <a:buFont typeface="Arial"/>
              <a:buNone/>
            </a:pPr>
            <a:r>
              <a:rPr lang="en" sz="700">
                <a:solidFill>
                  <a:schemeClr val="dk2"/>
                </a:solidFill>
              </a:rPr>
              <a:t>File: allergies.csv | Shape: (794, 15) Columns: ['START', 'STOP', 'PATIENT', 'ENCOUNTER', 'CODE', 'SYSTEM', 'DESCRIPTION', 'TYPE', 'CATEGORY', 'REACTION1', 'DESCRIPTION1', 'SEVERITY1', 'REACTION2', 'DESCRIPTION2', 'SEVERITY2']</a:t>
            </a:r>
            <a:endParaRPr sz="700">
              <a:solidFill>
                <a:schemeClr val="dk2"/>
              </a:solidFill>
            </a:endParaRPr>
          </a:p>
          <a:p>
            <a:pPr indent="0" lvl="0" marL="0" rtl="0" algn="l">
              <a:spcBef>
                <a:spcPts val="0"/>
              </a:spcBef>
              <a:spcAft>
                <a:spcPts val="0"/>
              </a:spcAft>
              <a:buClr>
                <a:schemeClr val="dk1"/>
              </a:buClr>
              <a:buSzPts val="1100"/>
              <a:buFont typeface="Arial"/>
              <a:buNone/>
            </a:pPr>
            <a:r>
              <a:t/>
            </a:r>
            <a:endParaRPr sz="700">
              <a:solidFill>
                <a:schemeClr val="dk2"/>
              </a:solidFill>
            </a:endParaRPr>
          </a:p>
          <a:p>
            <a:pPr indent="0" lvl="0" marL="0" rtl="0" algn="l">
              <a:spcBef>
                <a:spcPts val="0"/>
              </a:spcBef>
              <a:spcAft>
                <a:spcPts val="0"/>
              </a:spcAft>
              <a:buClr>
                <a:schemeClr val="dk1"/>
              </a:buClr>
              <a:buSzPts val="1100"/>
              <a:buFont typeface="Arial"/>
              <a:buNone/>
            </a:pPr>
            <a:r>
              <a:rPr lang="en" sz="700">
                <a:solidFill>
                  <a:schemeClr val="dk2"/>
                </a:solidFill>
              </a:rPr>
              <a:t>File: conditions.csv | Shape: (38094, 6) Columns: ['START', 'STOP', 'PATIENT', 'ENCOUNTER', 'CODE', 'DESCRIPTION']</a:t>
            </a:r>
            <a:endParaRPr sz="700">
              <a:solidFill>
                <a:schemeClr val="dk2"/>
              </a:solidFill>
            </a:endParaRPr>
          </a:p>
          <a:p>
            <a:pPr indent="0" lvl="0" marL="0" rtl="0" algn="l">
              <a:spcBef>
                <a:spcPts val="0"/>
              </a:spcBef>
              <a:spcAft>
                <a:spcPts val="0"/>
              </a:spcAft>
              <a:buClr>
                <a:schemeClr val="dk1"/>
              </a:buClr>
              <a:buSzPts val="1100"/>
              <a:buFont typeface="Arial"/>
              <a:buNone/>
            </a:pPr>
            <a:r>
              <a:t/>
            </a:r>
            <a:endParaRPr sz="700">
              <a:solidFill>
                <a:schemeClr val="dk2"/>
              </a:solidFill>
            </a:endParaRPr>
          </a:p>
          <a:p>
            <a:pPr indent="0" lvl="0" marL="0" rtl="0" algn="l">
              <a:spcBef>
                <a:spcPts val="0"/>
              </a:spcBef>
              <a:spcAft>
                <a:spcPts val="0"/>
              </a:spcAft>
              <a:buClr>
                <a:schemeClr val="dk1"/>
              </a:buClr>
              <a:buSzPts val="1100"/>
              <a:buFont typeface="Arial"/>
              <a:buNone/>
            </a:pPr>
            <a:r>
              <a:rPr lang="en" sz="700">
                <a:solidFill>
                  <a:schemeClr val="dk2"/>
                </a:solidFill>
              </a:rPr>
              <a:t>File: devices.csv | Shape: (89, 7) Columns: ['START', 'STOP', 'PATIENT', 'ENCOUNTER', 'CODE', 'DESCRIPTION', 'UDI']</a:t>
            </a:r>
            <a:endParaRPr sz="700">
              <a:solidFill>
                <a:schemeClr val="dk2"/>
              </a:solidFill>
            </a:endParaRPr>
          </a:p>
          <a:p>
            <a:pPr indent="0" lvl="0" marL="0" rtl="0" algn="l">
              <a:spcBef>
                <a:spcPts val="0"/>
              </a:spcBef>
              <a:spcAft>
                <a:spcPts val="0"/>
              </a:spcAft>
              <a:buClr>
                <a:schemeClr val="dk1"/>
              </a:buClr>
              <a:buSzPts val="1100"/>
              <a:buFont typeface="Arial"/>
              <a:buNone/>
            </a:pPr>
            <a:r>
              <a:t/>
            </a:r>
            <a:endParaRPr sz="700">
              <a:solidFill>
                <a:schemeClr val="dk2"/>
              </a:solidFill>
            </a:endParaRPr>
          </a:p>
          <a:p>
            <a:pPr indent="0" lvl="0" marL="0" rtl="0" algn="l">
              <a:spcBef>
                <a:spcPts val="0"/>
              </a:spcBef>
              <a:spcAft>
                <a:spcPts val="0"/>
              </a:spcAft>
              <a:buClr>
                <a:schemeClr val="dk1"/>
              </a:buClr>
              <a:buSzPts val="1100"/>
              <a:buFont typeface="Arial"/>
              <a:buNone/>
            </a:pPr>
            <a:r>
              <a:rPr lang="en" sz="700">
                <a:solidFill>
                  <a:schemeClr val="dk2"/>
                </a:solidFill>
              </a:rPr>
              <a:t>File: payer_transitions.csv | Shape: (53101, 8) Columns: ['PATIENT', 'MEMBERID', 'START_YEAR', 'END_YEAR', 'PAYER', 'SECONDARY_PAYER', 'OWNERSHIP', 'OWNERNAME']</a:t>
            </a:r>
            <a:endParaRPr sz="700">
              <a:solidFill>
                <a:schemeClr val="dk2"/>
              </a:solidFill>
            </a:endParaRPr>
          </a:p>
          <a:p>
            <a:pPr indent="0" lvl="0" marL="0" rtl="0" algn="l">
              <a:spcBef>
                <a:spcPts val="0"/>
              </a:spcBef>
              <a:spcAft>
                <a:spcPts val="0"/>
              </a:spcAft>
              <a:buClr>
                <a:schemeClr val="dk1"/>
              </a:buClr>
              <a:buSzPts val="1100"/>
              <a:buFont typeface="Arial"/>
              <a:buNone/>
            </a:pPr>
            <a:r>
              <a:t/>
            </a:r>
            <a:endParaRPr sz="700">
              <a:solidFill>
                <a:schemeClr val="dk2"/>
              </a:solidFill>
            </a:endParaRPr>
          </a:p>
          <a:p>
            <a:pPr indent="0" lvl="0" marL="0" rtl="0" algn="l">
              <a:spcBef>
                <a:spcPts val="0"/>
              </a:spcBef>
              <a:spcAft>
                <a:spcPts val="0"/>
              </a:spcAft>
              <a:buClr>
                <a:schemeClr val="dk1"/>
              </a:buClr>
              <a:buSzPts val="1100"/>
              <a:buFont typeface="Arial"/>
              <a:buNone/>
            </a:pPr>
            <a:r>
              <a:rPr lang="en" sz="700">
                <a:solidFill>
                  <a:schemeClr val="dk2"/>
                </a:solidFill>
              </a:rPr>
              <a:t>File: medications.csv | Shape: (56430, 13) Columns: ['START', 'STOP', 'PATIENT', 'PAYER', 'ENCOUNTER', 'CODE', 'DESCRIPTION', 'BASE_COST', 'PAYER_COVERAGE', 'DISPENSES', 'TOTALCOST', 'REASONCODE', 'REASONDESCRIPTION']</a:t>
            </a:r>
            <a:endParaRPr sz="1800">
              <a:solidFill>
                <a:schemeClr val="dk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7"/>
          <p:cNvSpPr txBox="1"/>
          <p:nvPr>
            <p:ph type="title"/>
          </p:nvPr>
        </p:nvSpPr>
        <p:spPr>
          <a:xfrm>
            <a:off x="311700" y="743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Exploration: Synthea Demographics with Communication Needs</a:t>
            </a:r>
            <a:endParaRPr/>
          </a:p>
        </p:txBody>
      </p:sp>
      <p:sp>
        <p:nvSpPr>
          <p:cNvPr id="163" name="Google Shape;163;p27"/>
          <p:cNvSpPr txBox="1"/>
          <p:nvPr>
            <p:ph idx="1" type="body"/>
          </p:nvPr>
        </p:nvSpPr>
        <p:spPr>
          <a:xfrm>
            <a:off x="264175" y="933850"/>
            <a:ext cx="8520600" cy="1718100"/>
          </a:xfrm>
          <a:prstGeom prst="rect">
            <a:avLst/>
          </a:prstGeom>
        </p:spPr>
        <p:txBody>
          <a:bodyPr anchorCtr="0" anchor="t" bIns="91425" lIns="91425" spcFirstLastPara="1" rIns="91425" wrap="square" tIns="91425">
            <a:normAutofit lnSpcReduction="10000"/>
          </a:bodyPr>
          <a:lstStyle/>
          <a:p>
            <a:pPr indent="0" lvl="0" marL="0" rtl="0" algn="l">
              <a:lnSpc>
                <a:spcPct val="105000"/>
              </a:lnSpc>
              <a:spcBef>
                <a:spcPts val="0"/>
              </a:spcBef>
              <a:spcAft>
                <a:spcPts val="0"/>
              </a:spcAft>
              <a:buNone/>
            </a:pPr>
            <a:r>
              <a:rPr lang="en" sz="750">
                <a:solidFill>
                  <a:schemeClr val="dk1"/>
                </a:solidFill>
                <a:latin typeface="Courier New"/>
                <a:ea typeface="Courier New"/>
                <a:cs typeface="Courier New"/>
                <a:sym typeface="Courier New"/>
              </a:rPr>
              <a:t>Total patients: 1163</a:t>
            </a:r>
            <a:endParaRPr sz="750">
              <a:solidFill>
                <a:schemeClr val="dk1"/>
              </a:solidFill>
              <a:latin typeface="Courier New"/>
              <a:ea typeface="Courier New"/>
              <a:cs typeface="Courier New"/>
              <a:sym typeface="Courier New"/>
            </a:endParaRPr>
          </a:p>
          <a:p>
            <a:pPr indent="0" lvl="0" marL="0" rtl="0" algn="l">
              <a:lnSpc>
                <a:spcPct val="105000"/>
              </a:lnSpc>
              <a:spcBef>
                <a:spcPts val="1200"/>
              </a:spcBef>
              <a:spcAft>
                <a:spcPts val="0"/>
              </a:spcAft>
              <a:buNone/>
            </a:pPr>
            <a:r>
              <a:rPr lang="en" sz="750">
                <a:solidFill>
                  <a:schemeClr val="dk1"/>
                </a:solidFill>
                <a:latin typeface="Courier New"/>
                <a:ea typeface="Courier New"/>
                <a:cs typeface="Courier New"/>
                <a:sym typeface="Courier New"/>
              </a:rPr>
              <a:t>Patient columns: ['Id', 'BIRTHDATE', 'DEATHDATE', 'SSN', 'DRIVERS', 'PASSPORT', 'PREFIX', 'FIRST', 'LAST', 'SUFFIX', 'MAIDEN', 'MARITAL', 'RACE', 'ETHNICITY', 'GENDER', 'BIRTHPLACE', 'ADDRESS', 'CITY', 'STATE', 'COUNTY', 'ZIP', 'LAT', 'LON', 'HEALTHCARE_EXPENSES', 'HEALTHCARE_COVERAGE'</a:t>
            </a:r>
            <a:endParaRPr sz="750">
              <a:solidFill>
                <a:schemeClr val="dk1"/>
              </a:solidFill>
              <a:latin typeface="Courier New"/>
              <a:ea typeface="Courier New"/>
              <a:cs typeface="Courier New"/>
              <a:sym typeface="Courier New"/>
            </a:endParaRPr>
          </a:p>
          <a:p>
            <a:pPr indent="0" lvl="0" marL="0" rtl="0" algn="l">
              <a:lnSpc>
                <a:spcPct val="105000"/>
              </a:lnSpc>
              <a:spcBef>
                <a:spcPts val="1200"/>
              </a:spcBef>
              <a:spcAft>
                <a:spcPts val="0"/>
              </a:spcAft>
              <a:buNone/>
            </a:pPr>
            <a:r>
              <a:rPr lang="en" sz="750">
                <a:solidFill>
                  <a:schemeClr val="dk1"/>
                </a:solidFill>
                <a:latin typeface="Courier New"/>
                <a:ea typeface="Courier New"/>
                <a:cs typeface="Courier New"/>
                <a:sym typeface="Courier New"/>
              </a:rPr>
              <a:t>Age groups:</a:t>
            </a:r>
            <a:endParaRPr sz="750">
              <a:solidFill>
                <a:schemeClr val="dk1"/>
              </a:solidFill>
              <a:latin typeface="Courier New"/>
              <a:ea typeface="Courier New"/>
              <a:cs typeface="Courier New"/>
              <a:sym typeface="Courier New"/>
            </a:endParaRPr>
          </a:p>
          <a:p>
            <a:pPr indent="0" lvl="0" marL="0" rtl="0" algn="l">
              <a:lnSpc>
                <a:spcPct val="105000"/>
              </a:lnSpc>
              <a:spcBef>
                <a:spcPts val="1200"/>
              </a:spcBef>
              <a:spcAft>
                <a:spcPts val="0"/>
              </a:spcAft>
              <a:buNone/>
            </a:pPr>
            <a:r>
              <a:rPr lang="en" sz="750">
                <a:solidFill>
                  <a:schemeClr val="dk1"/>
                </a:solidFill>
                <a:latin typeface="Courier New"/>
                <a:ea typeface="Courier New"/>
                <a:cs typeface="Courier New"/>
                <a:sym typeface="Courier New"/>
              </a:rPr>
              <a:t>Minors (&lt;18): 171 (14.7%)</a:t>
            </a:r>
            <a:endParaRPr sz="750">
              <a:solidFill>
                <a:schemeClr val="dk1"/>
              </a:solidFill>
              <a:latin typeface="Courier New"/>
              <a:ea typeface="Courier New"/>
              <a:cs typeface="Courier New"/>
              <a:sym typeface="Courier New"/>
            </a:endParaRPr>
          </a:p>
          <a:p>
            <a:pPr indent="0" lvl="0" marL="0" rtl="0" algn="l">
              <a:lnSpc>
                <a:spcPct val="105000"/>
              </a:lnSpc>
              <a:spcBef>
                <a:spcPts val="1200"/>
              </a:spcBef>
              <a:spcAft>
                <a:spcPts val="0"/>
              </a:spcAft>
              <a:buNone/>
            </a:pPr>
            <a:r>
              <a:rPr lang="en" sz="750">
                <a:solidFill>
                  <a:schemeClr val="dk1"/>
                </a:solidFill>
                <a:latin typeface="Courier New"/>
                <a:ea typeface="Courier New"/>
                <a:cs typeface="Courier New"/>
                <a:sym typeface="Courier New"/>
              </a:rPr>
              <a:t>Adults (18-64): 670 (57.6%)</a:t>
            </a:r>
            <a:endParaRPr sz="750">
              <a:solidFill>
                <a:schemeClr val="dk1"/>
              </a:solidFill>
              <a:latin typeface="Courier New"/>
              <a:ea typeface="Courier New"/>
              <a:cs typeface="Courier New"/>
              <a:sym typeface="Courier New"/>
            </a:endParaRPr>
          </a:p>
          <a:p>
            <a:pPr indent="0" lvl="0" marL="0" rtl="0" algn="l">
              <a:lnSpc>
                <a:spcPct val="105000"/>
              </a:lnSpc>
              <a:spcBef>
                <a:spcPts val="1200"/>
              </a:spcBef>
              <a:spcAft>
                <a:spcPts val="1200"/>
              </a:spcAft>
              <a:buNone/>
            </a:pPr>
            <a:r>
              <a:rPr lang="en" sz="750">
                <a:solidFill>
                  <a:schemeClr val="dk1"/>
                </a:solidFill>
                <a:latin typeface="Courier New"/>
                <a:ea typeface="Courier New"/>
                <a:cs typeface="Courier New"/>
                <a:sym typeface="Courier New"/>
              </a:rPr>
              <a:t>Elderly (65+): 322 (27.7%)</a:t>
            </a:r>
            <a:endParaRPr sz="1500">
              <a:solidFill>
                <a:schemeClr val="dk1"/>
              </a:solidFill>
            </a:endParaRPr>
          </a:p>
        </p:txBody>
      </p:sp>
      <p:pic>
        <p:nvPicPr>
          <p:cNvPr id="164" name="Google Shape;164;p27"/>
          <p:cNvPicPr preferRelativeResize="0"/>
          <p:nvPr/>
        </p:nvPicPr>
        <p:blipFill>
          <a:blip r:embed="rId3">
            <a:alphaModFix/>
          </a:blip>
          <a:stretch>
            <a:fillRect/>
          </a:stretch>
        </p:blipFill>
        <p:spPr>
          <a:xfrm>
            <a:off x="4140877" y="1853525"/>
            <a:ext cx="4911675" cy="3194625"/>
          </a:xfrm>
          <a:prstGeom prst="rect">
            <a:avLst/>
          </a:prstGeom>
          <a:noFill/>
          <a:ln>
            <a:noFill/>
          </a:ln>
        </p:spPr>
      </p:pic>
      <p:sp>
        <p:nvSpPr>
          <p:cNvPr id="165" name="Google Shape;165;p27"/>
          <p:cNvSpPr txBox="1"/>
          <p:nvPr/>
        </p:nvSpPr>
        <p:spPr>
          <a:xfrm>
            <a:off x="264175" y="2756500"/>
            <a:ext cx="1996200" cy="165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50">
                <a:solidFill>
                  <a:schemeClr val="dk1"/>
                </a:solidFill>
                <a:latin typeface="Courier New"/>
                <a:ea typeface="Courier New"/>
                <a:cs typeface="Courier New"/>
                <a:sym typeface="Courier New"/>
              </a:rPr>
              <a:t>Race distribution:</a:t>
            </a:r>
            <a:endParaRPr sz="6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650">
                <a:solidFill>
                  <a:schemeClr val="dk1"/>
                </a:solidFill>
                <a:latin typeface="Courier New"/>
                <a:ea typeface="Courier New"/>
                <a:cs typeface="Courier New"/>
                <a:sym typeface="Courier New"/>
              </a:rPr>
              <a:t>RACE</a:t>
            </a:r>
            <a:endParaRPr sz="6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650">
                <a:solidFill>
                  <a:schemeClr val="dk1"/>
                </a:solidFill>
                <a:latin typeface="Courier New"/>
                <a:ea typeface="Courier New"/>
                <a:cs typeface="Courier New"/>
                <a:sym typeface="Courier New"/>
              </a:rPr>
              <a:t>white       963</a:t>
            </a:r>
            <a:endParaRPr sz="6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650">
                <a:solidFill>
                  <a:schemeClr val="dk1"/>
                </a:solidFill>
                <a:latin typeface="Courier New"/>
                <a:ea typeface="Courier New"/>
                <a:cs typeface="Courier New"/>
                <a:sym typeface="Courier New"/>
              </a:rPr>
              <a:t>black        96</a:t>
            </a:r>
            <a:endParaRPr sz="6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650">
                <a:solidFill>
                  <a:schemeClr val="dk1"/>
                </a:solidFill>
                <a:latin typeface="Courier New"/>
                <a:ea typeface="Courier New"/>
                <a:cs typeface="Courier New"/>
                <a:sym typeface="Courier New"/>
              </a:rPr>
              <a:t>asian        73</a:t>
            </a:r>
            <a:endParaRPr sz="6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650">
                <a:solidFill>
                  <a:schemeClr val="dk1"/>
                </a:solidFill>
                <a:latin typeface="Courier New"/>
                <a:ea typeface="Courier New"/>
                <a:cs typeface="Courier New"/>
                <a:sym typeface="Courier New"/>
              </a:rPr>
              <a:t>hawaiian     18</a:t>
            </a:r>
            <a:endParaRPr sz="6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650">
                <a:solidFill>
                  <a:schemeClr val="dk1"/>
                </a:solidFill>
                <a:latin typeface="Courier New"/>
                <a:ea typeface="Courier New"/>
                <a:cs typeface="Courier New"/>
                <a:sym typeface="Courier New"/>
              </a:rPr>
              <a:t>other        11</a:t>
            </a:r>
            <a:endParaRPr sz="6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650">
                <a:solidFill>
                  <a:schemeClr val="dk1"/>
                </a:solidFill>
                <a:latin typeface="Courier New"/>
                <a:ea typeface="Courier New"/>
                <a:cs typeface="Courier New"/>
                <a:sym typeface="Courier New"/>
              </a:rPr>
              <a:t>native        2</a:t>
            </a:r>
            <a:endParaRPr sz="6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650">
                <a:solidFill>
                  <a:schemeClr val="dk1"/>
                </a:solidFill>
                <a:latin typeface="Courier New"/>
                <a:ea typeface="Courier New"/>
                <a:cs typeface="Courier New"/>
                <a:sym typeface="Courier New"/>
              </a:rPr>
              <a:t>Name: count, dtype: int64</a:t>
            </a:r>
            <a:endParaRPr sz="65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6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650">
                <a:solidFill>
                  <a:schemeClr val="dk1"/>
                </a:solidFill>
                <a:latin typeface="Courier New"/>
                <a:ea typeface="Courier New"/>
                <a:cs typeface="Courier New"/>
                <a:sym typeface="Courier New"/>
              </a:rPr>
              <a:t>Ethnicity distribution:</a:t>
            </a:r>
            <a:endParaRPr sz="6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650">
                <a:solidFill>
                  <a:schemeClr val="dk1"/>
                </a:solidFill>
                <a:latin typeface="Courier New"/>
                <a:ea typeface="Courier New"/>
                <a:cs typeface="Courier New"/>
                <a:sym typeface="Courier New"/>
              </a:rPr>
              <a:t>ETHNICITY</a:t>
            </a:r>
            <a:endParaRPr sz="6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650">
                <a:solidFill>
                  <a:schemeClr val="dk1"/>
                </a:solidFill>
                <a:latin typeface="Courier New"/>
                <a:ea typeface="Courier New"/>
                <a:cs typeface="Courier New"/>
                <a:sym typeface="Courier New"/>
              </a:rPr>
              <a:t>nonhispanic    1058</a:t>
            </a:r>
            <a:endParaRPr sz="6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650">
                <a:solidFill>
                  <a:schemeClr val="dk1"/>
                </a:solidFill>
                <a:latin typeface="Courier New"/>
                <a:ea typeface="Courier New"/>
                <a:cs typeface="Courier New"/>
                <a:sym typeface="Courier New"/>
              </a:rPr>
              <a:t>hispanic        105</a:t>
            </a:r>
            <a:endParaRPr sz="6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650">
                <a:solidFill>
                  <a:schemeClr val="dk1"/>
                </a:solidFill>
                <a:latin typeface="Courier New"/>
                <a:ea typeface="Courier New"/>
                <a:cs typeface="Courier New"/>
                <a:sym typeface="Courier New"/>
              </a:rPr>
              <a:t>Name: count, dtype: int64</a:t>
            </a:r>
            <a:endParaRPr>
              <a:solidFill>
                <a:schemeClr val="dk1"/>
              </a:solidFill>
            </a:endParaRPr>
          </a:p>
        </p:txBody>
      </p:sp>
      <p:sp>
        <p:nvSpPr>
          <p:cNvPr id="166" name="Google Shape;166;p27"/>
          <p:cNvSpPr txBox="1"/>
          <p:nvPr/>
        </p:nvSpPr>
        <p:spPr>
          <a:xfrm>
            <a:off x="2024700" y="1497600"/>
            <a:ext cx="2062500" cy="214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50">
                <a:solidFill>
                  <a:schemeClr val="dk1"/>
                </a:solidFill>
                <a:latin typeface="Courier New"/>
                <a:ea typeface="Courier New"/>
                <a:cs typeface="Courier New"/>
                <a:sym typeface="Courier New"/>
              </a:rPr>
              <a:t>Found 46 patients with 'alzheimer' related conditions</a:t>
            </a:r>
            <a:endParaRPr sz="6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650">
                <a:solidFill>
                  <a:schemeClr val="dk1"/>
                </a:solidFill>
                <a:latin typeface="Courier New"/>
                <a:ea typeface="Courier New"/>
                <a:cs typeface="Courier New"/>
                <a:sym typeface="Courier New"/>
              </a:rPr>
              <a:t>Example conditions: ["Alzheimer's disease (disorder)"</a:t>
            </a:r>
            <a:endParaRPr sz="6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650">
                <a:solidFill>
                  <a:schemeClr val="dk1"/>
                </a:solidFill>
                <a:latin typeface="Courier New"/>
                <a:ea typeface="Courier New"/>
                <a:cs typeface="Courier New"/>
                <a:sym typeface="Courier New"/>
              </a:rPr>
              <a:t> "Familial Alzheimer's disease of early onset (disorder)"]</a:t>
            </a:r>
            <a:endParaRPr sz="65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6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650">
                <a:solidFill>
                  <a:schemeClr val="dk1"/>
                </a:solidFill>
                <a:latin typeface="Courier New"/>
                <a:ea typeface="Courier New"/>
                <a:cs typeface="Courier New"/>
                <a:sym typeface="Courier New"/>
              </a:rPr>
              <a:t>Found 4 patients with 'intellectual disability' related conditions</a:t>
            </a:r>
            <a:endParaRPr sz="6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650">
                <a:solidFill>
                  <a:schemeClr val="dk1"/>
                </a:solidFill>
                <a:latin typeface="Courier New"/>
                <a:ea typeface="Courier New"/>
                <a:cs typeface="Courier New"/>
                <a:sym typeface="Courier New"/>
              </a:rPr>
              <a:t>Example conditions: ['Intellectual disability (disorder)']</a:t>
            </a:r>
            <a:endParaRPr sz="65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6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650">
                <a:solidFill>
                  <a:schemeClr val="dk1"/>
                </a:solidFill>
                <a:latin typeface="Courier New"/>
                <a:ea typeface="Courier New"/>
                <a:cs typeface="Courier New"/>
                <a:sym typeface="Courier New"/>
              </a:rPr>
              <a:t>Found 49 patients with 'stroke' related conditions</a:t>
            </a:r>
            <a:endParaRPr sz="6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650">
                <a:solidFill>
                  <a:schemeClr val="dk1"/>
                </a:solidFill>
                <a:latin typeface="Courier New"/>
                <a:ea typeface="Courier New"/>
                <a:cs typeface="Courier New"/>
                <a:sym typeface="Courier New"/>
              </a:rPr>
              <a:t>Example conditions: ['Stroke']</a:t>
            </a:r>
            <a:endParaRPr sz="65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6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650">
                <a:solidFill>
                  <a:schemeClr val="dk1"/>
                </a:solidFill>
                <a:latin typeface="Courier New"/>
                <a:ea typeface="Courier New"/>
                <a:cs typeface="Courier New"/>
                <a:sym typeface="Courier New"/>
              </a:rPr>
              <a:t>Found 107 patients with 'anxiety' related conditions</a:t>
            </a:r>
            <a:endParaRPr sz="6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650">
                <a:solidFill>
                  <a:schemeClr val="dk1"/>
                </a:solidFill>
                <a:latin typeface="Courier New"/>
                <a:ea typeface="Courier New"/>
                <a:cs typeface="Courier New"/>
                <a:sym typeface="Courier New"/>
              </a:rPr>
              <a:t>Example conditions: ['Severe anxiety (panic) (finding']</a:t>
            </a:r>
            <a:endParaRPr sz="65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6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650">
                <a:solidFill>
                  <a:schemeClr val="dk1"/>
                </a:solidFill>
                <a:latin typeface="Courier New"/>
                <a:ea typeface="Courier New"/>
                <a:cs typeface="Courier New"/>
                <a:sym typeface="Courier New"/>
              </a:rPr>
              <a:t>Found 1 patients with 'depression' related conditions</a:t>
            </a:r>
            <a:endParaRPr sz="6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650">
                <a:solidFill>
                  <a:schemeClr val="dk1"/>
                </a:solidFill>
                <a:latin typeface="Courier New"/>
                <a:ea typeface="Courier New"/>
                <a:cs typeface="Courier New"/>
                <a:sym typeface="Courier New"/>
              </a:rPr>
              <a:t>Example conditions: ['Major depression disorder']</a:t>
            </a:r>
            <a:endParaRPr sz="65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65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6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650">
                <a:solidFill>
                  <a:schemeClr val="dk1"/>
                </a:solidFill>
                <a:latin typeface="Courier New"/>
                <a:ea typeface="Courier New"/>
                <a:cs typeface="Courier New"/>
                <a:sym typeface="Courier New"/>
              </a:rPr>
              <a:t>Total unique patients with special communication needs: 185</a:t>
            </a:r>
            <a:endParaRPr sz="65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6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650">
                <a:solidFill>
                  <a:schemeClr val="dk1"/>
                </a:solidFill>
                <a:latin typeface="Courier New"/>
                <a:ea typeface="Courier New"/>
                <a:cs typeface="Courier New"/>
                <a:sym typeface="Courier New"/>
              </a:rPr>
              <a:t>Age distribution of patients with special communication needs:</a:t>
            </a:r>
            <a:endParaRPr sz="6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650">
                <a:solidFill>
                  <a:schemeClr val="dk1"/>
                </a:solidFill>
                <a:latin typeface="Courier New"/>
                <a:ea typeface="Courier New"/>
                <a:cs typeface="Courier New"/>
                <a:sym typeface="Courier New"/>
              </a:rPr>
              <a:t>Minors: 1</a:t>
            </a:r>
            <a:endParaRPr sz="6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650">
                <a:solidFill>
                  <a:schemeClr val="dk1"/>
                </a:solidFill>
                <a:latin typeface="Courier New"/>
                <a:ea typeface="Courier New"/>
                <a:cs typeface="Courier New"/>
                <a:sym typeface="Courier New"/>
              </a:rPr>
              <a:t>Adults: 80</a:t>
            </a:r>
            <a:endParaRPr sz="65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650">
                <a:solidFill>
                  <a:schemeClr val="dk1"/>
                </a:solidFill>
                <a:latin typeface="Courier New"/>
                <a:ea typeface="Courier New"/>
                <a:cs typeface="Courier New"/>
                <a:sym typeface="Courier New"/>
              </a:rPr>
              <a:t>Elderly: 104</a:t>
            </a:r>
            <a:endParaRPr>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8"/>
          <p:cNvSpPr txBox="1"/>
          <p:nvPr>
            <p:ph type="title"/>
          </p:nvPr>
        </p:nvSpPr>
        <p:spPr>
          <a:xfrm>
            <a:off x="510450" y="2057400"/>
            <a:ext cx="8123100" cy="7788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Prompt Engineering: Basic Summarization with Llama4</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9"/>
          <p:cNvSpPr txBox="1"/>
          <p:nvPr>
            <p:ph type="title"/>
          </p:nvPr>
        </p:nvSpPr>
        <p:spPr>
          <a:xfrm>
            <a:off x="311700" y="0"/>
            <a:ext cx="4424400" cy="1017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Pulling Patient Data to include in a prompt (Basic)</a:t>
            </a:r>
            <a:endParaRPr/>
          </a:p>
        </p:txBody>
      </p:sp>
      <p:sp>
        <p:nvSpPr>
          <p:cNvPr id="177" name="Google Shape;177;p29"/>
          <p:cNvSpPr txBox="1"/>
          <p:nvPr>
            <p:ph idx="1" type="body"/>
          </p:nvPr>
        </p:nvSpPr>
        <p:spPr>
          <a:xfrm>
            <a:off x="0" y="968375"/>
            <a:ext cx="4736100" cy="285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050">
                <a:solidFill>
                  <a:schemeClr val="dk1"/>
                </a:solidFill>
                <a:latin typeface="Courier New"/>
                <a:ea typeface="Courier New"/>
                <a:cs typeface="Courier New"/>
                <a:sym typeface="Courier New"/>
              </a:rPr>
              <a:t>Sample patient summary for patient 51c7ff6a-33e3-3e1b-d3ad-0035c8227dfa:</a:t>
            </a:r>
            <a:endParaRPr sz="1050">
              <a:solidFill>
                <a:schemeClr val="dk1"/>
              </a:solidFill>
              <a:latin typeface="Courier New"/>
              <a:ea typeface="Courier New"/>
              <a:cs typeface="Courier New"/>
              <a:sym typeface="Courier New"/>
            </a:endParaRPr>
          </a:p>
          <a:p>
            <a:pPr indent="0" lvl="0" marL="0" rtl="0" algn="l">
              <a:spcBef>
                <a:spcPts val="1200"/>
              </a:spcBef>
              <a:spcAft>
                <a:spcPts val="0"/>
              </a:spcAft>
              <a:buNone/>
            </a:pPr>
            <a:r>
              <a:rPr lang="en" sz="1050">
                <a:solidFill>
                  <a:schemeClr val="dk1"/>
                </a:solidFill>
                <a:latin typeface="Courier New"/>
                <a:ea typeface="Courier New"/>
                <a:cs typeface="Courier New"/>
                <a:sym typeface="Courier New"/>
              </a:rPr>
              <a:t>Age: 23, Gender: F</a:t>
            </a:r>
            <a:endParaRPr sz="1050">
              <a:solidFill>
                <a:schemeClr val="dk1"/>
              </a:solidFill>
              <a:latin typeface="Courier New"/>
              <a:ea typeface="Courier New"/>
              <a:cs typeface="Courier New"/>
              <a:sym typeface="Courier New"/>
            </a:endParaRPr>
          </a:p>
          <a:p>
            <a:pPr indent="0" lvl="0" marL="0" rtl="0" algn="l">
              <a:spcBef>
                <a:spcPts val="1200"/>
              </a:spcBef>
              <a:spcAft>
                <a:spcPts val="0"/>
              </a:spcAft>
              <a:buNone/>
            </a:pPr>
            <a:r>
              <a:rPr lang="en" sz="1050">
                <a:solidFill>
                  <a:schemeClr val="dk1"/>
                </a:solidFill>
                <a:latin typeface="Courier New"/>
                <a:ea typeface="Courier New"/>
                <a:cs typeface="Courier New"/>
                <a:sym typeface="Courier New"/>
              </a:rPr>
              <a:t>Current conditions: ['Chronic low back pain (finding)', 'Chronic neck pain (finding)', 'Hypertension']...</a:t>
            </a:r>
            <a:endParaRPr sz="1050">
              <a:solidFill>
                <a:schemeClr val="dk1"/>
              </a:solidFill>
              <a:latin typeface="Courier New"/>
              <a:ea typeface="Courier New"/>
              <a:cs typeface="Courier New"/>
              <a:sym typeface="Courier New"/>
            </a:endParaRPr>
          </a:p>
          <a:p>
            <a:pPr indent="0" lvl="0" marL="0" rtl="0" algn="l">
              <a:spcBef>
                <a:spcPts val="1200"/>
              </a:spcBef>
              <a:spcAft>
                <a:spcPts val="0"/>
              </a:spcAft>
              <a:buNone/>
            </a:pPr>
            <a:r>
              <a:rPr lang="en" sz="1050">
                <a:solidFill>
                  <a:schemeClr val="dk1"/>
                </a:solidFill>
                <a:latin typeface="Courier New"/>
                <a:ea typeface="Courier New"/>
                <a:cs typeface="Courier New"/>
                <a:sym typeface="Courier New"/>
              </a:rPr>
              <a:t>Current medications: ['Acetaminophen 325 MG</a:t>
            </a:r>
            <a:r>
              <a:rPr lang="en" sz="1050">
                <a:solidFill>
                  <a:schemeClr val="dk1"/>
                </a:solidFill>
                <a:uFill>
                  <a:noFill/>
                </a:uFill>
                <a:latin typeface="Courier New"/>
                <a:ea typeface="Courier New"/>
                <a:cs typeface="Courier New"/>
                <a:sym typeface="Courier New"/>
                <a:hlinkClick r:id="rId3">
                  <a:extLst>
                    <a:ext uri="{A12FA001-AC4F-418D-AE19-62706E023703}">
                      <ahyp:hlinkClr val="tx"/>
                    </a:ext>
                  </a:extLst>
                </a:hlinkClick>
              </a:rPr>
              <a:t> </a:t>
            </a:r>
            <a:r>
              <a:rPr lang="en" sz="1050" u="sng">
                <a:solidFill>
                  <a:schemeClr val="dk1"/>
                </a:solidFill>
                <a:latin typeface="Courier New"/>
                <a:ea typeface="Courier New"/>
                <a:cs typeface="Courier New"/>
                <a:sym typeface="Courier New"/>
                <a:hlinkClick r:id="rId4">
                  <a:extLst>
                    <a:ext uri="{A12FA001-AC4F-418D-AE19-62706E023703}">
                      <ahyp:hlinkClr val="tx"/>
                    </a:ext>
                  </a:extLst>
                </a:hlinkClick>
              </a:rPr>
              <a:t>/</a:t>
            </a:r>
            <a:r>
              <a:rPr lang="en" sz="1050">
                <a:solidFill>
                  <a:schemeClr val="dk1"/>
                </a:solidFill>
                <a:latin typeface="Courier New"/>
                <a:ea typeface="Courier New"/>
                <a:cs typeface="Courier New"/>
                <a:sym typeface="Courier New"/>
              </a:rPr>
              <a:t> HYDROcodone Bitartrate 7.5 MG Oral Tablet', 'Hydrochlorothiazide 25 MG Oral Tablet', 'lisinopril 10 MG Oral Tablet']...</a:t>
            </a:r>
            <a:endParaRPr sz="1050">
              <a:solidFill>
                <a:schemeClr val="dk1"/>
              </a:solidFill>
              <a:latin typeface="Courier New"/>
              <a:ea typeface="Courier New"/>
              <a:cs typeface="Courier New"/>
              <a:sym typeface="Courier New"/>
            </a:endParaRPr>
          </a:p>
          <a:p>
            <a:pPr indent="0" lvl="0" marL="0" rtl="0" algn="l">
              <a:spcBef>
                <a:spcPts val="1200"/>
              </a:spcBef>
              <a:spcAft>
                <a:spcPts val="1200"/>
              </a:spcAft>
              <a:buNone/>
            </a:pPr>
            <a:r>
              <a:rPr lang="en" sz="1050">
                <a:solidFill>
                  <a:schemeClr val="dk1"/>
                </a:solidFill>
                <a:latin typeface="Courier New"/>
                <a:ea typeface="Courier New"/>
                <a:cs typeface="Courier New"/>
                <a:sym typeface="Courier New"/>
              </a:rPr>
              <a:t>Recent encounters: 5</a:t>
            </a:r>
            <a:endParaRPr sz="1050">
              <a:solidFill>
                <a:schemeClr val="dk1"/>
              </a:solidFill>
              <a:latin typeface="Courier New"/>
              <a:ea typeface="Courier New"/>
              <a:cs typeface="Courier New"/>
              <a:sym typeface="Courier New"/>
            </a:endParaRPr>
          </a:p>
        </p:txBody>
      </p:sp>
      <p:pic>
        <p:nvPicPr>
          <p:cNvPr id="178" name="Google Shape;178;p29"/>
          <p:cNvPicPr preferRelativeResize="0"/>
          <p:nvPr/>
        </p:nvPicPr>
        <p:blipFill>
          <a:blip r:embed="rId5">
            <a:alphaModFix/>
          </a:blip>
          <a:stretch>
            <a:fillRect/>
          </a:stretch>
        </p:blipFill>
        <p:spPr>
          <a:xfrm>
            <a:off x="4735952" y="0"/>
            <a:ext cx="4747847" cy="5143501"/>
          </a:xfrm>
          <a:prstGeom prst="rect">
            <a:avLst/>
          </a:prstGeom>
          <a:noFill/>
          <a:ln>
            <a:noFill/>
          </a:ln>
        </p:spPr>
      </p:pic>
      <p:sp>
        <p:nvSpPr>
          <p:cNvPr id="179" name="Google Shape;179;p29"/>
          <p:cNvSpPr txBox="1"/>
          <p:nvPr/>
        </p:nvSpPr>
        <p:spPr>
          <a:xfrm>
            <a:off x="237650" y="3821075"/>
            <a:ext cx="4381800" cy="128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This is fine, but I believe we can pull more info from these charts and format it for making the best inferences and summaries</a:t>
            </a:r>
            <a:endParaRPr sz="1800">
              <a:solidFill>
                <a:schemeClr val="dk2"/>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0"/>
          <p:cNvSpPr txBox="1"/>
          <p:nvPr>
            <p:ph type="title"/>
          </p:nvPr>
        </p:nvSpPr>
        <p:spPr>
          <a:xfrm>
            <a:off x="-57025" y="0"/>
            <a:ext cx="6199800" cy="1017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Testing Summarization - Complete Patient History</a:t>
            </a:r>
            <a:endParaRPr/>
          </a:p>
        </p:txBody>
      </p:sp>
      <p:sp>
        <p:nvSpPr>
          <p:cNvPr id="185" name="Google Shape;185;p30"/>
          <p:cNvSpPr txBox="1"/>
          <p:nvPr>
            <p:ph idx="1" type="body"/>
          </p:nvPr>
        </p:nvSpPr>
        <p:spPr>
          <a:xfrm>
            <a:off x="0" y="1152475"/>
            <a:ext cx="6102300" cy="3990900"/>
          </a:xfrm>
          <a:prstGeom prst="rect">
            <a:avLst/>
          </a:prstGeom>
        </p:spPr>
        <p:txBody>
          <a:bodyPr anchorCtr="0" anchor="t" bIns="91425" lIns="91425" spcFirstLastPara="1" rIns="91425" wrap="square" tIns="91425">
            <a:normAutofit fontScale="77500" lnSpcReduction="20000"/>
          </a:bodyPr>
          <a:lstStyle/>
          <a:p>
            <a:pPr indent="0" lvl="0" marL="0" rtl="0" algn="l">
              <a:spcBef>
                <a:spcPts val="1200"/>
              </a:spcBef>
              <a:spcAft>
                <a:spcPts val="0"/>
              </a:spcAft>
              <a:buClr>
                <a:schemeClr val="dk1"/>
              </a:buClr>
              <a:buSzPct val="100000"/>
              <a:buFont typeface="Arial"/>
              <a:buNone/>
            </a:pPr>
            <a:r>
              <a:rPr b="1" lang="en" sz="1100">
                <a:solidFill>
                  <a:schemeClr val="dk1"/>
                </a:solidFill>
              </a:rPr>
              <a:t>Purpose</a:t>
            </a:r>
            <a:br>
              <a:rPr b="1" lang="en" sz="1100">
                <a:solidFill>
                  <a:schemeClr val="dk1"/>
                </a:solidFill>
              </a:rPr>
            </a:br>
            <a:r>
              <a:rPr lang="en" sz="1100">
                <a:solidFill>
                  <a:schemeClr val="dk1"/>
                </a:solidFill>
              </a:rPr>
              <a:t> This function consolidates all available clinical data for a given patient ID into a structured profile.</a:t>
            </a:r>
            <a:endParaRPr sz="1100">
              <a:solidFill>
                <a:schemeClr val="dk1"/>
              </a:solidFill>
            </a:endParaRPr>
          </a:p>
          <a:p>
            <a:pPr indent="0" lvl="0" marL="0" rtl="0" algn="l">
              <a:spcBef>
                <a:spcPts val="1200"/>
              </a:spcBef>
              <a:spcAft>
                <a:spcPts val="0"/>
              </a:spcAft>
              <a:buClr>
                <a:schemeClr val="dk1"/>
              </a:buClr>
              <a:buSzPct val="100000"/>
              <a:buFont typeface="Arial"/>
              <a:buNone/>
            </a:pPr>
            <a:r>
              <a:rPr b="1" lang="en" sz="1100">
                <a:solidFill>
                  <a:schemeClr val="dk1"/>
                </a:solidFill>
              </a:rPr>
              <a:t>Key Components</a:t>
            </a:r>
            <a:endParaRPr b="1" sz="1100">
              <a:solidFill>
                <a:schemeClr val="dk1"/>
              </a:solidFill>
            </a:endParaRPr>
          </a:p>
          <a:p>
            <a:pPr indent="-282733" lvl="0" marL="457200" rtl="0" algn="l">
              <a:spcBef>
                <a:spcPts val="1200"/>
              </a:spcBef>
              <a:spcAft>
                <a:spcPts val="0"/>
              </a:spcAft>
              <a:buClr>
                <a:schemeClr val="dk1"/>
              </a:buClr>
              <a:buSzPct val="100000"/>
              <a:buChar char="●"/>
            </a:pPr>
            <a:r>
              <a:rPr lang="en" sz="1100">
                <a:solidFill>
                  <a:schemeClr val="dk1"/>
                </a:solidFill>
              </a:rPr>
              <a:t>Pulls data from multiple Synthia dataset tables:</a:t>
            </a:r>
            <a:br>
              <a:rPr lang="en" sz="1100">
                <a:solidFill>
                  <a:schemeClr val="dk1"/>
                </a:solidFill>
              </a:rPr>
            </a:br>
            <a:endParaRPr sz="1100">
              <a:solidFill>
                <a:schemeClr val="dk1"/>
              </a:solidFill>
            </a:endParaRPr>
          </a:p>
          <a:p>
            <a:pPr indent="-282733" lvl="1" marL="914400" rtl="0" algn="l">
              <a:spcBef>
                <a:spcPts val="0"/>
              </a:spcBef>
              <a:spcAft>
                <a:spcPts val="0"/>
              </a:spcAft>
              <a:buClr>
                <a:schemeClr val="dk1"/>
              </a:buClr>
              <a:buSzPct val="100000"/>
              <a:buChar char="○"/>
            </a:pPr>
            <a:r>
              <a:rPr b="1" lang="en" sz="1100">
                <a:solidFill>
                  <a:schemeClr val="dk1"/>
                </a:solidFill>
              </a:rPr>
              <a:t>Demographics</a:t>
            </a:r>
            <a:r>
              <a:rPr lang="en" sz="1100">
                <a:solidFill>
                  <a:schemeClr val="dk1"/>
                </a:solidFill>
              </a:rPr>
              <a:t> (age, race, gender, address)</a:t>
            </a:r>
            <a:br>
              <a:rPr lang="en" sz="1100">
                <a:solidFill>
                  <a:schemeClr val="dk1"/>
                </a:solidFill>
              </a:rPr>
            </a:br>
            <a:endParaRPr sz="1100">
              <a:solidFill>
                <a:schemeClr val="dk1"/>
              </a:solidFill>
            </a:endParaRPr>
          </a:p>
          <a:p>
            <a:pPr indent="-282733" lvl="1" marL="914400" rtl="0" algn="l">
              <a:spcBef>
                <a:spcPts val="0"/>
              </a:spcBef>
              <a:spcAft>
                <a:spcPts val="0"/>
              </a:spcAft>
              <a:buClr>
                <a:schemeClr val="dk1"/>
              </a:buClr>
              <a:buSzPct val="100000"/>
              <a:buChar char="○"/>
            </a:pPr>
            <a:r>
              <a:rPr b="1" lang="en" sz="1100">
                <a:solidFill>
                  <a:schemeClr val="dk1"/>
                </a:solidFill>
              </a:rPr>
              <a:t>Medical conditions</a:t>
            </a:r>
            <a:r>
              <a:rPr lang="en" sz="1100">
                <a:solidFill>
                  <a:schemeClr val="dk1"/>
                </a:solidFill>
              </a:rPr>
              <a:t>, </a:t>
            </a:r>
            <a:r>
              <a:rPr b="1" lang="en" sz="1100">
                <a:solidFill>
                  <a:schemeClr val="dk1"/>
                </a:solidFill>
              </a:rPr>
              <a:t>medications</a:t>
            </a:r>
            <a:r>
              <a:rPr lang="en" sz="1100">
                <a:solidFill>
                  <a:schemeClr val="dk1"/>
                </a:solidFill>
              </a:rPr>
              <a:t>, </a:t>
            </a:r>
            <a:r>
              <a:rPr b="1" lang="en" sz="1100">
                <a:solidFill>
                  <a:schemeClr val="dk1"/>
                </a:solidFill>
              </a:rPr>
              <a:t>encounters</a:t>
            </a:r>
            <a:r>
              <a:rPr lang="en" sz="1100">
                <a:solidFill>
                  <a:schemeClr val="dk1"/>
                </a:solidFill>
              </a:rPr>
              <a:t>, </a:t>
            </a:r>
            <a:r>
              <a:rPr b="1" lang="en" sz="1100">
                <a:solidFill>
                  <a:schemeClr val="dk1"/>
                </a:solidFill>
              </a:rPr>
              <a:t>procedures</a:t>
            </a:r>
            <a:r>
              <a:rPr lang="en" sz="1100">
                <a:solidFill>
                  <a:schemeClr val="dk1"/>
                </a:solidFill>
              </a:rPr>
              <a:t>, and </a:t>
            </a:r>
            <a:r>
              <a:rPr b="1" lang="en" sz="1100">
                <a:solidFill>
                  <a:schemeClr val="dk1"/>
                </a:solidFill>
              </a:rPr>
              <a:t>allergies</a:t>
            </a:r>
            <a:br>
              <a:rPr b="1" lang="en" sz="1100">
                <a:solidFill>
                  <a:schemeClr val="dk1"/>
                </a:solidFill>
              </a:rPr>
            </a:br>
            <a:endParaRPr b="1" sz="1100">
              <a:solidFill>
                <a:schemeClr val="dk1"/>
              </a:solidFill>
            </a:endParaRPr>
          </a:p>
          <a:p>
            <a:pPr indent="-282733" lvl="0" marL="457200" rtl="0" algn="l">
              <a:spcBef>
                <a:spcPts val="0"/>
              </a:spcBef>
              <a:spcAft>
                <a:spcPts val="0"/>
              </a:spcAft>
              <a:buClr>
                <a:schemeClr val="dk1"/>
              </a:buClr>
              <a:buSzPct val="100000"/>
              <a:buChar char="●"/>
            </a:pPr>
            <a:r>
              <a:rPr lang="en" sz="1100">
                <a:solidFill>
                  <a:schemeClr val="dk1"/>
                </a:solidFill>
              </a:rPr>
              <a:t>Sorts events chronologically by start date</a:t>
            </a:r>
            <a:br>
              <a:rPr lang="en" sz="1100">
                <a:solidFill>
                  <a:schemeClr val="dk1"/>
                </a:solidFill>
              </a:rPr>
            </a:br>
            <a:endParaRPr sz="1100">
              <a:solidFill>
                <a:schemeClr val="dk1"/>
              </a:solidFill>
            </a:endParaRPr>
          </a:p>
          <a:p>
            <a:pPr indent="-282733" lvl="0" marL="457200" rtl="0" algn="l">
              <a:spcBef>
                <a:spcPts val="0"/>
              </a:spcBef>
              <a:spcAft>
                <a:spcPts val="0"/>
              </a:spcAft>
              <a:buClr>
                <a:schemeClr val="dk1"/>
              </a:buClr>
              <a:buSzPct val="100000"/>
              <a:buChar char="●"/>
            </a:pPr>
            <a:r>
              <a:rPr lang="en" sz="1100">
                <a:solidFill>
                  <a:schemeClr val="dk1"/>
                </a:solidFill>
              </a:rPr>
              <a:t>Handles missing or incomplete data gracefully</a:t>
            </a:r>
            <a:br>
              <a:rPr lang="en" sz="1100">
                <a:solidFill>
                  <a:schemeClr val="dk1"/>
                </a:solidFill>
              </a:rPr>
            </a:br>
            <a:endParaRPr sz="1100">
              <a:solidFill>
                <a:schemeClr val="dk1"/>
              </a:solidFill>
            </a:endParaRPr>
          </a:p>
          <a:p>
            <a:pPr indent="-282733" lvl="0" marL="457200" rtl="0" algn="l">
              <a:spcBef>
                <a:spcPts val="0"/>
              </a:spcBef>
              <a:spcAft>
                <a:spcPts val="0"/>
              </a:spcAft>
              <a:buClr>
                <a:schemeClr val="dk1"/>
              </a:buClr>
              <a:buSzPct val="100000"/>
              <a:buChar char="●"/>
            </a:pPr>
            <a:r>
              <a:rPr lang="en" sz="1100">
                <a:solidFill>
                  <a:schemeClr val="dk1"/>
                </a:solidFill>
              </a:rPr>
              <a:t>Returns a unified patient profile as a Python dictionary</a:t>
            </a:r>
            <a:br>
              <a:rPr lang="en" sz="1100">
                <a:solidFill>
                  <a:schemeClr val="dk1"/>
                </a:solidFill>
              </a:rPr>
            </a:br>
            <a:endParaRPr sz="1100">
              <a:solidFill>
                <a:schemeClr val="dk1"/>
              </a:solidFill>
            </a:endParaRPr>
          </a:p>
          <a:p>
            <a:pPr indent="0" lvl="0" marL="0" rtl="0" algn="l">
              <a:spcBef>
                <a:spcPts val="1200"/>
              </a:spcBef>
              <a:spcAft>
                <a:spcPts val="0"/>
              </a:spcAft>
              <a:buClr>
                <a:schemeClr val="dk1"/>
              </a:buClr>
              <a:buSzPct val="100000"/>
              <a:buFont typeface="Arial"/>
              <a:buNone/>
            </a:pPr>
            <a:r>
              <a:rPr b="1" lang="en" sz="1100">
                <a:solidFill>
                  <a:schemeClr val="dk1"/>
                </a:solidFill>
              </a:rPr>
              <a:t>Why It Matters</a:t>
            </a:r>
            <a:endParaRPr b="1" sz="1100">
              <a:solidFill>
                <a:schemeClr val="dk1"/>
              </a:solidFill>
            </a:endParaRPr>
          </a:p>
          <a:p>
            <a:pPr indent="-282733" lvl="0" marL="457200" rtl="0" algn="l">
              <a:spcBef>
                <a:spcPts val="1200"/>
              </a:spcBef>
              <a:spcAft>
                <a:spcPts val="0"/>
              </a:spcAft>
              <a:buClr>
                <a:schemeClr val="dk1"/>
              </a:buClr>
              <a:buSzPct val="100000"/>
              <a:buChar char="●"/>
            </a:pPr>
            <a:r>
              <a:rPr lang="en" sz="1100">
                <a:solidFill>
                  <a:schemeClr val="dk1"/>
                </a:solidFill>
              </a:rPr>
              <a:t>Enables </a:t>
            </a:r>
            <a:r>
              <a:rPr b="1" lang="en" sz="1100">
                <a:solidFill>
                  <a:schemeClr val="dk1"/>
                </a:solidFill>
              </a:rPr>
              <a:t>patient-specific analysis</a:t>
            </a:r>
            <a:r>
              <a:rPr lang="en" sz="1100">
                <a:solidFill>
                  <a:schemeClr val="dk1"/>
                </a:solidFill>
              </a:rPr>
              <a:t> and case studies</a:t>
            </a:r>
            <a:br>
              <a:rPr lang="en" sz="1100">
                <a:solidFill>
                  <a:schemeClr val="dk1"/>
                </a:solidFill>
              </a:rPr>
            </a:br>
            <a:endParaRPr sz="1100">
              <a:solidFill>
                <a:schemeClr val="dk1"/>
              </a:solidFill>
            </a:endParaRPr>
          </a:p>
          <a:p>
            <a:pPr indent="-282733" lvl="0" marL="457200" rtl="0" algn="l">
              <a:spcBef>
                <a:spcPts val="0"/>
              </a:spcBef>
              <a:spcAft>
                <a:spcPts val="0"/>
              </a:spcAft>
              <a:buClr>
                <a:schemeClr val="dk1"/>
              </a:buClr>
              <a:buSzPct val="100000"/>
              <a:buChar char="●"/>
            </a:pPr>
            <a:r>
              <a:rPr lang="en" sz="1100">
                <a:solidFill>
                  <a:schemeClr val="dk1"/>
                </a:solidFill>
              </a:rPr>
              <a:t>Lays the foundation for </a:t>
            </a:r>
            <a:r>
              <a:rPr b="1" lang="en" sz="1100">
                <a:solidFill>
                  <a:schemeClr val="dk1"/>
                </a:solidFill>
              </a:rPr>
              <a:t>NLP applications</a:t>
            </a:r>
            <a:r>
              <a:rPr lang="en" sz="1100">
                <a:solidFill>
                  <a:schemeClr val="dk1"/>
                </a:solidFill>
              </a:rPr>
              <a:t>, such as summarization or literacy adjustments</a:t>
            </a:r>
            <a:br>
              <a:rPr lang="en" sz="1100">
                <a:solidFill>
                  <a:schemeClr val="dk1"/>
                </a:solidFill>
              </a:rPr>
            </a:br>
            <a:endParaRPr sz="1100">
              <a:solidFill>
                <a:schemeClr val="dk1"/>
              </a:solidFill>
            </a:endParaRPr>
          </a:p>
          <a:p>
            <a:pPr indent="-282733" lvl="0" marL="457200" rtl="0" algn="l">
              <a:spcBef>
                <a:spcPts val="0"/>
              </a:spcBef>
              <a:spcAft>
                <a:spcPts val="0"/>
              </a:spcAft>
              <a:buClr>
                <a:schemeClr val="dk1"/>
              </a:buClr>
              <a:buSzPct val="100000"/>
              <a:buChar char="●"/>
            </a:pPr>
            <a:r>
              <a:rPr lang="en" sz="1100">
                <a:solidFill>
                  <a:schemeClr val="dk1"/>
                </a:solidFill>
              </a:rPr>
              <a:t>Ensures all relevant clinical details are in one place for downstream use</a:t>
            </a:r>
            <a:endParaRPr sz="1100">
              <a:solidFill>
                <a:schemeClr val="dk1"/>
              </a:solidFill>
            </a:endParaRPr>
          </a:p>
          <a:p>
            <a:pPr indent="0" lvl="0" marL="0" rtl="0" algn="l">
              <a:spcBef>
                <a:spcPts val="1200"/>
              </a:spcBef>
              <a:spcAft>
                <a:spcPts val="1200"/>
              </a:spcAft>
              <a:buNone/>
            </a:pPr>
            <a:r>
              <a:t/>
            </a:r>
            <a:endParaRPr/>
          </a:p>
        </p:txBody>
      </p:sp>
      <p:pic>
        <p:nvPicPr>
          <p:cNvPr id="186" name="Google Shape;186;p30"/>
          <p:cNvPicPr preferRelativeResize="0"/>
          <p:nvPr/>
        </p:nvPicPr>
        <p:blipFill>
          <a:blip r:embed="rId3">
            <a:alphaModFix/>
          </a:blip>
          <a:stretch>
            <a:fillRect/>
          </a:stretch>
        </p:blipFill>
        <p:spPr>
          <a:xfrm>
            <a:off x="6142769" y="0"/>
            <a:ext cx="3001213" cy="514350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1"/>
          <p:cNvSpPr txBox="1"/>
          <p:nvPr>
            <p:ph type="title"/>
          </p:nvPr>
        </p:nvSpPr>
        <p:spPr>
          <a:xfrm>
            <a:off x="0" y="0"/>
            <a:ext cx="3588000" cy="101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620"/>
              <a:t>Testing Summarization:Prompt Formatting using In-Context Learning</a:t>
            </a:r>
            <a:endParaRPr sz="1620"/>
          </a:p>
        </p:txBody>
      </p:sp>
      <p:sp>
        <p:nvSpPr>
          <p:cNvPr id="192" name="Google Shape;192;p31"/>
          <p:cNvSpPr txBox="1"/>
          <p:nvPr>
            <p:ph idx="1" type="body"/>
          </p:nvPr>
        </p:nvSpPr>
        <p:spPr>
          <a:xfrm>
            <a:off x="0" y="616825"/>
            <a:ext cx="3612000" cy="4402500"/>
          </a:xfrm>
          <a:prstGeom prst="rect">
            <a:avLst/>
          </a:prstGeom>
        </p:spPr>
        <p:txBody>
          <a:bodyPr anchorCtr="0" anchor="t" bIns="91425" lIns="91425" spcFirstLastPara="1" rIns="91425" wrap="square" tIns="91425">
            <a:normAutofit fontScale="55000" lnSpcReduction="20000"/>
          </a:bodyPr>
          <a:lstStyle/>
          <a:p>
            <a:pPr indent="0" lvl="0" marL="0" rtl="0" algn="l">
              <a:spcBef>
                <a:spcPts val="1200"/>
              </a:spcBef>
              <a:spcAft>
                <a:spcPts val="0"/>
              </a:spcAft>
              <a:buClr>
                <a:schemeClr val="dk1"/>
              </a:buClr>
              <a:buSzPct val="100000"/>
              <a:buFont typeface="Arial"/>
              <a:buNone/>
            </a:pPr>
            <a:r>
              <a:rPr b="1" lang="en" sz="1100">
                <a:solidFill>
                  <a:schemeClr val="dk1"/>
                </a:solidFill>
              </a:rPr>
              <a:t>Purpose</a:t>
            </a:r>
            <a:br>
              <a:rPr b="1" lang="en" sz="1100">
                <a:solidFill>
                  <a:schemeClr val="dk1"/>
                </a:solidFill>
              </a:rPr>
            </a:br>
            <a:r>
              <a:rPr lang="en" sz="1100">
                <a:solidFill>
                  <a:schemeClr val="dk1"/>
                </a:solidFill>
              </a:rPr>
              <a:t> This function transforms structured patient data into a </a:t>
            </a:r>
            <a:r>
              <a:rPr b="1" lang="en" sz="1100">
                <a:solidFill>
                  <a:schemeClr val="dk1"/>
                </a:solidFill>
              </a:rPr>
              <a:t>customized prompt</a:t>
            </a:r>
            <a:r>
              <a:rPr lang="en" sz="1100">
                <a:solidFill>
                  <a:schemeClr val="dk1"/>
                </a:solidFill>
              </a:rPr>
              <a:t> for a language model to generate a simplified discharge summary, tailored to specific patient needs.</a:t>
            </a:r>
            <a:endParaRPr sz="1100">
              <a:solidFill>
                <a:schemeClr val="dk1"/>
              </a:solidFill>
            </a:endParaRPr>
          </a:p>
          <a:p>
            <a:pPr indent="0" lvl="0" marL="0" rtl="0" algn="l">
              <a:spcBef>
                <a:spcPts val="1200"/>
              </a:spcBef>
              <a:spcAft>
                <a:spcPts val="0"/>
              </a:spcAft>
              <a:buClr>
                <a:schemeClr val="dk1"/>
              </a:buClr>
              <a:buSzPct val="100000"/>
              <a:buFont typeface="Arial"/>
              <a:buNone/>
            </a:pPr>
            <a:r>
              <a:rPr b="1" lang="en" sz="1100">
                <a:solidFill>
                  <a:schemeClr val="dk1"/>
                </a:solidFill>
              </a:rPr>
              <a:t>How It Works</a:t>
            </a:r>
            <a:endParaRPr b="1" sz="1100">
              <a:solidFill>
                <a:schemeClr val="dk1"/>
              </a:solidFill>
            </a:endParaRPr>
          </a:p>
          <a:p>
            <a:pPr indent="-267017" lvl="0" marL="457200" rtl="0" algn="l">
              <a:spcBef>
                <a:spcPts val="1200"/>
              </a:spcBef>
              <a:spcAft>
                <a:spcPts val="0"/>
              </a:spcAft>
              <a:buClr>
                <a:schemeClr val="dk1"/>
              </a:buClr>
              <a:buSzPct val="100000"/>
              <a:buChar char="●"/>
            </a:pPr>
            <a:r>
              <a:rPr lang="en" sz="1100">
                <a:solidFill>
                  <a:schemeClr val="dk1"/>
                </a:solidFill>
              </a:rPr>
              <a:t>Accepts:</a:t>
            </a:r>
            <a:br>
              <a:rPr lang="en" sz="1100">
                <a:solidFill>
                  <a:schemeClr val="dk1"/>
                </a:solidFill>
              </a:rPr>
            </a:br>
            <a:endParaRPr sz="1100">
              <a:solidFill>
                <a:schemeClr val="dk1"/>
              </a:solidFill>
            </a:endParaRPr>
          </a:p>
          <a:p>
            <a:pPr indent="-267017" lvl="1" marL="914400" rtl="0" algn="l">
              <a:spcBef>
                <a:spcPts val="0"/>
              </a:spcBef>
              <a:spcAft>
                <a:spcPts val="0"/>
              </a:spcAft>
              <a:buClr>
                <a:schemeClr val="dk1"/>
              </a:buClr>
              <a:buSzPct val="100000"/>
              <a:buChar char="○"/>
            </a:pPr>
            <a:r>
              <a:rPr lang="en" sz="1100">
                <a:solidFill>
                  <a:srgbClr val="188038"/>
                </a:solidFill>
                <a:latin typeface="Roboto Mono"/>
                <a:ea typeface="Roboto Mono"/>
                <a:cs typeface="Roboto Mono"/>
                <a:sym typeface="Roboto Mono"/>
              </a:rPr>
              <a:t>patient_history</a:t>
            </a:r>
            <a:r>
              <a:rPr lang="en" sz="1100">
                <a:solidFill>
                  <a:schemeClr val="dk1"/>
                </a:solidFill>
              </a:rPr>
              <a:t>: structured medical data</a:t>
            </a:r>
            <a:br>
              <a:rPr lang="en" sz="1100">
                <a:solidFill>
                  <a:schemeClr val="dk1"/>
                </a:solidFill>
              </a:rPr>
            </a:br>
            <a:endParaRPr sz="1100">
              <a:solidFill>
                <a:schemeClr val="dk1"/>
              </a:solidFill>
            </a:endParaRPr>
          </a:p>
          <a:p>
            <a:pPr indent="-267017" lvl="1" marL="914400" rtl="0" algn="l">
              <a:spcBef>
                <a:spcPts val="0"/>
              </a:spcBef>
              <a:spcAft>
                <a:spcPts val="0"/>
              </a:spcAft>
              <a:buClr>
                <a:schemeClr val="dk1"/>
              </a:buClr>
              <a:buSzPct val="100000"/>
              <a:buChar char="○"/>
            </a:pPr>
            <a:r>
              <a:rPr lang="en" sz="1100">
                <a:solidFill>
                  <a:srgbClr val="188038"/>
                </a:solidFill>
                <a:latin typeface="Roboto Mono"/>
                <a:ea typeface="Roboto Mono"/>
                <a:cs typeface="Roboto Mono"/>
                <a:sym typeface="Roboto Mono"/>
              </a:rPr>
              <a:t>target_audience</a:t>
            </a:r>
            <a:r>
              <a:rPr lang="en" sz="1100">
                <a:solidFill>
                  <a:schemeClr val="dk1"/>
                </a:solidFill>
              </a:rPr>
              <a:t>: demographic or accessibility group (e.g., pediatric, elderly, ESL)</a:t>
            </a:r>
            <a:br>
              <a:rPr lang="en" sz="1100">
                <a:solidFill>
                  <a:schemeClr val="dk1"/>
                </a:solidFill>
              </a:rPr>
            </a:br>
            <a:endParaRPr sz="1100">
              <a:solidFill>
                <a:schemeClr val="dk1"/>
              </a:solidFill>
            </a:endParaRPr>
          </a:p>
          <a:p>
            <a:pPr indent="-267017" lvl="0" marL="457200" rtl="0" algn="l">
              <a:spcBef>
                <a:spcPts val="0"/>
              </a:spcBef>
              <a:spcAft>
                <a:spcPts val="0"/>
              </a:spcAft>
              <a:buClr>
                <a:schemeClr val="dk1"/>
              </a:buClr>
              <a:buSzPct val="100000"/>
              <a:buChar char="●"/>
            </a:pPr>
            <a:r>
              <a:rPr lang="en" sz="1100">
                <a:solidFill>
                  <a:schemeClr val="dk1"/>
                </a:solidFill>
              </a:rPr>
              <a:t>Builds a natural-language prompt that includes:</a:t>
            </a:r>
            <a:br>
              <a:rPr lang="en" sz="1100">
                <a:solidFill>
                  <a:schemeClr val="dk1"/>
                </a:solidFill>
              </a:rPr>
            </a:br>
            <a:endParaRPr sz="1100">
              <a:solidFill>
                <a:schemeClr val="dk1"/>
              </a:solidFill>
            </a:endParaRPr>
          </a:p>
          <a:p>
            <a:pPr indent="-267017" lvl="1" marL="914400" rtl="0" algn="l">
              <a:spcBef>
                <a:spcPts val="0"/>
              </a:spcBef>
              <a:spcAft>
                <a:spcPts val="0"/>
              </a:spcAft>
              <a:buClr>
                <a:schemeClr val="dk1"/>
              </a:buClr>
              <a:buSzPct val="100000"/>
              <a:buChar char="○"/>
            </a:pPr>
            <a:r>
              <a:rPr lang="en" sz="1100">
                <a:solidFill>
                  <a:schemeClr val="dk1"/>
                </a:solidFill>
              </a:rPr>
              <a:t>Demographics</a:t>
            </a:r>
            <a:br>
              <a:rPr lang="en" sz="1100">
                <a:solidFill>
                  <a:schemeClr val="dk1"/>
                </a:solidFill>
              </a:rPr>
            </a:br>
            <a:endParaRPr sz="1100">
              <a:solidFill>
                <a:schemeClr val="dk1"/>
              </a:solidFill>
            </a:endParaRPr>
          </a:p>
          <a:p>
            <a:pPr indent="-267017" lvl="1" marL="914400" rtl="0" algn="l">
              <a:spcBef>
                <a:spcPts val="0"/>
              </a:spcBef>
              <a:spcAft>
                <a:spcPts val="0"/>
              </a:spcAft>
              <a:buClr>
                <a:schemeClr val="dk1"/>
              </a:buClr>
              <a:buSzPct val="100000"/>
              <a:buChar char="○"/>
            </a:pPr>
            <a:r>
              <a:rPr lang="en" sz="1100">
                <a:solidFill>
                  <a:schemeClr val="dk1"/>
                </a:solidFill>
              </a:rPr>
              <a:t>Ongoing conditions</a:t>
            </a:r>
            <a:br>
              <a:rPr lang="en" sz="1100">
                <a:solidFill>
                  <a:schemeClr val="dk1"/>
                </a:solidFill>
              </a:rPr>
            </a:br>
            <a:endParaRPr sz="1100">
              <a:solidFill>
                <a:schemeClr val="dk1"/>
              </a:solidFill>
            </a:endParaRPr>
          </a:p>
          <a:p>
            <a:pPr indent="-267017" lvl="1" marL="914400" rtl="0" algn="l">
              <a:spcBef>
                <a:spcPts val="0"/>
              </a:spcBef>
              <a:spcAft>
                <a:spcPts val="0"/>
              </a:spcAft>
              <a:buClr>
                <a:schemeClr val="dk1"/>
              </a:buClr>
              <a:buSzPct val="100000"/>
              <a:buChar char="○"/>
            </a:pPr>
            <a:r>
              <a:rPr lang="en" sz="1100">
                <a:solidFill>
                  <a:schemeClr val="dk1"/>
                </a:solidFill>
              </a:rPr>
              <a:t>Current medications</a:t>
            </a:r>
            <a:br>
              <a:rPr lang="en" sz="1100">
                <a:solidFill>
                  <a:schemeClr val="dk1"/>
                </a:solidFill>
              </a:rPr>
            </a:br>
            <a:endParaRPr sz="1100">
              <a:solidFill>
                <a:schemeClr val="dk1"/>
              </a:solidFill>
            </a:endParaRPr>
          </a:p>
          <a:p>
            <a:pPr indent="-267017" lvl="1" marL="914400" rtl="0" algn="l">
              <a:spcBef>
                <a:spcPts val="0"/>
              </a:spcBef>
              <a:spcAft>
                <a:spcPts val="0"/>
              </a:spcAft>
              <a:buClr>
                <a:schemeClr val="dk1"/>
              </a:buClr>
              <a:buSzPct val="100000"/>
              <a:buChar char="○"/>
            </a:pPr>
            <a:r>
              <a:rPr lang="en" sz="1100">
                <a:solidFill>
                  <a:schemeClr val="dk1"/>
                </a:solidFill>
              </a:rPr>
              <a:t>Recent visits and procedures</a:t>
            </a:r>
            <a:br>
              <a:rPr lang="en" sz="1100">
                <a:solidFill>
                  <a:schemeClr val="dk1"/>
                </a:solidFill>
              </a:rPr>
            </a:br>
            <a:endParaRPr sz="1100">
              <a:solidFill>
                <a:schemeClr val="dk1"/>
              </a:solidFill>
            </a:endParaRPr>
          </a:p>
          <a:p>
            <a:pPr indent="-267017" lvl="1" marL="914400" rtl="0" algn="l">
              <a:spcBef>
                <a:spcPts val="0"/>
              </a:spcBef>
              <a:spcAft>
                <a:spcPts val="0"/>
              </a:spcAft>
              <a:buClr>
                <a:schemeClr val="dk1"/>
              </a:buClr>
              <a:buSzPct val="100000"/>
              <a:buChar char="○"/>
            </a:pPr>
            <a:r>
              <a:rPr lang="en" sz="1100">
                <a:solidFill>
                  <a:schemeClr val="dk1"/>
                </a:solidFill>
              </a:rPr>
              <a:t>Allergies</a:t>
            </a:r>
            <a:br>
              <a:rPr lang="en" sz="1100">
                <a:solidFill>
                  <a:schemeClr val="dk1"/>
                </a:solidFill>
              </a:rPr>
            </a:br>
            <a:endParaRPr sz="1100">
              <a:solidFill>
                <a:schemeClr val="dk1"/>
              </a:solidFill>
            </a:endParaRPr>
          </a:p>
          <a:p>
            <a:pPr indent="-267017" lvl="0" marL="457200" rtl="0" algn="l">
              <a:spcBef>
                <a:spcPts val="0"/>
              </a:spcBef>
              <a:spcAft>
                <a:spcPts val="0"/>
              </a:spcAft>
              <a:buClr>
                <a:schemeClr val="dk1"/>
              </a:buClr>
              <a:buSzPct val="100000"/>
              <a:buChar char="●"/>
            </a:pPr>
            <a:r>
              <a:rPr lang="en" sz="1100">
                <a:solidFill>
                  <a:schemeClr val="dk1"/>
                </a:solidFill>
              </a:rPr>
              <a:t>Appends </a:t>
            </a:r>
            <a:r>
              <a:rPr b="1" lang="en" sz="1100">
                <a:solidFill>
                  <a:schemeClr val="dk1"/>
                </a:solidFill>
              </a:rPr>
              <a:t>clear, specific instructions</a:t>
            </a:r>
            <a:r>
              <a:rPr lang="en" sz="1100">
                <a:solidFill>
                  <a:schemeClr val="dk1"/>
                </a:solidFill>
              </a:rPr>
              <a:t> for the LLM based on audience type:</a:t>
            </a:r>
            <a:br>
              <a:rPr lang="en" sz="1100">
                <a:solidFill>
                  <a:schemeClr val="dk1"/>
                </a:solidFill>
              </a:rPr>
            </a:br>
            <a:endParaRPr sz="1100">
              <a:solidFill>
                <a:schemeClr val="dk1"/>
              </a:solidFill>
            </a:endParaRPr>
          </a:p>
          <a:p>
            <a:pPr indent="-267017" lvl="1" marL="914400" rtl="0" algn="l">
              <a:spcBef>
                <a:spcPts val="0"/>
              </a:spcBef>
              <a:spcAft>
                <a:spcPts val="0"/>
              </a:spcAft>
              <a:buClr>
                <a:schemeClr val="dk1"/>
              </a:buClr>
              <a:buSzPct val="100000"/>
              <a:buChar char="○"/>
            </a:pPr>
            <a:r>
              <a:rPr lang="en" sz="1100">
                <a:solidFill>
                  <a:schemeClr val="dk1"/>
                </a:solidFill>
              </a:rPr>
              <a:t>Simpler language for ESL or pediatric users</a:t>
            </a:r>
            <a:br>
              <a:rPr lang="en" sz="1100">
                <a:solidFill>
                  <a:schemeClr val="dk1"/>
                </a:solidFill>
              </a:rPr>
            </a:br>
            <a:endParaRPr sz="1100">
              <a:solidFill>
                <a:schemeClr val="dk1"/>
              </a:solidFill>
            </a:endParaRPr>
          </a:p>
          <a:p>
            <a:pPr indent="-267017" lvl="1" marL="914400" rtl="0" algn="l">
              <a:spcBef>
                <a:spcPts val="0"/>
              </a:spcBef>
              <a:spcAft>
                <a:spcPts val="0"/>
              </a:spcAft>
              <a:buClr>
                <a:schemeClr val="dk1"/>
              </a:buClr>
              <a:buSzPct val="100000"/>
              <a:buChar char="○"/>
            </a:pPr>
            <a:r>
              <a:rPr lang="en" sz="1100">
                <a:solidFill>
                  <a:schemeClr val="dk1"/>
                </a:solidFill>
              </a:rPr>
              <a:t>Larger text or step-by-step guidance for elderly/cognitively impaired</a:t>
            </a:r>
            <a:br>
              <a:rPr lang="en" sz="1100">
                <a:solidFill>
                  <a:schemeClr val="dk1"/>
                </a:solidFill>
              </a:rPr>
            </a:br>
            <a:endParaRPr sz="1100">
              <a:solidFill>
                <a:schemeClr val="dk1"/>
              </a:solidFill>
            </a:endParaRPr>
          </a:p>
          <a:p>
            <a:pPr indent="0" lvl="0" marL="0" rtl="0" algn="l">
              <a:spcBef>
                <a:spcPts val="1200"/>
              </a:spcBef>
              <a:spcAft>
                <a:spcPts val="0"/>
              </a:spcAft>
              <a:buClr>
                <a:schemeClr val="dk1"/>
              </a:buClr>
              <a:buSzPct val="100000"/>
              <a:buFont typeface="Arial"/>
              <a:buNone/>
            </a:pPr>
            <a:r>
              <a:rPr b="1" lang="en" sz="1100">
                <a:solidFill>
                  <a:schemeClr val="dk1"/>
                </a:solidFill>
              </a:rPr>
              <a:t>Why It Matters</a:t>
            </a:r>
            <a:endParaRPr b="1" sz="1100">
              <a:solidFill>
                <a:schemeClr val="dk1"/>
              </a:solidFill>
            </a:endParaRPr>
          </a:p>
          <a:p>
            <a:pPr indent="-267017" lvl="0" marL="457200" rtl="0" algn="l">
              <a:spcBef>
                <a:spcPts val="1200"/>
              </a:spcBef>
              <a:spcAft>
                <a:spcPts val="0"/>
              </a:spcAft>
              <a:buClr>
                <a:schemeClr val="dk1"/>
              </a:buClr>
              <a:buSzPct val="100000"/>
              <a:buChar char="●"/>
            </a:pPr>
            <a:r>
              <a:rPr lang="en" sz="1100">
                <a:solidFill>
                  <a:schemeClr val="dk1"/>
                </a:solidFill>
              </a:rPr>
              <a:t>Makes discharge instructions </a:t>
            </a:r>
            <a:r>
              <a:rPr b="1" lang="en" sz="1100">
                <a:solidFill>
                  <a:schemeClr val="dk1"/>
                </a:solidFill>
              </a:rPr>
              <a:t>accessible and personalized</a:t>
            </a:r>
            <a:br>
              <a:rPr b="1" lang="en" sz="1100">
                <a:solidFill>
                  <a:schemeClr val="dk1"/>
                </a:solidFill>
              </a:rPr>
            </a:br>
            <a:endParaRPr b="1" sz="1100">
              <a:solidFill>
                <a:schemeClr val="dk1"/>
              </a:solidFill>
            </a:endParaRPr>
          </a:p>
          <a:p>
            <a:pPr indent="-267017" lvl="0" marL="457200" rtl="0" algn="l">
              <a:spcBef>
                <a:spcPts val="0"/>
              </a:spcBef>
              <a:spcAft>
                <a:spcPts val="0"/>
              </a:spcAft>
              <a:buClr>
                <a:schemeClr val="dk1"/>
              </a:buClr>
              <a:buSzPct val="100000"/>
              <a:buChar char="●"/>
            </a:pPr>
            <a:r>
              <a:rPr lang="en" sz="1100">
                <a:solidFill>
                  <a:schemeClr val="dk1"/>
                </a:solidFill>
              </a:rPr>
              <a:t>Prepares the model to generate output that is </a:t>
            </a:r>
            <a:r>
              <a:rPr b="1" lang="en" sz="1100">
                <a:solidFill>
                  <a:schemeClr val="dk1"/>
                </a:solidFill>
              </a:rPr>
              <a:t>both medically accurate and easy to understand</a:t>
            </a:r>
            <a:br>
              <a:rPr b="1" lang="en" sz="1100">
                <a:solidFill>
                  <a:schemeClr val="dk1"/>
                </a:solidFill>
              </a:rPr>
            </a:br>
            <a:endParaRPr b="1" sz="1100">
              <a:solidFill>
                <a:schemeClr val="dk1"/>
              </a:solidFill>
            </a:endParaRPr>
          </a:p>
          <a:p>
            <a:pPr indent="-267017" lvl="0" marL="457200" rtl="0" algn="l">
              <a:spcBef>
                <a:spcPts val="0"/>
              </a:spcBef>
              <a:spcAft>
                <a:spcPts val="0"/>
              </a:spcAft>
              <a:buClr>
                <a:schemeClr val="dk1"/>
              </a:buClr>
              <a:buSzPct val="100000"/>
              <a:buChar char="●"/>
            </a:pPr>
            <a:r>
              <a:rPr lang="en" sz="1100">
                <a:solidFill>
                  <a:schemeClr val="dk1"/>
                </a:solidFill>
              </a:rPr>
              <a:t>Supports </a:t>
            </a:r>
            <a:r>
              <a:rPr b="1" lang="en" sz="1100">
                <a:solidFill>
                  <a:schemeClr val="dk1"/>
                </a:solidFill>
              </a:rPr>
              <a:t>health literacy and equitable care delivery</a:t>
            </a:r>
            <a:r>
              <a:rPr lang="en" sz="1100">
                <a:solidFill>
                  <a:schemeClr val="dk1"/>
                </a:solidFill>
              </a:rPr>
              <a:t> across diverse populations</a:t>
            </a:r>
            <a:endParaRPr sz="1100">
              <a:solidFill>
                <a:schemeClr val="dk1"/>
              </a:solidFill>
            </a:endParaRPr>
          </a:p>
          <a:p>
            <a:pPr indent="0" lvl="0" marL="0" rtl="0" algn="l">
              <a:spcBef>
                <a:spcPts val="1200"/>
              </a:spcBef>
              <a:spcAft>
                <a:spcPts val="1200"/>
              </a:spcAft>
              <a:buNone/>
            </a:pPr>
            <a:r>
              <a:t/>
            </a:r>
            <a:endParaRPr/>
          </a:p>
        </p:txBody>
      </p:sp>
      <p:pic>
        <p:nvPicPr>
          <p:cNvPr id="193" name="Google Shape;193;p31"/>
          <p:cNvPicPr preferRelativeResize="0"/>
          <p:nvPr/>
        </p:nvPicPr>
        <p:blipFill>
          <a:blip r:embed="rId3">
            <a:alphaModFix/>
          </a:blip>
          <a:stretch>
            <a:fillRect/>
          </a:stretch>
        </p:blipFill>
        <p:spPr>
          <a:xfrm>
            <a:off x="3611955" y="0"/>
            <a:ext cx="6718039" cy="514349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2"/>
          <p:cNvSpPr txBox="1"/>
          <p:nvPr>
            <p:ph type="title"/>
          </p:nvPr>
        </p:nvSpPr>
        <p:spPr>
          <a:xfrm>
            <a:off x="0" y="0"/>
            <a:ext cx="5417700" cy="1017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Calling the locally hosted Ollama API</a:t>
            </a:r>
            <a:endParaRPr/>
          </a:p>
        </p:txBody>
      </p:sp>
      <p:sp>
        <p:nvSpPr>
          <p:cNvPr id="199" name="Google Shape;199;p32"/>
          <p:cNvSpPr txBox="1"/>
          <p:nvPr>
            <p:ph idx="1" type="body"/>
          </p:nvPr>
        </p:nvSpPr>
        <p:spPr>
          <a:xfrm>
            <a:off x="0" y="1152475"/>
            <a:ext cx="5417700" cy="3899700"/>
          </a:xfrm>
          <a:prstGeom prst="rect">
            <a:avLst/>
          </a:prstGeom>
        </p:spPr>
        <p:txBody>
          <a:bodyPr anchorCtr="0" anchor="t" bIns="91425" lIns="91425" spcFirstLastPara="1" rIns="91425" wrap="square" tIns="91425">
            <a:normAutofit fontScale="70000" lnSpcReduction="20000"/>
          </a:bodyPr>
          <a:lstStyle/>
          <a:p>
            <a:pPr indent="0" lvl="0" marL="0" rtl="0" algn="l">
              <a:spcBef>
                <a:spcPts val="1200"/>
              </a:spcBef>
              <a:spcAft>
                <a:spcPts val="0"/>
              </a:spcAft>
              <a:buNone/>
            </a:pPr>
            <a:r>
              <a:rPr b="1" lang="en" sz="1100">
                <a:solidFill>
                  <a:srgbClr val="000000"/>
                </a:solidFill>
                <a:latin typeface="Arial"/>
                <a:ea typeface="Arial"/>
                <a:cs typeface="Arial"/>
                <a:sym typeface="Arial"/>
              </a:rPr>
              <a:t>Function:</a:t>
            </a:r>
            <a:r>
              <a:rPr lang="en" sz="1100">
                <a:solidFill>
                  <a:srgbClr val="000000"/>
                </a:solidFill>
                <a:latin typeface="Arial"/>
                <a:ea typeface="Arial"/>
                <a:cs typeface="Arial"/>
                <a:sym typeface="Arial"/>
              </a:rPr>
              <a:t> </a:t>
            </a:r>
            <a:r>
              <a:rPr lang="en" sz="1100">
                <a:solidFill>
                  <a:srgbClr val="188038"/>
                </a:solidFill>
                <a:latin typeface="Roboto Mono"/>
                <a:ea typeface="Roboto Mono"/>
                <a:cs typeface="Roboto Mono"/>
                <a:sym typeface="Roboto Mono"/>
              </a:rPr>
              <a:t>generate_simplified_discharge_summary(patient_id, target_audience="standard")</a:t>
            </a:r>
            <a:endParaRPr sz="1100">
              <a:solidFill>
                <a:srgbClr val="188038"/>
              </a:solidFill>
              <a:latin typeface="Roboto Mono"/>
              <a:ea typeface="Roboto Mono"/>
              <a:cs typeface="Roboto Mono"/>
              <a:sym typeface="Roboto Mono"/>
            </a:endParaRPr>
          </a:p>
          <a:p>
            <a:pPr indent="0" lvl="0" marL="0" rtl="0" algn="l">
              <a:spcBef>
                <a:spcPts val="1200"/>
              </a:spcBef>
              <a:spcAft>
                <a:spcPts val="0"/>
              </a:spcAft>
              <a:buNone/>
            </a:pPr>
            <a:r>
              <a:rPr b="1" lang="en" sz="1100">
                <a:solidFill>
                  <a:srgbClr val="000000"/>
                </a:solidFill>
                <a:latin typeface="Arial"/>
                <a:ea typeface="Arial"/>
                <a:cs typeface="Arial"/>
                <a:sym typeface="Arial"/>
              </a:rPr>
              <a:t>Overview of Process:</a:t>
            </a:r>
            <a:endParaRPr b="1" sz="1100">
              <a:solidFill>
                <a:srgbClr val="000000"/>
              </a:solidFill>
              <a:latin typeface="Arial"/>
              <a:ea typeface="Arial"/>
              <a:cs typeface="Arial"/>
              <a:sym typeface="Arial"/>
            </a:endParaRPr>
          </a:p>
          <a:p>
            <a:pPr indent="-277495" lvl="0" marL="457200" rtl="0" algn="l">
              <a:spcBef>
                <a:spcPts val="1200"/>
              </a:spcBef>
              <a:spcAft>
                <a:spcPts val="0"/>
              </a:spcAft>
              <a:buClr>
                <a:srgbClr val="000000"/>
              </a:buClr>
              <a:buSzPct val="100000"/>
              <a:buFont typeface="Arial"/>
              <a:buAutoNum type="arabicPeriod"/>
            </a:pPr>
            <a:r>
              <a:rPr b="1" lang="en" sz="1100">
                <a:solidFill>
                  <a:srgbClr val="000000"/>
                </a:solidFill>
                <a:latin typeface="Arial"/>
                <a:ea typeface="Arial"/>
                <a:cs typeface="Arial"/>
                <a:sym typeface="Arial"/>
              </a:rPr>
              <a:t>Retrieve Patient History</a:t>
            </a:r>
            <a:br>
              <a:rPr b="1" lang="en" sz="1100">
                <a:solidFill>
                  <a:srgbClr val="000000"/>
                </a:solidFill>
                <a:latin typeface="Arial"/>
                <a:ea typeface="Arial"/>
                <a:cs typeface="Arial"/>
                <a:sym typeface="Arial"/>
              </a:rPr>
            </a:br>
            <a:endParaRPr b="1" sz="1100">
              <a:solidFill>
                <a:srgbClr val="000000"/>
              </a:solidFill>
              <a:latin typeface="Arial"/>
              <a:ea typeface="Arial"/>
              <a:cs typeface="Arial"/>
              <a:sym typeface="Arial"/>
            </a:endParaRPr>
          </a:p>
          <a:p>
            <a:pPr indent="-277494" lvl="1" marL="914400" rtl="0" algn="l">
              <a:spcBef>
                <a:spcPts val="0"/>
              </a:spcBef>
              <a:spcAft>
                <a:spcPts val="0"/>
              </a:spcAft>
              <a:buClr>
                <a:srgbClr val="000000"/>
              </a:buClr>
              <a:buSzPct val="100000"/>
              <a:buFont typeface="Arial"/>
              <a:buChar char="○"/>
            </a:pPr>
            <a:r>
              <a:rPr lang="en" sz="1100">
                <a:solidFill>
                  <a:srgbClr val="000000"/>
                </a:solidFill>
                <a:latin typeface="Arial"/>
                <a:ea typeface="Arial"/>
                <a:cs typeface="Arial"/>
                <a:sym typeface="Arial"/>
              </a:rPr>
              <a:t>Calls </a:t>
            </a:r>
            <a:r>
              <a:rPr lang="en" sz="1100">
                <a:solidFill>
                  <a:srgbClr val="188038"/>
                </a:solidFill>
                <a:latin typeface="Roboto Mono"/>
                <a:ea typeface="Roboto Mono"/>
                <a:cs typeface="Roboto Mono"/>
                <a:sym typeface="Roboto Mono"/>
              </a:rPr>
              <a:t>get_complete_patient_history(patient_id)</a:t>
            </a:r>
            <a:r>
              <a:rPr lang="en" sz="1100">
                <a:solidFill>
                  <a:srgbClr val="000000"/>
                </a:solidFill>
                <a:latin typeface="Arial"/>
                <a:ea typeface="Arial"/>
                <a:cs typeface="Arial"/>
                <a:sym typeface="Arial"/>
              </a:rPr>
              <a:t> to gather structured patient data.</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77495" lvl="0" marL="457200" rtl="0" algn="l">
              <a:spcBef>
                <a:spcPts val="0"/>
              </a:spcBef>
              <a:spcAft>
                <a:spcPts val="0"/>
              </a:spcAft>
              <a:buClr>
                <a:srgbClr val="000000"/>
              </a:buClr>
              <a:buSzPct val="100000"/>
              <a:buFont typeface="Arial"/>
              <a:buAutoNum type="arabicPeriod"/>
            </a:pPr>
            <a:r>
              <a:rPr b="1" lang="en" sz="1100">
                <a:solidFill>
                  <a:srgbClr val="000000"/>
                </a:solidFill>
                <a:latin typeface="Arial"/>
                <a:ea typeface="Arial"/>
                <a:cs typeface="Arial"/>
                <a:sym typeface="Arial"/>
              </a:rPr>
              <a:t>Format Prompt for LLM</a:t>
            </a:r>
            <a:br>
              <a:rPr b="1" lang="en" sz="1100">
                <a:solidFill>
                  <a:srgbClr val="000000"/>
                </a:solidFill>
                <a:latin typeface="Arial"/>
                <a:ea typeface="Arial"/>
                <a:cs typeface="Arial"/>
                <a:sym typeface="Arial"/>
              </a:rPr>
            </a:br>
            <a:endParaRPr b="1" sz="1100">
              <a:solidFill>
                <a:srgbClr val="000000"/>
              </a:solidFill>
              <a:latin typeface="Arial"/>
              <a:ea typeface="Arial"/>
              <a:cs typeface="Arial"/>
              <a:sym typeface="Arial"/>
            </a:endParaRPr>
          </a:p>
          <a:p>
            <a:pPr indent="-277494" lvl="1" marL="914400" rtl="0" algn="l">
              <a:spcBef>
                <a:spcPts val="0"/>
              </a:spcBef>
              <a:spcAft>
                <a:spcPts val="0"/>
              </a:spcAft>
              <a:buClr>
                <a:srgbClr val="000000"/>
              </a:buClr>
              <a:buSzPct val="100000"/>
              <a:buFont typeface="Arial"/>
              <a:buChar char="○"/>
            </a:pPr>
            <a:r>
              <a:rPr lang="en" sz="1100">
                <a:solidFill>
                  <a:srgbClr val="000000"/>
                </a:solidFill>
                <a:latin typeface="Arial"/>
                <a:ea typeface="Arial"/>
                <a:cs typeface="Arial"/>
                <a:sym typeface="Arial"/>
              </a:rPr>
              <a:t>Uses </a:t>
            </a:r>
            <a:r>
              <a:rPr lang="en" sz="1100">
                <a:solidFill>
                  <a:srgbClr val="188038"/>
                </a:solidFill>
                <a:latin typeface="Roboto Mono"/>
                <a:ea typeface="Roboto Mono"/>
                <a:cs typeface="Roboto Mono"/>
                <a:sym typeface="Roboto Mono"/>
              </a:rPr>
              <a:t>format_medical_history_prompt()</a:t>
            </a:r>
            <a:r>
              <a:rPr lang="en" sz="1100">
                <a:solidFill>
                  <a:srgbClr val="000000"/>
                </a:solidFill>
                <a:latin typeface="Arial"/>
                <a:ea typeface="Arial"/>
                <a:cs typeface="Arial"/>
                <a:sym typeface="Arial"/>
              </a:rPr>
              <a:t> to create a narrative prompt.</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77494" lvl="1" marL="914400" rtl="0" algn="l">
              <a:spcBef>
                <a:spcPts val="0"/>
              </a:spcBef>
              <a:spcAft>
                <a:spcPts val="0"/>
              </a:spcAft>
              <a:buClr>
                <a:srgbClr val="000000"/>
              </a:buClr>
              <a:buSzPct val="100000"/>
              <a:buFont typeface="Arial"/>
              <a:buChar char="○"/>
            </a:pPr>
            <a:r>
              <a:rPr lang="en" sz="1100">
                <a:solidFill>
                  <a:srgbClr val="000000"/>
                </a:solidFill>
                <a:latin typeface="Arial"/>
                <a:ea typeface="Arial"/>
                <a:cs typeface="Arial"/>
                <a:sym typeface="Arial"/>
              </a:rPr>
              <a:t>Includes demographics, conditions, medications, encounters, procedures, and allergies.</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77494" lvl="1" marL="914400" rtl="0" algn="l">
              <a:spcBef>
                <a:spcPts val="0"/>
              </a:spcBef>
              <a:spcAft>
                <a:spcPts val="0"/>
              </a:spcAft>
              <a:buClr>
                <a:srgbClr val="000000"/>
              </a:buClr>
              <a:buSzPct val="100000"/>
              <a:buFont typeface="Arial"/>
              <a:buChar char="○"/>
            </a:pPr>
            <a:r>
              <a:rPr lang="en" sz="1100">
                <a:solidFill>
                  <a:srgbClr val="000000"/>
                </a:solidFill>
                <a:latin typeface="Arial"/>
                <a:ea typeface="Arial"/>
                <a:cs typeface="Arial"/>
                <a:sym typeface="Arial"/>
              </a:rPr>
              <a:t>Tailors communication style based on </a:t>
            </a:r>
            <a:r>
              <a:rPr lang="en" sz="1100">
                <a:solidFill>
                  <a:srgbClr val="188038"/>
                </a:solidFill>
                <a:latin typeface="Roboto Mono"/>
                <a:ea typeface="Roboto Mono"/>
                <a:cs typeface="Roboto Mono"/>
                <a:sym typeface="Roboto Mono"/>
              </a:rPr>
              <a:t>target_audience</a:t>
            </a:r>
            <a:r>
              <a:rPr lang="en" sz="1100">
                <a:solidFill>
                  <a:srgbClr val="000000"/>
                </a:solidFill>
                <a:latin typeface="Arial"/>
                <a:ea typeface="Arial"/>
                <a:cs typeface="Arial"/>
                <a:sym typeface="Arial"/>
              </a:rPr>
              <a:t> (e.g., pediatric, elderly, ESL).</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77495" lvl="0" marL="457200" rtl="0" algn="l">
              <a:spcBef>
                <a:spcPts val="0"/>
              </a:spcBef>
              <a:spcAft>
                <a:spcPts val="0"/>
              </a:spcAft>
              <a:buClr>
                <a:srgbClr val="000000"/>
              </a:buClr>
              <a:buSzPct val="100000"/>
              <a:buFont typeface="Arial"/>
              <a:buAutoNum type="arabicPeriod"/>
            </a:pPr>
            <a:r>
              <a:rPr b="1" lang="en" sz="1100">
                <a:solidFill>
                  <a:srgbClr val="000000"/>
                </a:solidFill>
                <a:latin typeface="Arial"/>
                <a:ea typeface="Arial"/>
                <a:cs typeface="Arial"/>
                <a:sym typeface="Arial"/>
              </a:rPr>
              <a:t>Debugging and Prompt Analysis</a:t>
            </a:r>
            <a:br>
              <a:rPr b="1" lang="en" sz="1100">
                <a:solidFill>
                  <a:srgbClr val="000000"/>
                </a:solidFill>
                <a:latin typeface="Arial"/>
                <a:ea typeface="Arial"/>
                <a:cs typeface="Arial"/>
                <a:sym typeface="Arial"/>
              </a:rPr>
            </a:br>
            <a:endParaRPr b="1" sz="1100">
              <a:solidFill>
                <a:srgbClr val="000000"/>
              </a:solidFill>
              <a:latin typeface="Arial"/>
              <a:ea typeface="Arial"/>
              <a:cs typeface="Arial"/>
              <a:sym typeface="Arial"/>
            </a:endParaRPr>
          </a:p>
          <a:p>
            <a:pPr indent="-277494" lvl="1" marL="914400" rtl="0" algn="l">
              <a:spcBef>
                <a:spcPts val="0"/>
              </a:spcBef>
              <a:spcAft>
                <a:spcPts val="0"/>
              </a:spcAft>
              <a:buClr>
                <a:srgbClr val="000000"/>
              </a:buClr>
              <a:buSzPct val="100000"/>
              <a:buFont typeface="Arial"/>
              <a:buChar char="○"/>
            </a:pPr>
            <a:r>
              <a:rPr lang="en" sz="1100">
                <a:solidFill>
                  <a:srgbClr val="000000"/>
                </a:solidFill>
                <a:latin typeface="Arial"/>
                <a:ea typeface="Arial"/>
                <a:cs typeface="Arial"/>
                <a:sym typeface="Arial"/>
              </a:rPr>
              <a:t>Logs key prompt details: audience type, word count, character length.</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77494" lvl="1" marL="914400" rtl="0" algn="l">
              <a:spcBef>
                <a:spcPts val="0"/>
              </a:spcBef>
              <a:spcAft>
                <a:spcPts val="0"/>
              </a:spcAft>
              <a:buClr>
                <a:srgbClr val="000000"/>
              </a:buClr>
              <a:buSzPct val="100000"/>
              <a:buFont typeface="Arial"/>
              <a:buChar char="○"/>
            </a:pPr>
            <a:r>
              <a:rPr lang="en" sz="1100">
                <a:solidFill>
                  <a:srgbClr val="000000"/>
                </a:solidFill>
                <a:latin typeface="Arial"/>
                <a:ea typeface="Arial"/>
                <a:cs typeface="Arial"/>
                <a:sym typeface="Arial"/>
              </a:rPr>
              <a:t>Attempts token count calculation using the </a:t>
            </a:r>
            <a:r>
              <a:rPr lang="en" sz="1100">
                <a:solidFill>
                  <a:srgbClr val="188038"/>
                </a:solidFill>
                <a:latin typeface="Roboto Mono"/>
                <a:ea typeface="Roboto Mono"/>
                <a:cs typeface="Roboto Mono"/>
                <a:sym typeface="Roboto Mono"/>
              </a:rPr>
              <a:t>tiktoken</a:t>
            </a:r>
            <a:r>
              <a:rPr lang="en" sz="1100">
                <a:solidFill>
                  <a:srgbClr val="000000"/>
                </a:solidFill>
                <a:latin typeface="Arial"/>
                <a:ea typeface="Arial"/>
                <a:cs typeface="Arial"/>
                <a:sym typeface="Arial"/>
              </a:rPr>
              <a:t> library, if available.</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77495" lvl="0" marL="457200" rtl="0" algn="l">
              <a:spcBef>
                <a:spcPts val="0"/>
              </a:spcBef>
              <a:spcAft>
                <a:spcPts val="0"/>
              </a:spcAft>
              <a:buClr>
                <a:srgbClr val="000000"/>
              </a:buClr>
              <a:buSzPct val="100000"/>
              <a:buFont typeface="Arial"/>
              <a:buAutoNum type="arabicPeriod"/>
            </a:pPr>
            <a:r>
              <a:rPr b="1" lang="en" sz="1100">
                <a:solidFill>
                  <a:srgbClr val="000000"/>
                </a:solidFill>
                <a:latin typeface="Arial"/>
                <a:ea typeface="Arial"/>
                <a:cs typeface="Arial"/>
                <a:sym typeface="Arial"/>
              </a:rPr>
              <a:t>Send Request to LLM API</a:t>
            </a:r>
            <a:br>
              <a:rPr b="1" lang="en" sz="1100">
                <a:solidFill>
                  <a:srgbClr val="000000"/>
                </a:solidFill>
                <a:latin typeface="Arial"/>
                <a:ea typeface="Arial"/>
                <a:cs typeface="Arial"/>
                <a:sym typeface="Arial"/>
              </a:rPr>
            </a:br>
            <a:endParaRPr b="1" sz="1100">
              <a:solidFill>
                <a:srgbClr val="000000"/>
              </a:solidFill>
              <a:latin typeface="Arial"/>
              <a:ea typeface="Arial"/>
              <a:cs typeface="Arial"/>
              <a:sym typeface="Arial"/>
            </a:endParaRPr>
          </a:p>
          <a:p>
            <a:pPr indent="-277494" lvl="1" marL="914400" rtl="0" algn="l">
              <a:spcBef>
                <a:spcPts val="0"/>
              </a:spcBef>
              <a:spcAft>
                <a:spcPts val="0"/>
              </a:spcAft>
              <a:buClr>
                <a:srgbClr val="000000"/>
              </a:buClr>
              <a:buSzPct val="100000"/>
              <a:buFont typeface="Arial"/>
              <a:buChar char="○"/>
            </a:pPr>
            <a:r>
              <a:rPr lang="en" sz="1100">
                <a:solidFill>
                  <a:srgbClr val="000000"/>
                </a:solidFill>
                <a:latin typeface="Arial"/>
                <a:ea typeface="Arial"/>
                <a:cs typeface="Arial"/>
                <a:sym typeface="Arial"/>
              </a:rPr>
              <a:t>Makes a POST request to </a:t>
            </a:r>
            <a:r>
              <a:rPr lang="en" sz="1100">
                <a:solidFill>
                  <a:srgbClr val="188038"/>
                </a:solidFill>
                <a:latin typeface="Roboto Mono"/>
                <a:ea typeface="Roboto Mono"/>
                <a:cs typeface="Roboto Mono"/>
                <a:sym typeface="Roboto Mono"/>
              </a:rPr>
              <a:t>http://10.20.31.1:11434/api/chat</a:t>
            </a:r>
            <a:r>
              <a:rPr lang="en" sz="1100">
                <a:solidFill>
                  <a:srgbClr val="000000"/>
                </a:solidFill>
                <a:latin typeface="Arial"/>
                <a:ea typeface="Arial"/>
                <a:cs typeface="Arial"/>
                <a:sym typeface="Arial"/>
              </a:rPr>
              <a:t>.</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77494" lvl="1" marL="914400" rtl="0" algn="l">
              <a:spcBef>
                <a:spcPts val="0"/>
              </a:spcBef>
              <a:spcAft>
                <a:spcPts val="0"/>
              </a:spcAft>
              <a:buClr>
                <a:srgbClr val="000000"/>
              </a:buClr>
              <a:buSzPct val="100000"/>
              <a:buFont typeface="Arial"/>
              <a:buChar char="○"/>
            </a:pPr>
            <a:r>
              <a:rPr lang="en" sz="1100">
                <a:solidFill>
                  <a:srgbClr val="000000"/>
                </a:solidFill>
                <a:latin typeface="Arial"/>
                <a:ea typeface="Arial"/>
                <a:cs typeface="Arial"/>
                <a:sym typeface="Arial"/>
              </a:rPr>
              <a:t>Uses a local instance of the </a:t>
            </a:r>
            <a:r>
              <a:rPr lang="en" sz="1100">
                <a:solidFill>
                  <a:srgbClr val="188038"/>
                </a:solidFill>
                <a:latin typeface="Roboto Mono"/>
                <a:ea typeface="Roboto Mono"/>
                <a:cs typeface="Roboto Mono"/>
                <a:sym typeface="Roboto Mono"/>
              </a:rPr>
              <a:t>aravhawk/llama4</a:t>
            </a:r>
            <a:r>
              <a:rPr lang="en" sz="1100">
                <a:solidFill>
                  <a:srgbClr val="000000"/>
                </a:solidFill>
                <a:latin typeface="Arial"/>
                <a:ea typeface="Arial"/>
                <a:cs typeface="Arial"/>
                <a:sym typeface="Arial"/>
              </a:rPr>
              <a:t> model.</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77494" lvl="1" marL="914400" rtl="0" algn="l">
              <a:spcBef>
                <a:spcPts val="0"/>
              </a:spcBef>
              <a:spcAft>
                <a:spcPts val="0"/>
              </a:spcAft>
              <a:buClr>
                <a:srgbClr val="000000"/>
              </a:buClr>
              <a:buSzPct val="100000"/>
              <a:buFont typeface="Arial"/>
              <a:buChar char="○"/>
            </a:pPr>
            <a:r>
              <a:rPr lang="en" sz="1100">
                <a:solidFill>
                  <a:srgbClr val="000000"/>
                </a:solidFill>
                <a:latin typeface="Arial"/>
                <a:ea typeface="Arial"/>
                <a:cs typeface="Arial"/>
                <a:sym typeface="Arial"/>
              </a:rPr>
              <a:t>Sends formatted prompt and retrieves the generated summary.</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pic>
        <p:nvPicPr>
          <p:cNvPr id="200" name="Google Shape;200;p32"/>
          <p:cNvPicPr preferRelativeResize="0"/>
          <p:nvPr/>
        </p:nvPicPr>
        <p:blipFill>
          <a:blip r:embed="rId3">
            <a:alphaModFix/>
          </a:blip>
          <a:stretch>
            <a:fillRect/>
          </a:stretch>
        </p:blipFill>
        <p:spPr>
          <a:xfrm>
            <a:off x="5417750" y="0"/>
            <a:ext cx="3704501" cy="514350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3"/>
          <p:cNvSpPr txBox="1"/>
          <p:nvPr>
            <p:ph type="title"/>
          </p:nvPr>
        </p:nvSpPr>
        <p:spPr>
          <a:xfrm>
            <a:off x="0" y="0"/>
            <a:ext cx="4430700" cy="522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Basic Summarization Results</a:t>
            </a:r>
            <a:endParaRPr/>
          </a:p>
        </p:txBody>
      </p:sp>
      <p:sp>
        <p:nvSpPr>
          <p:cNvPr id="206" name="Google Shape;206;p33"/>
          <p:cNvSpPr txBox="1"/>
          <p:nvPr>
            <p:ph idx="1" type="body"/>
          </p:nvPr>
        </p:nvSpPr>
        <p:spPr>
          <a:xfrm>
            <a:off x="0" y="1064125"/>
            <a:ext cx="5193600" cy="39882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275"/>
              <a:buNone/>
            </a:pPr>
            <a:r>
              <a:rPr lang="en" sz="500">
                <a:solidFill>
                  <a:schemeClr val="dk1"/>
                </a:solidFill>
                <a:latin typeface="Courier New"/>
                <a:ea typeface="Courier New"/>
                <a:cs typeface="Courier New"/>
                <a:sym typeface="Courier New"/>
              </a:rPr>
              <a:t>You are a medical communication specialist who creates simplified discharge summaries for patients with different needs. Your task is to create a clear, understandable discharge summary based on the following patient information.</a:t>
            </a:r>
            <a:endParaRPr sz="5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SzPts val="275"/>
              <a:buNone/>
            </a:pPr>
            <a:r>
              <a:rPr lang="en" sz="500">
                <a:solidFill>
                  <a:schemeClr val="dk1"/>
                </a:solidFill>
                <a:latin typeface="Courier New"/>
                <a:ea typeface="Courier New"/>
                <a:cs typeface="Courier New"/>
                <a:sym typeface="Courier New"/>
              </a:rPr>
              <a:t>The patient is elderly (65+). Create a simplified discharge summary with larger text indicators [LARGE], clear medication instructions, and straightforward follow-up directions.</a:t>
            </a:r>
            <a:endParaRPr sz="5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SzPts val="275"/>
              <a:buNone/>
            </a:pPr>
            <a:r>
              <a:rPr lang="en" sz="500">
                <a:solidFill>
                  <a:schemeClr val="dk1"/>
                </a:solidFill>
                <a:latin typeface="Courier New"/>
                <a:ea typeface="Courier New"/>
                <a:cs typeface="Courier New"/>
                <a:sym typeface="Courier New"/>
              </a:rPr>
              <a:t>PATIENT MEDICAL HISTORY:</a:t>
            </a:r>
            <a:endParaRPr sz="5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SzPts val="275"/>
              <a:buNone/>
            </a:pPr>
            <a:r>
              <a:rPr lang="en" sz="500">
                <a:solidFill>
                  <a:schemeClr val="dk1"/>
                </a:solidFill>
                <a:latin typeface="Courier New"/>
                <a:ea typeface="Courier New"/>
                <a:cs typeface="Courier New"/>
                <a:sym typeface="Courier New"/>
              </a:rPr>
              <a:t>Patient Demographics:</a:t>
            </a:r>
            <a:endParaRPr sz="5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SzPts val="275"/>
              <a:buNone/>
            </a:pPr>
            <a:r>
              <a:rPr lang="en" sz="500">
                <a:solidFill>
                  <a:schemeClr val="dk1"/>
                </a:solidFill>
                <a:latin typeface="Courier New"/>
                <a:ea typeface="Courier New"/>
                <a:cs typeface="Courier New"/>
                <a:sym typeface="Courier New"/>
              </a:rPr>
              <a:t>- Age: 66</a:t>
            </a:r>
            <a:endParaRPr sz="5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SzPts val="275"/>
              <a:buNone/>
            </a:pPr>
            <a:r>
              <a:rPr lang="en" sz="500">
                <a:solidFill>
                  <a:schemeClr val="dk1"/>
                </a:solidFill>
                <a:latin typeface="Courier New"/>
                <a:ea typeface="Courier New"/>
                <a:cs typeface="Courier New"/>
                <a:sym typeface="Courier New"/>
              </a:rPr>
              <a:t>- Gender: M</a:t>
            </a:r>
            <a:endParaRPr sz="5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SzPts val="275"/>
              <a:buNone/>
            </a:pPr>
            <a:r>
              <a:rPr lang="en" sz="500">
                <a:solidFill>
                  <a:schemeClr val="dk1"/>
                </a:solidFill>
                <a:latin typeface="Courier New"/>
                <a:ea typeface="Courier New"/>
                <a:cs typeface="Courier New"/>
                <a:sym typeface="Courier New"/>
              </a:rPr>
              <a:t>- Race: asian</a:t>
            </a:r>
            <a:endParaRPr sz="5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SzPts val="275"/>
              <a:buNone/>
            </a:pPr>
            <a:r>
              <a:rPr lang="en" sz="500">
                <a:solidFill>
                  <a:schemeClr val="dk1"/>
                </a:solidFill>
                <a:latin typeface="Courier New"/>
                <a:ea typeface="Courier New"/>
                <a:cs typeface="Courier New"/>
                <a:sym typeface="Courier New"/>
              </a:rPr>
              <a:t>- Ethnicity: nonhispanic</a:t>
            </a:r>
            <a:endParaRPr sz="5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SzPts val="275"/>
              <a:buNone/>
            </a:pPr>
            <a:r>
              <a:rPr lang="en" sz="500">
                <a:solidFill>
                  <a:schemeClr val="dk1"/>
                </a:solidFill>
                <a:latin typeface="Courier New"/>
                <a:ea typeface="Courier New"/>
                <a:cs typeface="Courier New"/>
                <a:sym typeface="Courier New"/>
              </a:rPr>
              <a:t>Current Conditions:</a:t>
            </a:r>
            <a:endParaRPr sz="5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SzPts val="275"/>
              <a:buNone/>
            </a:pPr>
            <a:r>
              <a:rPr lang="en" sz="500">
                <a:solidFill>
                  <a:schemeClr val="dk1"/>
                </a:solidFill>
                <a:latin typeface="Courier New"/>
                <a:ea typeface="Courier New"/>
                <a:cs typeface="Courier New"/>
                <a:sym typeface="Courier New"/>
              </a:rPr>
              <a:t>- Risk activity involvement (finding) (since 1974-12-20)</a:t>
            </a:r>
            <a:endParaRPr sz="5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SzPts val="275"/>
              <a:buNone/>
            </a:pPr>
            <a:r>
              <a:rPr lang="en" sz="500">
                <a:solidFill>
                  <a:schemeClr val="dk1"/>
                </a:solidFill>
                <a:latin typeface="Courier New"/>
                <a:ea typeface="Courier New"/>
                <a:cs typeface="Courier New"/>
                <a:sym typeface="Courier New"/>
              </a:rPr>
              <a:t>- Only received primary school education (finding) (since 1976-12-31)</a:t>
            </a:r>
            <a:endParaRPr sz="5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SzPts val="275"/>
              <a:buNone/>
            </a:pPr>
            <a:r>
              <a:rPr lang="en" sz="500">
                <a:solidFill>
                  <a:schemeClr val="dk1"/>
                </a:solidFill>
                <a:latin typeface="Courier New"/>
                <a:ea typeface="Courier New"/>
                <a:cs typeface="Courier New"/>
                <a:sym typeface="Courier New"/>
              </a:rPr>
              <a:t>- Body mass index 30+ - obesity (finding) (since 1996-01-26)</a:t>
            </a:r>
            <a:endParaRPr sz="5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SzPts val="275"/>
              <a:buNone/>
            </a:pPr>
            <a:r>
              <a:rPr lang="en" sz="500">
                <a:solidFill>
                  <a:schemeClr val="dk1"/>
                </a:solidFill>
                <a:latin typeface="Courier New"/>
                <a:ea typeface="Courier New"/>
                <a:cs typeface="Courier New"/>
                <a:sym typeface="Courier New"/>
              </a:rPr>
              <a:t>- Hyperlipidemia (since 2006-12-01)</a:t>
            </a:r>
            <a:endParaRPr sz="5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SzPts val="275"/>
              <a:buNone/>
            </a:pPr>
            <a:r>
              <a:rPr lang="en" sz="500">
                <a:solidFill>
                  <a:schemeClr val="dk1"/>
                </a:solidFill>
                <a:latin typeface="Courier New"/>
                <a:ea typeface="Courier New"/>
                <a:cs typeface="Courier New"/>
                <a:sym typeface="Courier New"/>
              </a:rPr>
              <a:t>- Prediabetes (since 2012-11-16)</a:t>
            </a:r>
            <a:endParaRPr sz="5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SzPts val="275"/>
              <a:buNone/>
            </a:pPr>
            <a:r>
              <a:rPr lang="en" sz="500">
                <a:solidFill>
                  <a:schemeClr val="dk1"/>
                </a:solidFill>
                <a:latin typeface="Courier New"/>
                <a:ea typeface="Courier New"/>
                <a:cs typeface="Courier New"/>
                <a:sym typeface="Courier New"/>
              </a:rPr>
              <a:t>- Part-time employment (finding) (since 2021-01-15)</a:t>
            </a:r>
            <a:endParaRPr sz="5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SzPts val="275"/>
              <a:buNone/>
            </a:pPr>
            <a:r>
              <a:rPr lang="en" sz="500">
                <a:solidFill>
                  <a:schemeClr val="dk1"/>
                </a:solidFill>
                <a:latin typeface="Courier New"/>
                <a:ea typeface="Courier New"/>
                <a:cs typeface="Courier New"/>
                <a:sym typeface="Courier New"/>
              </a:rPr>
              <a:t>- Stress (finding) (since 2021-01-15)</a:t>
            </a:r>
            <a:endParaRPr sz="5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SzPts val="275"/>
              <a:buNone/>
            </a:pPr>
            <a:r>
              <a:rPr lang="en" sz="500">
                <a:solidFill>
                  <a:schemeClr val="dk1"/>
                </a:solidFill>
                <a:latin typeface="Courier New"/>
                <a:ea typeface="Courier New"/>
                <a:cs typeface="Courier New"/>
                <a:sym typeface="Courier New"/>
              </a:rPr>
              <a:t>- Victim of intimate partner abuse (finding) (since 2021-01-15)</a:t>
            </a:r>
            <a:endParaRPr sz="5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SzPts val="275"/>
              <a:buNone/>
            </a:pPr>
            <a:r>
              <a:rPr lang="en" sz="500">
                <a:solidFill>
                  <a:schemeClr val="dk1"/>
                </a:solidFill>
                <a:latin typeface="Courier New"/>
                <a:ea typeface="Courier New"/>
                <a:cs typeface="Courier New"/>
                <a:sym typeface="Courier New"/>
              </a:rPr>
              <a:t>Current Medications:</a:t>
            </a:r>
            <a:endParaRPr sz="5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SzPts val="275"/>
              <a:buNone/>
            </a:pPr>
            <a:r>
              <a:rPr lang="en" sz="500">
                <a:solidFill>
                  <a:schemeClr val="dk1"/>
                </a:solidFill>
                <a:latin typeface="Courier New"/>
                <a:ea typeface="Courier New"/>
                <a:cs typeface="Courier New"/>
                <a:sym typeface="Courier New"/>
              </a:rPr>
              <a:t>- Simvastatin 10 MG Oral Tablet (Reason: Hyperlipidemia)</a:t>
            </a:r>
            <a:endParaRPr sz="5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SzPts val="275"/>
              <a:buNone/>
            </a:pPr>
            <a:r>
              <a:rPr lang="en" sz="500">
                <a:solidFill>
                  <a:schemeClr val="dk1"/>
                </a:solidFill>
                <a:latin typeface="Courier New"/>
                <a:ea typeface="Courier New"/>
                <a:cs typeface="Courier New"/>
                <a:sym typeface="Courier New"/>
              </a:rPr>
              <a:t>Recent Medical Visits:</a:t>
            </a:r>
            <a:endParaRPr sz="5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SzPts val="275"/>
              <a:buNone/>
            </a:pPr>
            <a:r>
              <a:rPr lang="en" sz="500">
                <a:solidFill>
                  <a:schemeClr val="dk1"/>
                </a:solidFill>
                <a:latin typeface="Courier New"/>
                <a:ea typeface="Courier New"/>
                <a:cs typeface="Courier New"/>
                <a:sym typeface="Courier New"/>
              </a:rPr>
              <a:t>- 2021-09-03T05:11:58Z: Administration of vaccine to produce active immunity (procedure) (Reason: Not specified)</a:t>
            </a:r>
            <a:endParaRPr sz="5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SzPts val="275"/>
              <a:buNone/>
            </a:pPr>
            <a:r>
              <a:rPr lang="en" sz="500">
                <a:solidFill>
                  <a:schemeClr val="dk1"/>
                </a:solidFill>
                <a:latin typeface="Courier New"/>
                <a:ea typeface="Courier New"/>
                <a:cs typeface="Courier New"/>
                <a:sym typeface="Courier New"/>
              </a:rPr>
              <a:t>- 2021-08-13T05:11:58Z: Administration of vaccine to produce active immunity (procedure) (Reason: Not specified)</a:t>
            </a:r>
            <a:endParaRPr sz="5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SzPts val="275"/>
              <a:buNone/>
            </a:pPr>
            <a:r>
              <a:rPr lang="en" sz="500">
                <a:solidFill>
                  <a:schemeClr val="dk1"/>
                </a:solidFill>
                <a:latin typeface="Courier New"/>
                <a:ea typeface="Courier New"/>
                <a:cs typeface="Courier New"/>
                <a:sym typeface="Courier New"/>
              </a:rPr>
              <a:t>- 2021-01-15T05:11:58Z: General examination of patient (procedure) (Reason: Not specified)</a:t>
            </a:r>
            <a:endParaRPr sz="5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SzPts val="275"/>
              <a:buNone/>
            </a:pPr>
            <a:r>
              <a:rPr lang="en" sz="500">
                <a:solidFill>
                  <a:schemeClr val="dk1"/>
                </a:solidFill>
                <a:latin typeface="Courier New"/>
                <a:ea typeface="Courier New"/>
                <a:cs typeface="Courier New"/>
                <a:sym typeface="Courier New"/>
              </a:rPr>
              <a:t>- 2020-12-28T02:11:58Z: Encounter for symptom (Reason: Cystitis)</a:t>
            </a:r>
            <a:endParaRPr sz="5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SzPts val="275"/>
              <a:buNone/>
            </a:pPr>
            <a:r>
              <a:rPr lang="en" sz="500">
                <a:solidFill>
                  <a:schemeClr val="dk1"/>
                </a:solidFill>
                <a:latin typeface="Courier New"/>
                <a:ea typeface="Courier New"/>
                <a:cs typeface="Courier New"/>
                <a:sym typeface="Courier New"/>
              </a:rPr>
              <a:t>- 2020-12-18T05:11:58Z: Follow-up encounter (Reason: Hyperlipidemia)</a:t>
            </a:r>
            <a:endParaRPr sz="5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SzPts val="275"/>
              <a:buNone/>
            </a:pPr>
            <a:r>
              <a:rPr lang="en" sz="500">
                <a:solidFill>
                  <a:schemeClr val="dk1"/>
                </a:solidFill>
                <a:latin typeface="Courier New"/>
                <a:ea typeface="Courier New"/>
                <a:cs typeface="Courier New"/>
                <a:sym typeface="Courier New"/>
              </a:rPr>
              <a:t>Recent Procedures</a:t>
            </a:r>
            <a:endParaRPr sz="5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SzPts val="275"/>
              <a:buNone/>
            </a:pPr>
            <a:r>
              <a:rPr lang="en" sz="500">
                <a:solidFill>
                  <a:schemeClr val="dk1"/>
                </a:solidFill>
                <a:latin typeface="Courier New"/>
                <a:ea typeface="Courier New"/>
                <a:cs typeface="Courier New"/>
                <a:sym typeface="Courier New"/>
              </a:rPr>
              <a:t>- 2021-01-15T07:21:00Z: Assessment using Alcohol Use Disorders Identification Test - Consumption (procedure) (Reason: Not specified)</a:t>
            </a:r>
            <a:endParaRPr sz="5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SzPts val="275"/>
              <a:buNone/>
            </a:pPr>
            <a:r>
              <a:rPr lang="en" sz="500">
                <a:solidFill>
                  <a:schemeClr val="dk1"/>
                </a:solidFill>
                <a:latin typeface="Courier New"/>
                <a:ea typeface="Courier New"/>
                <a:cs typeface="Courier New"/>
                <a:sym typeface="Courier New"/>
              </a:rPr>
              <a:t>- 2021-01-15T07:10:18Z: Assessment of substance use (procedure) (Reason: Not specified)</a:t>
            </a:r>
            <a:endParaRPr sz="5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SzPts val="275"/>
              <a:buNone/>
            </a:pPr>
            <a:r>
              <a:rPr lang="en" sz="500">
                <a:solidFill>
                  <a:schemeClr val="dk1"/>
                </a:solidFill>
                <a:latin typeface="Courier New"/>
                <a:ea typeface="Courier New"/>
                <a:cs typeface="Courier New"/>
                <a:sym typeface="Courier New"/>
              </a:rPr>
              <a:t>- 2021-01-15T06:50:05Z: Depression screening using Patient Health Questionnaire Two-Item score (procedure) (Reason: Not specified)</a:t>
            </a:r>
            <a:endParaRPr sz="5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SzPts val="275"/>
              <a:buNone/>
            </a:pPr>
            <a:r>
              <a:rPr lang="en" sz="500">
                <a:solidFill>
                  <a:schemeClr val="dk1"/>
                </a:solidFill>
                <a:latin typeface="Courier New"/>
                <a:ea typeface="Courier New"/>
                <a:cs typeface="Courier New"/>
                <a:sym typeface="Courier New"/>
              </a:rPr>
              <a:t>- 2021-01-15T06:35:16Z: Depression screening (procedure) (Reason: Not specified)</a:t>
            </a:r>
            <a:endParaRPr sz="5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SzPts val="275"/>
              <a:buNone/>
            </a:pPr>
            <a:r>
              <a:rPr lang="en" sz="500">
                <a:solidFill>
                  <a:schemeClr val="dk1"/>
                </a:solidFill>
                <a:latin typeface="Courier New"/>
                <a:ea typeface="Courier New"/>
                <a:cs typeface="Courier New"/>
                <a:sym typeface="Courier New"/>
              </a:rPr>
              <a:t>- 2021-01-15T05:54:11Z: Screening for domestic abuse (procedure) (Reason: Not specified)</a:t>
            </a:r>
            <a:endParaRPr sz="5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SzPts val="275"/>
              <a:buNone/>
            </a:pPr>
            <a:r>
              <a:rPr lang="en" sz="500">
                <a:solidFill>
                  <a:schemeClr val="dk1"/>
                </a:solidFill>
                <a:latin typeface="Courier New"/>
                <a:ea typeface="Courier New"/>
                <a:cs typeface="Courier New"/>
                <a:sym typeface="Courier New"/>
              </a:rPr>
              <a:t>Allergies:</a:t>
            </a:r>
            <a:endParaRPr sz="5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SzPts val="275"/>
              <a:buNone/>
            </a:pPr>
            <a:r>
              <a:rPr lang="en" sz="500">
                <a:solidFill>
                  <a:schemeClr val="dk1"/>
                </a:solidFill>
                <a:latin typeface="Courier New"/>
                <a:ea typeface="Courier New"/>
                <a:cs typeface="Courier New"/>
                <a:sym typeface="Courier New"/>
              </a:rPr>
              <a:t>- No known allergies</a:t>
            </a:r>
            <a:endParaRPr sz="5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SzPts val="275"/>
              <a:buNone/>
            </a:pPr>
            <a:r>
              <a:rPr lang="en" sz="500">
                <a:solidFill>
                  <a:schemeClr val="dk1"/>
                </a:solidFill>
                <a:latin typeface="Courier New"/>
                <a:ea typeface="Courier New"/>
                <a:cs typeface="Courier New"/>
                <a:sym typeface="Courier New"/>
              </a:rPr>
              <a:t>Based on this information, create a simplified discharge summary that:</a:t>
            </a:r>
            <a:endParaRPr sz="5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SzPts val="275"/>
              <a:buNone/>
            </a:pPr>
            <a:r>
              <a:rPr lang="en" sz="500">
                <a:solidFill>
                  <a:schemeClr val="dk1"/>
                </a:solidFill>
                <a:latin typeface="Courier New"/>
                <a:ea typeface="Courier New"/>
                <a:cs typeface="Courier New"/>
                <a:sym typeface="Courier New"/>
              </a:rPr>
              <a:t>1. Summarizes the patient's condition in plain language</a:t>
            </a:r>
            <a:endParaRPr sz="5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SzPts val="275"/>
              <a:buNone/>
            </a:pPr>
            <a:r>
              <a:rPr lang="en" sz="500">
                <a:solidFill>
                  <a:schemeClr val="dk1"/>
                </a:solidFill>
                <a:latin typeface="Courier New"/>
                <a:ea typeface="Courier New"/>
                <a:cs typeface="Courier New"/>
                <a:sym typeface="Courier New"/>
              </a:rPr>
              <a:t>2. Explains their medications in an easy-to-understand way</a:t>
            </a:r>
            <a:endParaRPr sz="5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SzPts val="275"/>
              <a:buNone/>
            </a:pPr>
            <a:r>
              <a:rPr lang="en" sz="500">
                <a:solidFill>
                  <a:schemeClr val="dk1"/>
                </a:solidFill>
                <a:latin typeface="Courier New"/>
                <a:ea typeface="Courier New"/>
                <a:cs typeface="Courier New"/>
                <a:sym typeface="Courier New"/>
              </a:rPr>
              <a:t>3. Provides clear follow-up instructions</a:t>
            </a:r>
            <a:endParaRPr sz="5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SzPts val="275"/>
              <a:buNone/>
            </a:pPr>
            <a:r>
              <a:rPr lang="en" sz="500">
                <a:solidFill>
                  <a:schemeClr val="dk1"/>
                </a:solidFill>
                <a:latin typeface="Courier New"/>
                <a:ea typeface="Courier New"/>
                <a:cs typeface="Courier New"/>
                <a:sym typeface="Courier New"/>
              </a:rPr>
              <a:t>4. Includes warning signs that should prompt them to seek immediate care</a:t>
            </a:r>
            <a:endParaRPr sz="5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SzPts val="275"/>
              <a:buNone/>
            </a:pPr>
            <a:r>
              <a:rPr lang="en" sz="500">
                <a:solidFill>
                  <a:schemeClr val="dk1"/>
                </a:solidFill>
                <a:latin typeface="Courier New"/>
                <a:ea typeface="Courier New"/>
                <a:cs typeface="Courier New"/>
                <a:sym typeface="Courier New"/>
              </a:rPr>
              <a:t>5. Uses appropriate visual formatting for the target audience</a:t>
            </a:r>
            <a:endParaRPr sz="500">
              <a:solidFill>
                <a:schemeClr val="dk1"/>
              </a:solidFill>
              <a:latin typeface="Courier New"/>
              <a:ea typeface="Courier New"/>
              <a:cs typeface="Courier New"/>
              <a:sym typeface="Courier New"/>
            </a:endParaRPr>
          </a:p>
          <a:p>
            <a:pPr indent="0" lvl="0" marL="0" rtl="0" algn="l">
              <a:lnSpc>
                <a:spcPct val="115000"/>
              </a:lnSpc>
              <a:spcBef>
                <a:spcPts val="0"/>
              </a:spcBef>
              <a:spcAft>
                <a:spcPts val="0"/>
              </a:spcAft>
              <a:buSzPts val="275"/>
              <a:buNone/>
            </a:pPr>
            <a:r>
              <a:rPr lang="en" sz="500">
                <a:solidFill>
                  <a:schemeClr val="dk1"/>
                </a:solidFill>
                <a:latin typeface="Courier New"/>
                <a:ea typeface="Courier New"/>
                <a:cs typeface="Courier New"/>
                <a:sym typeface="Courier New"/>
              </a:rPr>
              <a:t>The summary should be comprehensive but easy to understand for the specified target audience.</a:t>
            </a:r>
            <a:endParaRPr sz="500">
              <a:solidFill>
                <a:schemeClr val="dk1"/>
              </a:solidFill>
            </a:endParaRPr>
          </a:p>
        </p:txBody>
      </p:sp>
      <p:sp>
        <p:nvSpPr>
          <p:cNvPr id="207" name="Google Shape;207;p33"/>
          <p:cNvSpPr txBox="1"/>
          <p:nvPr/>
        </p:nvSpPr>
        <p:spPr>
          <a:xfrm>
            <a:off x="84750" y="588575"/>
            <a:ext cx="4896900" cy="52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accent3"/>
                </a:solidFill>
                <a:latin typeface="Proxima Nova"/>
                <a:ea typeface="Proxima Nova"/>
                <a:cs typeface="Proxima Nova"/>
                <a:sym typeface="Proxima Nova"/>
              </a:rPr>
              <a:t>Prompt</a:t>
            </a:r>
            <a:endParaRPr sz="1800">
              <a:solidFill>
                <a:schemeClr val="accent3"/>
              </a:solidFill>
              <a:latin typeface="Proxima Nova"/>
              <a:ea typeface="Proxima Nova"/>
              <a:cs typeface="Proxima Nova"/>
              <a:sym typeface="Proxima Nova"/>
            </a:endParaRPr>
          </a:p>
        </p:txBody>
      </p:sp>
      <p:pic>
        <p:nvPicPr>
          <p:cNvPr id="208" name="Google Shape;208;p33"/>
          <p:cNvPicPr preferRelativeResize="0"/>
          <p:nvPr/>
        </p:nvPicPr>
        <p:blipFill>
          <a:blip r:embed="rId3">
            <a:alphaModFix/>
          </a:blip>
          <a:stretch>
            <a:fillRect/>
          </a:stretch>
        </p:blipFill>
        <p:spPr>
          <a:xfrm>
            <a:off x="5076400" y="522599"/>
            <a:ext cx="4100575" cy="2665100"/>
          </a:xfrm>
          <a:prstGeom prst="rect">
            <a:avLst/>
          </a:prstGeom>
          <a:noFill/>
          <a:ln>
            <a:noFill/>
          </a:ln>
        </p:spPr>
      </p:pic>
      <p:sp>
        <p:nvSpPr>
          <p:cNvPr id="209" name="Google Shape;209;p33"/>
          <p:cNvSpPr txBox="1"/>
          <p:nvPr/>
        </p:nvSpPr>
        <p:spPr>
          <a:xfrm>
            <a:off x="5278350" y="127050"/>
            <a:ext cx="3296100" cy="26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accent3"/>
                </a:solidFill>
                <a:latin typeface="Proxima Nova"/>
                <a:ea typeface="Proxima Nova"/>
                <a:cs typeface="Proxima Nova"/>
                <a:sym typeface="Proxima Nova"/>
              </a:rPr>
              <a:t>Output</a:t>
            </a:r>
            <a:endParaRPr sz="1800">
              <a:solidFill>
                <a:schemeClr val="accent3"/>
              </a:solidFill>
              <a:latin typeface="Proxima Nova"/>
              <a:ea typeface="Proxima Nova"/>
              <a:cs typeface="Proxima Nova"/>
              <a:sym typeface="Proxima Nova"/>
            </a:endParaRPr>
          </a:p>
        </p:txBody>
      </p:sp>
      <p:sp>
        <p:nvSpPr>
          <p:cNvPr id="210" name="Google Shape;210;p33"/>
          <p:cNvSpPr txBox="1"/>
          <p:nvPr/>
        </p:nvSpPr>
        <p:spPr>
          <a:xfrm>
            <a:off x="5127600" y="3263025"/>
            <a:ext cx="3974100" cy="173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accent3"/>
                </a:solidFill>
                <a:latin typeface="Proxima Nova"/>
                <a:ea typeface="Proxima Nova"/>
                <a:cs typeface="Proxima Nova"/>
                <a:sym typeface="Proxima Nova"/>
              </a:rPr>
              <a:t>Overall, this output is good, as it gives specific instructions in bold, and warning signs to seek immediate care, however it lacks some of the necessary information like the date, patients name, and important </a:t>
            </a:r>
            <a:r>
              <a:rPr lang="en" sz="1600">
                <a:solidFill>
                  <a:schemeClr val="accent3"/>
                </a:solidFill>
                <a:latin typeface="Proxima Nova"/>
                <a:ea typeface="Proxima Nova"/>
                <a:cs typeface="Proxima Nova"/>
                <a:sym typeface="Proxima Nova"/>
              </a:rPr>
              <a:t>follow up</a:t>
            </a:r>
            <a:r>
              <a:rPr lang="en" sz="1600">
                <a:solidFill>
                  <a:schemeClr val="accent3"/>
                </a:solidFill>
                <a:latin typeface="Proxima Nova"/>
                <a:ea typeface="Proxima Nova"/>
                <a:cs typeface="Proxima Nova"/>
                <a:sym typeface="Proxima Nova"/>
              </a:rPr>
              <a:t> contacts and steps</a:t>
            </a:r>
            <a:endParaRPr sz="1600">
              <a:solidFill>
                <a:schemeClr val="accent3"/>
              </a:solidFill>
              <a:latin typeface="Proxima Nova"/>
              <a:ea typeface="Proxima Nova"/>
              <a:cs typeface="Proxima Nova"/>
              <a:sym typeface="Proxima Nova"/>
            </a:endParaRPr>
          </a:p>
          <a:p>
            <a:pPr indent="0" lvl="0" marL="0" rtl="0" algn="l">
              <a:spcBef>
                <a:spcPts val="0"/>
              </a:spcBef>
              <a:spcAft>
                <a:spcPts val="0"/>
              </a:spcAft>
              <a:buNone/>
            </a:pPr>
            <a:r>
              <a:t/>
            </a:r>
            <a:endParaRPr sz="1600">
              <a:solidFill>
                <a:schemeClr val="accent3"/>
              </a:solidFill>
              <a:latin typeface="Proxima Nova"/>
              <a:ea typeface="Proxima Nova"/>
              <a:cs typeface="Proxima Nova"/>
              <a:sym typeface="Proxima Nova"/>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4"/>
          <p:cNvSpPr txBox="1"/>
          <p:nvPr>
            <p:ph type="title"/>
          </p:nvPr>
        </p:nvSpPr>
        <p:spPr>
          <a:xfrm>
            <a:off x="510450" y="2057400"/>
            <a:ext cx="8123100" cy="7788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Prompt Engineering: Three Dynamic Cases with Llama4</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5"/>
          <p:cNvSpPr txBox="1"/>
          <p:nvPr>
            <p:ph type="title"/>
          </p:nvPr>
        </p:nvSpPr>
        <p:spPr>
          <a:xfrm>
            <a:off x="0" y="0"/>
            <a:ext cx="4689600" cy="83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Improved Patient Data Collection + Prompt Generation</a:t>
            </a:r>
            <a:endParaRPr/>
          </a:p>
        </p:txBody>
      </p:sp>
      <p:sp>
        <p:nvSpPr>
          <p:cNvPr id="221" name="Google Shape;221;p35"/>
          <p:cNvSpPr txBox="1"/>
          <p:nvPr>
            <p:ph idx="1" type="body"/>
          </p:nvPr>
        </p:nvSpPr>
        <p:spPr>
          <a:xfrm>
            <a:off x="0" y="993500"/>
            <a:ext cx="4572000" cy="4063200"/>
          </a:xfrm>
          <a:prstGeom prst="rect">
            <a:avLst/>
          </a:prstGeom>
        </p:spPr>
        <p:txBody>
          <a:bodyPr anchorCtr="0" anchor="t" bIns="91425" lIns="91425" spcFirstLastPara="1" rIns="91425" wrap="square" tIns="91425">
            <a:normAutofit fontScale="47500" lnSpcReduction="10000"/>
          </a:bodyPr>
          <a:lstStyle/>
          <a:p>
            <a:pPr indent="0" lvl="0" marL="0" rtl="0" algn="l">
              <a:spcBef>
                <a:spcPts val="1200"/>
              </a:spcBef>
              <a:spcAft>
                <a:spcPts val="0"/>
              </a:spcAft>
              <a:buNone/>
            </a:pPr>
            <a:r>
              <a:rPr b="1" lang="en" sz="1100">
                <a:solidFill>
                  <a:srgbClr val="000000"/>
                </a:solidFill>
                <a:latin typeface="Arial"/>
                <a:ea typeface="Arial"/>
                <a:cs typeface="Arial"/>
                <a:sym typeface="Arial"/>
              </a:rPr>
              <a:t>1. Patient History Extraction (</a:t>
            </a:r>
            <a:r>
              <a:rPr b="1" lang="en" sz="1100">
                <a:solidFill>
                  <a:srgbClr val="188038"/>
                </a:solidFill>
                <a:latin typeface="Roboto Mono"/>
                <a:ea typeface="Roboto Mono"/>
                <a:cs typeface="Roboto Mono"/>
                <a:sym typeface="Roboto Mono"/>
              </a:rPr>
              <a:t>get_complete_patient_history</a:t>
            </a:r>
            <a:r>
              <a:rPr b="1" lang="en" sz="1100">
                <a:solidFill>
                  <a:srgbClr val="000000"/>
                </a:solidFill>
                <a:latin typeface="Arial"/>
                <a:ea typeface="Arial"/>
                <a:cs typeface="Arial"/>
                <a:sym typeface="Arial"/>
              </a:rPr>
              <a:t>)</a:t>
            </a:r>
            <a:endParaRPr b="1" sz="1100">
              <a:solidFill>
                <a:srgbClr val="000000"/>
              </a:solidFill>
              <a:latin typeface="Arial"/>
              <a:ea typeface="Arial"/>
              <a:cs typeface="Arial"/>
              <a:sym typeface="Arial"/>
            </a:endParaRPr>
          </a:p>
          <a:p>
            <a:pPr indent="-261778" lvl="0" marL="457200" rtl="0" algn="l">
              <a:spcBef>
                <a:spcPts val="1200"/>
              </a:spcBef>
              <a:spcAft>
                <a:spcPts val="0"/>
              </a:spcAft>
              <a:buClr>
                <a:srgbClr val="000000"/>
              </a:buClr>
              <a:buSzPct val="100000"/>
              <a:buFont typeface="Arial"/>
              <a:buChar char="●"/>
            </a:pPr>
            <a:r>
              <a:rPr lang="en" sz="1100">
                <a:solidFill>
                  <a:srgbClr val="000000"/>
                </a:solidFill>
                <a:latin typeface="Arial"/>
                <a:ea typeface="Arial"/>
                <a:cs typeface="Arial"/>
                <a:sym typeface="Arial"/>
              </a:rPr>
              <a:t>Collects comprehensive medical history by aggregating:</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61778" lvl="1" marL="914400" rtl="0" algn="l">
              <a:spcBef>
                <a:spcPts val="0"/>
              </a:spcBef>
              <a:spcAft>
                <a:spcPts val="0"/>
              </a:spcAft>
              <a:buClr>
                <a:srgbClr val="000000"/>
              </a:buClr>
              <a:buSzPct val="100000"/>
              <a:buFont typeface="Arial"/>
              <a:buChar char="○"/>
            </a:pPr>
            <a:r>
              <a:rPr lang="en" sz="1100">
                <a:solidFill>
                  <a:srgbClr val="000000"/>
                </a:solidFill>
                <a:latin typeface="Arial"/>
                <a:ea typeface="Arial"/>
                <a:cs typeface="Arial"/>
                <a:sym typeface="Arial"/>
              </a:rPr>
              <a:t>Demographics (age, gender, address, etc.)</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61778" lvl="1" marL="914400" rtl="0" algn="l">
              <a:spcBef>
                <a:spcPts val="0"/>
              </a:spcBef>
              <a:spcAft>
                <a:spcPts val="0"/>
              </a:spcAft>
              <a:buClr>
                <a:srgbClr val="000000"/>
              </a:buClr>
              <a:buSzPct val="100000"/>
              <a:buFont typeface="Arial"/>
              <a:buChar char="○"/>
            </a:pPr>
            <a:r>
              <a:rPr lang="en" sz="1100">
                <a:solidFill>
                  <a:srgbClr val="000000"/>
                </a:solidFill>
                <a:latin typeface="Arial"/>
                <a:ea typeface="Arial"/>
                <a:cs typeface="Arial"/>
                <a:sym typeface="Arial"/>
              </a:rPr>
              <a:t>Conditions, Procedures, Medications</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61778" lvl="1" marL="914400" rtl="0" algn="l">
              <a:spcBef>
                <a:spcPts val="0"/>
              </a:spcBef>
              <a:spcAft>
                <a:spcPts val="0"/>
              </a:spcAft>
              <a:buClr>
                <a:srgbClr val="000000"/>
              </a:buClr>
              <a:buSzPct val="100000"/>
              <a:buFont typeface="Arial"/>
              <a:buChar char="○"/>
            </a:pPr>
            <a:r>
              <a:rPr lang="en" sz="1100">
                <a:solidFill>
                  <a:srgbClr val="000000"/>
                </a:solidFill>
                <a:latin typeface="Arial"/>
                <a:ea typeface="Arial"/>
                <a:cs typeface="Arial"/>
                <a:sym typeface="Arial"/>
              </a:rPr>
              <a:t>Encounters (with provider and organization details)</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61778" lvl="1" marL="914400" rtl="0" algn="l">
              <a:spcBef>
                <a:spcPts val="0"/>
              </a:spcBef>
              <a:spcAft>
                <a:spcPts val="0"/>
              </a:spcAft>
              <a:buClr>
                <a:srgbClr val="000000"/>
              </a:buClr>
              <a:buSzPct val="100000"/>
              <a:buFont typeface="Arial"/>
              <a:buChar char="○"/>
            </a:pPr>
            <a:r>
              <a:rPr lang="en" sz="1100">
                <a:solidFill>
                  <a:srgbClr val="000000"/>
                </a:solidFill>
                <a:latin typeface="Arial"/>
                <a:ea typeface="Arial"/>
                <a:cs typeface="Arial"/>
                <a:sym typeface="Arial"/>
              </a:rPr>
              <a:t>Allergies and Social Determinants (e.g., housing, employment)</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61778" lvl="0" marL="457200" rtl="0" algn="l">
              <a:spcBef>
                <a:spcPts val="0"/>
              </a:spcBef>
              <a:spcAft>
                <a:spcPts val="0"/>
              </a:spcAft>
              <a:buClr>
                <a:srgbClr val="000000"/>
              </a:buClr>
              <a:buSzPct val="100000"/>
              <a:buFont typeface="Arial"/>
              <a:buChar char="●"/>
            </a:pPr>
            <a:r>
              <a:rPr lang="en" sz="1100">
                <a:solidFill>
                  <a:srgbClr val="000000"/>
                </a:solidFill>
                <a:latin typeface="Arial"/>
                <a:ea typeface="Arial"/>
                <a:cs typeface="Arial"/>
                <a:sym typeface="Arial"/>
              </a:rPr>
              <a:t>Handles missing data gracefully using </a:t>
            </a:r>
            <a:r>
              <a:rPr lang="en" sz="1100">
                <a:solidFill>
                  <a:srgbClr val="188038"/>
                </a:solidFill>
                <a:latin typeface="Roboto Mono"/>
                <a:ea typeface="Roboto Mono"/>
                <a:cs typeface="Roboto Mono"/>
                <a:sym typeface="Roboto Mono"/>
              </a:rPr>
              <a:t>try-except</a:t>
            </a:r>
            <a:br>
              <a:rPr lang="en" sz="1100">
                <a:solidFill>
                  <a:srgbClr val="188038"/>
                </a:solidFill>
                <a:latin typeface="Roboto Mono"/>
                <a:ea typeface="Roboto Mono"/>
                <a:cs typeface="Roboto Mono"/>
                <a:sym typeface="Roboto Mono"/>
              </a:rPr>
            </a:br>
            <a:endParaRPr sz="1100">
              <a:solidFill>
                <a:srgbClr val="188038"/>
              </a:solidFill>
              <a:latin typeface="Roboto Mono"/>
              <a:ea typeface="Roboto Mono"/>
              <a:cs typeface="Roboto Mono"/>
              <a:sym typeface="Roboto Mono"/>
            </a:endParaRPr>
          </a:p>
          <a:p>
            <a:pPr indent="-261778" lvl="0" marL="457200" rtl="0" algn="l">
              <a:spcBef>
                <a:spcPts val="0"/>
              </a:spcBef>
              <a:spcAft>
                <a:spcPts val="0"/>
              </a:spcAft>
              <a:buClr>
                <a:srgbClr val="000000"/>
              </a:buClr>
              <a:buSzPct val="100000"/>
              <a:buFont typeface="Arial"/>
              <a:buChar char="●"/>
            </a:pPr>
            <a:r>
              <a:rPr lang="en" sz="1100">
                <a:solidFill>
                  <a:srgbClr val="000000"/>
                </a:solidFill>
                <a:latin typeface="Arial"/>
                <a:ea typeface="Arial"/>
                <a:cs typeface="Arial"/>
                <a:sym typeface="Arial"/>
              </a:rPr>
              <a:t>Enhances profiles with preferred name, age calculation, and PCP information</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0" lvl="0" marL="0" rtl="0" algn="l">
              <a:spcBef>
                <a:spcPts val="1200"/>
              </a:spcBef>
              <a:spcAft>
                <a:spcPts val="0"/>
              </a:spcAft>
              <a:buNone/>
            </a:pPr>
            <a:r>
              <a:rPr b="1" lang="en" sz="1100">
                <a:solidFill>
                  <a:srgbClr val="000000"/>
                </a:solidFill>
                <a:latin typeface="Arial"/>
                <a:ea typeface="Arial"/>
                <a:cs typeface="Arial"/>
                <a:sym typeface="Arial"/>
              </a:rPr>
              <a:t>2. Personalized Prompt Formatting (</a:t>
            </a:r>
            <a:r>
              <a:rPr b="1" lang="en" sz="1100">
                <a:solidFill>
                  <a:srgbClr val="188038"/>
                </a:solidFill>
                <a:latin typeface="Roboto Mono"/>
                <a:ea typeface="Roboto Mono"/>
                <a:cs typeface="Roboto Mono"/>
                <a:sym typeface="Roboto Mono"/>
              </a:rPr>
              <a:t>format_medical_history_prompt</a:t>
            </a:r>
            <a:r>
              <a:rPr b="1" lang="en" sz="1100">
                <a:solidFill>
                  <a:srgbClr val="000000"/>
                </a:solidFill>
                <a:latin typeface="Arial"/>
                <a:ea typeface="Arial"/>
                <a:cs typeface="Arial"/>
                <a:sym typeface="Arial"/>
              </a:rPr>
              <a:t>)</a:t>
            </a:r>
            <a:endParaRPr b="1" sz="1100">
              <a:solidFill>
                <a:srgbClr val="000000"/>
              </a:solidFill>
              <a:latin typeface="Arial"/>
              <a:ea typeface="Arial"/>
              <a:cs typeface="Arial"/>
              <a:sym typeface="Arial"/>
            </a:endParaRPr>
          </a:p>
          <a:p>
            <a:pPr indent="-261778" lvl="0" marL="457200" rtl="0" algn="l">
              <a:spcBef>
                <a:spcPts val="1200"/>
              </a:spcBef>
              <a:spcAft>
                <a:spcPts val="0"/>
              </a:spcAft>
              <a:buClr>
                <a:srgbClr val="000000"/>
              </a:buClr>
              <a:buSzPct val="100000"/>
              <a:buFont typeface="Arial"/>
              <a:buChar char="●"/>
            </a:pPr>
            <a:r>
              <a:rPr lang="en" sz="1100">
                <a:solidFill>
                  <a:srgbClr val="000000"/>
                </a:solidFill>
                <a:latin typeface="Arial"/>
                <a:ea typeface="Arial"/>
                <a:cs typeface="Arial"/>
                <a:sym typeface="Arial"/>
              </a:rPr>
              <a:t>Tailors LLM prompts for:</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61778" lvl="1" marL="914400" rtl="0" algn="l">
              <a:spcBef>
                <a:spcPts val="0"/>
              </a:spcBef>
              <a:spcAft>
                <a:spcPts val="0"/>
              </a:spcAft>
              <a:buClr>
                <a:srgbClr val="000000"/>
              </a:buClr>
              <a:buSzPct val="100000"/>
              <a:buFont typeface="Arial"/>
              <a:buChar char="○"/>
            </a:pPr>
            <a:r>
              <a:rPr lang="en" sz="1100">
                <a:solidFill>
                  <a:srgbClr val="000000"/>
                </a:solidFill>
                <a:latin typeface="Arial"/>
                <a:ea typeface="Arial"/>
                <a:cs typeface="Arial"/>
                <a:sym typeface="Arial"/>
              </a:rPr>
              <a:t>Pediatric patients</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61778" lvl="1" marL="914400" rtl="0" algn="l">
              <a:spcBef>
                <a:spcPts val="0"/>
              </a:spcBef>
              <a:spcAft>
                <a:spcPts val="0"/>
              </a:spcAft>
              <a:buClr>
                <a:srgbClr val="000000"/>
              </a:buClr>
              <a:buSzPct val="100000"/>
              <a:buFont typeface="Arial"/>
              <a:buChar char="○"/>
            </a:pPr>
            <a:r>
              <a:rPr lang="en" sz="1100">
                <a:solidFill>
                  <a:srgbClr val="000000"/>
                </a:solidFill>
                <a:latin typeface="Arial"/>
                <a:ea typeface="Arial"/>
                <a:cs typeface="Arial"/>
                <a:sym typeface="Arial"/>
              </a:rPr>
              <a:t>Elderly individuals</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61778" lvl="1" marL="914400" rtl="0" algn="l">
              <a:spcBef>
                <a:spcPts val="0"/>
              </a:spcBef>
              <a:spcAft>
                <a:spcPts val="0"/>
              </a:spcAft>
              <a:buClr>
                <a:srgbClr val="000000"/>
              </a:buClr>
              <a:buSzPct val="100000"/>
              <a:buFont typeface="Arial"/>
              <a:buChar char="○"/>
            </a:pPr>
            <a:r>
              <a:rPr lang="en" sz="1100">
                <a:solidFill>
                  <a:srgbClr val="000000"/>
                </a:solidFill>
                <a:latin typeface="Arial"/>
                <a:ea typeface="Arial"/>
                <a:cs typeface="Arial"/>
                <a:sym typeface="Arial"/>
              </a:rPr>
              <a:t>Patients with cognitive impairment</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61778" lvl="1" marL="914400" rtl="0" algn="l">
              <a:spcBef>
                <a:spcPts val="0"/>
              </a:spcBef>
              <a:spcAft>
                <a:spcPts val="0"/>
              </a:spcAft>
              <a:buClr>
                <a:srgbClr val="000000"/>
              </a:buClr>
              <a:buSzPct val="100000"/>
              <a:buFont typeface="Arial"/>
              <a:buChar char="○"/>
            </a:pPr>
            <a:r>
              <a:rPr lang="en" sz="1100">
                <a:solidFill>
                  <a:srgbClr val="000000"/>
                </a:solidFill>
                <a:latin typeface="Arial"/>
                <a:ea typeface="Arial"/>
                <a:cs typeface="Arial"/>
                <a:sym typeface="Arial"/>
              </a:rPr>
              <a:t>Patients with limited English proficiency</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61778" lvl="0" marL="457200" rtl="0" algn="l">
              <a:spcBef>
                <a:spcPts val="0"/>
              </a:spcBef>
              <a:spcAft>
                <a:spcPts val="0"/>
              </a:spcAft>
              <a:buClr>
                <a:srgbClr val="000000"/>
              </a:buClr>
              <a:buSzPct val="100000"/>
              <a:buFont typeface="Arial"/>
              <a:buChar char="●"/>
            </a:pPr>
            <a:r>
              <a:rPr lang="en" sz="1100">
                <a:solidFill>
                  <a:srgbClr val="000000"/>
                </a:solidFill>
                <a:latin typeface="Arial"/>
                <a:ea typeface="Arial"/>
                <a:cs typeface="Arial"/>
                <a:sym typeface="Arial"/>
              </a:rPr>
              <a:t>Adds:</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61778" lvl="1" marL="914400" rtl="0" algn="l">
              <a:spcBef>
                <a:spcPts val="0"/>
              </a:spcBef>
              <a:spcAft>
                <a:spcPts val="0"/>
              </a:spcAft>
              <a:buClr>
                <a:srgbClr val="000000"/>
              </a:buClr>
              <a:buSzPct val="100000"/>
              <a:buFont typeface="Arial"/>
              <a:buChar char="○"/>
            </a:pPr>
            <a:r>
              <a:rPr lang="en" sz="1100">
                <a:solidFill>
                  <a:srgbClr val="000000"/>
                </a:solidFill>
                <a:latin typeface="Arial"/>
                <a:ea typeface="Arial"/>
                <a:cs typeface="Arial"/>
                <a:sym typeface="Arial"/>
              </a:rPr>
              <a:t>Detailed patient info (name, age, race, etc.)</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61778" lvl="1" marL="914400" rtl="0" algn="l">
              <a:spcBef>
                <a:spcPts val="0"/>
              </a:spcBef>
              <a:spcAft>
                <a:spcPts val="0"/>
              </a:spcAft>
              <a:buClr>
                <a:srgbClr val="000000"/>
              </a:buClr>
              <a:buSzPct val="100000"/>
              <a:buFont typeface="Arial"/>
              <a:buChar char="○"/>
            </a:pPr>
            <a:r>
              <a:rPr lang="en" sz="1100">
                <a:solidFill>
                  <a:srgbClr val="000000"/>
                </a:solidFill>
                <a:latin typeface="Arial"/>
                <a:ea typeface="Arial"/>
                <a:cs typeface="Arial"/>
                <a:sym typeface="Arial"/>
              </a:rPr>
              <a:t>Social context</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61778" lvl="1" marL="914400" rtl="0" algn="l">
              <a:spcBef>
                <a:spcPts val="0"/>
              </a:spcBef>
              <a:spcAft>
                <a:spcPts val="0"/>
              </a:spcAft>
              <a:buClr>
                <a:srgbClr val="000000"/>
              </a:buClr>
              <a:buSzPct val="100000"/>
              <a:buFont typeface="Arial"/>
              <a:buChar char="○"/>
            </a:pPr>
            <a:r>
              <a:rPr lang="en" sz="1100">
                <a:solidFill>
                  <a:srgbClr val="000000"/>
                </a:solidFill>
                <a:latin typeface="Arial"/>
                <a:ea typeface="Arial"/>
                <a:cs typeface="Arial"/>
                <a:sym typeface="Arial"/>
              </a:rPr>
              <a:t>Medical conditions, medications, and allergies</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0" lvl="0" marL="0" rtl="0" algn="l">
              <a:spcBef>
                <a:spcPts val="1200"/>
              </a:spcBef>
              <a:spcAft>
                <a:spcPts val="0"/>
              </a:spcAft>
              <a:buNone/>
            </a:pPr>
            <a:r>
              <a:rPr b="1" lang="en" sz="1100">
                <a:solidFill>
                  <a:srgbClr val="000000"/>
                </a:solidFill>
                <a:latin typeface="Arial"/>
                <a:ea typeface="Arial"/>
                <a:cs typeface="Arial"/>
                <a:sym typeface="Arial"/>
              </a:rPr>
              <a:t>Result</a:t>
            </a:r>
            <a:r>
              <a:rPr lang="en" sz="1100">
                <a:solidFill>
                  <a:srgbClr val="000000"/>
                </a:solidFill>
                <a:latin typeface="Arial"/>
                <a:ea typeface="Arial"/>
                <a:cs typeface="Arial"/>
                <a:sym typeface="Arial"/>
              </a:rPr>
              <a:t>: Structured EHR data becomes a natural-language summary tailored for diverse patient needs.</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pic>
        <p:nvPicPr>
          <p:cNvPr id="222" name="Google Shape;222;p35"/>
          <p:cNvPicPr preferRelativeResize="0"/>
          <p:nvPr/>
        </p:nvPicPr>
        <p:blipFill>
          <a:blip r:embed="rId3">
            <a:alphaModFix/>
          </a:blip>
          <a:stretch>
            <a:fillRect/>
          </a:stretch>
        </p:blipFill>
        <p:spPr>
          <a:xfrm>
            <a:off x="4572000" y="833425"/>
            <a:ext cx="3281850" cy="3860577"/>
          </a:xfrm>
          <a:prstGeom prst="rect">
            <a:avLst/>
          </a:prstGeom>
          <a:noFill/>
          <a:ln>
            <a:noFill/>
          </a:ln>
        </p:spPr>
      </p:pic>
      <p:pic>
        <p:nvPicPr>
          <p:cNvPr id="223" name="Google Shape;223;p35"/>
          <p:cNvPicPr preferRelativeResize="0"/>
          <p:nvPr/>
        </p:nvPicPr>
        <p:blipFill>
          <a:blip r:embed="rId4">
            <a:alphaModFix/>
          </a:blip>
          <a:stretch>
            <a:fillRect/>
          </a:stretch>
        </p:blipFill>
        <p:spPr>
          <a:xfrm>
            <a:off x="6974075" y="0"/>
            <a:ext cx="2169919" cy="514350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6"/>
          <p:cNvSpPr txBox="1"/>
          <p:nvPr>
            <p:ph type="title"/>
          </p:nvPr>
        </p:nvSpPr>
        <p:spPr>
          <a:xfrm>
            <a:off x="0" y="0"/>
            <a:ext cx="9144000" cy="1152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Testing three different cases: Elderly, Pediatric, and </a:t>
            </a:r>
            <a:r>
              <a:rPr lang="en"/>
              <a:t>Cognitively</a:t>
            </a:r>
            <a:r>
              <a:rPr lang="en"/>
              <a:t> Impaired</a:t>
            </a:r>
            <a:endParaRPr/>
          </a:p>
        </p:txBody>
      </p:sp>
      <p:sp>
        <p:nvSpPr>
          <p:cNvPr id="229" name="Google Shape;229;p36"/>
          <p:cNvSpPr txBox="1"/>
          <p:nvPr>
            <p:ph idx="1" type="body"/>
          </p:nvPr>
        </p:nvSpPr>
        <p:spPr>
          <a:xfrm>
            <a:off x="0" y="1152475"/>
            <a:ext cx="3387600" cy="3887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Run tests on each category</a:t>
            </a:r>
            <a:endParaRPr/>
          </a:p>
          <a:p>
            <a:pPr indent="-317500" lvl="1" marL="914400" rtl="0" algn="l">
              <a:spcBef>
                <a:spcPts val="0"/>
              </a:spcBef>
              <a:spcAft>
                <a:spcPts val="0"/>
              </a:spcAft>
              <a:buSzPts val="1400"/>
              <a:buChar char="-"/>
            </a:pPr>
            <a:r>
              <a:rPr lang="en"/>
              <a:t>Elderly</a:t>
            </a:r>
            <a:endParaRPr/>
          </a:p>
          <a:p>
            <a:pPr indent="-317500" lvl="1" marL="914400" rtl="0" algn="l">
              <a:spcBef>
                <a:spcPts val="0"/>
              </a:spcBef>
              <a:spcAft>
                <a:spcPts val="0"/>
              </a:spcAft>
              <a:buSzPts val="1400"/>
              <a:buChar char="-"/>
            </a:pPr>
            <a:r>
              <a:rPr lang="en"/>
              <a:t>Pediatric</a:t>
            </a:r>
            <a:endParaRPr/>
          </a:p>
          <a:p>
            <a:pPr indent="-317500" lvl="1" marL="914400" rtl="0" algn="l">
              <a:spcBef>
                <a:spcPts val="0"/>
              </a:spcBef>
              <a:spcAft>
                <a:spcPts val="0"/>
              </a:spcAft>
              <a:buSzPts val="1400"/>
              <a:buChar char="-"/>
            </a:pPr>
            <a:r>
              <a:rPr lang="en"/>
              <a:t>Cognitively</a:t>
            </a:r>
            <a:r>
              <a:rPr lang="en"/>
              <a:t> Impaired</a:t>
            </a:r>
            <a:endParaRPr/>
          </a:p>
          <a:p>
            <a:pPr indent="-342900" lvl="0" marL="457200" rtl="0" algn="l">
              <a:spcBef>
                <a:spcPts val="0"/>
              </a:spcBef>
              <a:spcAft>
                <a:spcPts val="0"/>
              </a:spcAft>
              <a:buSzPts val="1800"/>
              <a:buChar char="-"/>
            </a:pPr>
            <a:r>
              <a:rPr lang="en"/>
              <a:t>Dynamic Prompting based on patient class</a:t>
            </a:r>
            <a:endParaRPr/>
          </a:p>
          <a:p>
            <a:pPr indent="-317500" lvl="1" marL="914400" rtl="0" algn="l">
              <a:spcBef>
                <a:spcPts val="0"/>
              </a:spcBef>
              <a:spcAft>
                <a:spcPts val="0"/>
              </a:spcAft>
              <a:buSzPts val="1400"/>
              <a:buChar char="-"/>
            </a:pPr>
            <a:r>
              <a:rPr lang="en"/>
              <a:t>Fine-Tuned prompts to deal with specific situations</a:t>
            </a:r>
            <a:endParaRPr/>
          </a:p>
          <a:p>
            <a:pPr indent="-317500" lvl="1" marL="914400" rtl="0" algn="l">
              <a:spcBef>
                <a:spcPts val="0"/>
              </a:spcBef>
              <a:spcAft>
                <a:spcPts val="0"/>
              </a:spcAft>
              <a:buSzPts val="1400"/>
              <a:buChar char="-"/>
            </a:pPr>
            <a:r>
              <a:rPr lang="en"/>
              <a:t>Discharge Summaries Generated for each patient</a:t>
            </a:r>
            <a:endParaRPr/>
          </a:p>
        </p:txBody>
      </p:sp>
      <p:pic>
        <p:nvPicPr>
          <p:cNvPr id="230" name="Google Shape;230;p36"/>
          <p:cNvPicPr preferRelativeResize="0"/>
          <p:nvPr/>
        </p:nvPicPr>
        <p:blipFill>
          <a:blip r:embed="rId3">
            <a:alphaModFix/>
          </a:blip>
          <a:stretch>
            <a:fillRect/>
          </a:stretch>
        </p:blipFill>
        <p:spPr>
          <a:xfrm>
            <a:off x="3387597" y="1152450"/>
            <a:ext cx="5756254" cy="38874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Pediatric Patient: Prompt + Output</a:t>
            </a:r>
            <a:endParaRPr/>
          </a:p>
        </p:txBody>
      </p:sp>
      <p:sp>
        <p:nvSpPr>
          <p:cNvPr id="236" name="Google Shape;236;p37"/>
          <p:cNvSpPr txBox="1"/>
          <p:nvPr>
            <p:ph idx="1" type="body"/>
          </p:nvPr>
        </p:nvSpPr>
        <p:spPr>
          <a:xfrm>
            <a:off x="283450" y="982975"/>
            <a:ext cx="3999900" cy="34164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rPr lang="en" sz="1607">
                <a:solidFill>
                  <a:schemeClr val="dk1"/>
                </a:solidFill>
                <a:latin typeface="Courier New"/>
                <a:ea typeface="Courier New"/>
                <a:cs typeface="Courier New"/>
                <a:sym typeface="Courier New"/>
              </a:rPr>
              <a:t>Generated prompt for patient bfe5fb30-e78a-abb8-a83a-788816ae9fe4:</a:t>
            </a:r>
            <a:endParaRPr sz="1607">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607">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607">
                <a:solidFill>
                  <a:schemeClr val="dk1"/>
                </a:solidFill>
                <a:latin typeface="Courier New"/>
                <a:ea typeface="Courier New"/>
                <a:cs typeface="Courier New"/>
                <a:sym typeface="Courier New"/>
              </a:rPr>
              <a:t>You are a compassionate medical communication specialist who creates personalized discharge summaries for patients with different needs. Your task is to create a clear, understandable, and personalized discharge summary based on the following patient information.</a:t>
            </a:r>
            <a:endParaRPr sz="1607">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607">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607">
                <a:solidFill>
                  <a:schemeClr val="dk1"/>
                </a:solidFill>
                <a:latin typeface="Courier New"/>
                <a:ea typeface="Courier New"/>
                <a:cs typeface="Courier New"/>
                <a:sym typeface="Courier New"/>
              </a:rPr>
              <a:t>The patient is a minor (age 10). </a:t>
            </a:r>
            <a:endParaRPr sz="1607">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607">
                <a:solidFill>
                  <a:schemeClr val="dk1"/>
                </a:solidFill>
                <a:latin typeface="Courier New"/>
                <a:ea typeface="Courier New"/>
                <a:cs typeface="Courier New"/>
                <a:sym typeface="Courier New"/>
              </a:rPr>
              <a:t>Create a simplified discharge summary that would be appropriate for a child or adolescent patient and their parents/guardians.</a:t>
            </a:r>
            <a:endParaRPr sz="1607">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607">
                <a:solidFill>
                  <a:schemeClr val="dk1"/>
                </a:solidFill>
                <a:latin typeface="Courier New"/>
                <a:ea typeface="Courier New"/>
                <a:cs typeface="Courier New"/>
                <a:sym typeface="Courier New"/>
              </a:rPr>
              <a:t>Use warm, reassuring language and simple explanations of medical concepts. </a:t>
            </a:r>
            <a:endParaRPr sz="1607">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607">
                <a:solidFill>
                  <a:schemeClr val="dk1"/>
                </a:solidFill>
                <a:latin typeface="Courier New"/>
                <a:ea typeface="Courier New"/>
                <a:cs typeface="Courier New"/>
                <a:sym typeface="Courier New"/>
              </a:rPr>
              <a:t>If the child is very young (under 10), include elements that make the summary more engaging for kids.</a:t>
            </a:r>
            <a:endParaRPr sz="1607">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607">
                <a:solidFill>
                  <a:schemeClr val="dk1"/>
                </a:solidFill>
                <a:latin typeface="Courier New"/>
                <a:ea typeface="Courier New"/>
                <a:cs typeface="Courier New"/>
                <a:sym typeface="Courier New"/>
              </a:rPr>
              <a:t>Address both the child and the parent/guardian in the summary.</a:t>
            </a:r>
            <a:endParaRPr sz="1607">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607">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607">
                <a:solidFill>
                  <a:schemeClr val="dk1"/>
                </a:solidFill>
                <a:latin typeface="Courier New"/>
                <a:ea typeface="Courier New"/>
                <a:cs typeface="Courier New"/>
                <a:sym typeface="Courier New"/>
              </a:rPr>
              <a:t>PATIENT INFORMATION:</a:t>
            </a:r>
            <a:endParaRPr sz="1607">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607">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607">
                <a:solidFill>
                  <a:schemeClr val="dk1"/>
                </a:solidFill>
                <a:latin typeface="Courier New"/>
                <a:ea typeface="Courier New"/>
                <a:cs typeface="Courier New"/>
                <a:sym typeface="Courier New"/>
              </a:rPr>
              <a:t>Patient Information:</a:t>
            </a:r>
            <a:endParaRPr sz="1607">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607">
                <a:solidFill>
                  <a:schemeClr val="dk1"/>
                </a:solidFill>
                <a:latin typeface="Courier New"/>
                <a:ea typeface="Courier New"/>
                <a:cs typeface="Courier New"/>
                <a:sym typeface="Courier New"/>
              </a:rPr>
              <a:t>- Full Name: Shelby741 Muller251</a:t>
            </a:r>
            <a:endParaRPr sz="1607">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607">
                <a:solidFill>
                  <a:schemeClr val="dk1"/>
                </a:solidFill>
                <a:latin typeface="Courier New"/>
                <a:ea typeface="Courier New"/>
                <a:cs typeface="Courier New"/>
                <a:sym typeface="Courier New"/>
              </a:rPr>
              <a:t>- Preferred Name: Shelby741</a:t>
            </a:r>
            <a:endParaRPr sz="1607">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607">
                <a:solidFill>
                  <a:schemeClr val="dk1"/>
                </a:solidFill>
                <a:latin typeface="Courier New"/>
                <a:ea typeface="Courier New"/>
                <a:cs typeface="Courier New"/>
                <a:sym typeface="Courier New"/>
              </a:rPr>
              <a:t>- Age: 10</a:t>
            </a:r>
            <a:endParaRPr sz="1607">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607">
                <a:solidFill>
                  <a:schemeClr val="dk1"/>
                </a:solidFill>
                <a:latin typeface="Courier New"/>
                <a:ea typeface="Courier New"/>
                <a:cs typeface="Courier New"/>
                <a:sym typeface="Courier New"/>
              </a:rPr>
              <a:t>- Gender: M</a:t>
            </a:r>
            <a:endParaRPr sz="1607">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607">
                <a:solidFill>
                  <a:schemeClr val="dk1"/>
                </a:solidFill>
                <a:latin typeface="Courier New"/>
                <a:ea typeface="Courier New"/>
                <a:cs typeface="Courier New"/>
                <a:sym typeface="Courier New"/>
              </a:rPr>
              <a:t>- Race: black</a:t>
            </a:r>
            <a:endParaRPr sz="1607">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607">
                <a:solidFill>
                  <a:schemeClr val="dk1"/>
                </a:solidFill>
                <a:latin typeface="Courier New"/>
                <a:ea typeface="Courier New"/>
                <a:cs typeface="Courier New"/>
                <a:sym typeface="Courier New"/>
              </a:rPr>
              <a:t>- Ethnicity: nonhispanic</a:t>
            </a:r>
            <a:endParaRPr sz="1607">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607">
                <a:solidFill>
                  <a:schemeClr val="dk1"/>
                </a:solidFill>
                <a:latin typeface="Courier New"/>
                <a:ea typeface="Courier New"/>
                <a:cs typeface="Courier New"/>
                <a:sym typeface="Courier New"/>
              </a:rPr>
              <a:t>- Marital Status: Unknown</a:t>
            </a:r>
            <a:endParaRPr sz="1607">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607">
                <a:solidFill>
                  <a:schemeClr val="dk1"/>
                </a:solidFill>
                <a:latin typeface="Courier New"/>
                <a:ea typeface="Courier New"/>
                <a:cs typeface="Courier New"/>
                <a:sym typeface="Courier New"/>
              </a:rPr>
              <a:t>- Birthplace: North Reading  Massachusetts  US</a:t>
            </a:r>
            <a:endParaRPr sz="1607">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607">
                <a:solidFill>
                  <a:schemeClr val="dk1"/>
                </a:solidFill>
                <a:latin typeface="Courier New"/>
                <a:ea typeface="Courier New"/>
                <a:cs typeface="Courier New"/>
                <a:sym typeface="Courier New"/>
              </a:rPr>
              <a:t>- Address: 860 Boyer Underpass, Boston, Massachusetts 2120.0</a:t>
            </a:r>
            <a:endParaRPr sz="1607">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607">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607">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607">
                <a:solidFill>
                  <a:schemeClr val="dk1"/>
                </a:solidFill>
                <a:latin typeface="Courier New"/>
                <a:ea typeface="Courier New"/>
                <a:cs typeface="Courier New"/>
                <a:sym typeface="Courier New"/>
              </a:rPr>
              <a:t>Current Health Conditions:</a:t>
            </a:r>
            <a:endParaRPr sz="1607">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607">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607">
                <a:solidFill>
                  <a:schemeClr val="dk1"/>
                </a:solidFill>
                <a:latin typeface="Courier New"/>
                <a:ea typeface="Courier New"/>
                <a:cs typeface="Courier New"/>
                <a:sym typeface="Courier New"/>
              </a:rPr>
              <a:t>Current Medications:</a:t>
            </a:r>
            <a:endParaRPr sz="1607">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607">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607">
                <a:solidFill>
                  <a:schemeClr val="dk1"/>
                </a:solidFill>
                <a:latin typeface="Courier New"/>
                <a:ea typeface="Courier New"/>
                <a:cs typeface="Courier New"/>
                <a:sym typeface="Courier New"/>
              </a:rPr>
              <a:t>Recent Medical Visits:</a:t>
            </a:r>
            <a:endParaRPr sz="1607">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607">
                <a:solidFill>
                  <a:schemeClr val="dk1"/>
                </a:solidFill>
                <a:latin typeface="Courier New"/>
                <a:ea typeface="Courier New"/>
                <a:cs typeface="Courier New"/>
                <a:sym typeface="Courier New"/>
              </a:rPr>
              <a:t>- 2021-10-24T12:19:43Z: Encounter for 'check-up' at 44bef9d3-91c2-3005-93e0-ccf436348ff0 (Reason: Fracture of forearm)</a:t>
            </a:r>
            <a:endParaRPr sz="1607">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607">
                <a:solidFill>
                  <a:schemeClr val="dk1"/>
                </a:solidFill>
                <a:latin typeface="Courier New"/>
                <a:ea typeface="Courier New"/>
                <a:cs typeface="Courier New"/>
                <a:sym typeface="Courier New"/>
              </a:rPr>
              <a:t>- 2021-10-07T11:38:25Z: Well child visit (procedure) at 53622c13-f281-3432-8b79-89627a0eedd3 (Reason: Not specified)</a:t>
            </a:r>
            <a:endParaRPr sz="1607">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607">
                <a:solidFill>
                  <a:schemeClr val="dk1"/>
                </a:solidFill>
                <a:latin typeface="Courier New"/>
                <a:ea typeface="Courier New"/>
                <a:cs typeface="Courier New"/>
                <a:sym typeface="Courier New"/>
              </a:rPr>
              <a:t>- 2021-06-30T11:38:25Z: Emergency room admission (procedure) at 44bef9d3-91c2-3005-93e0-ccf436348ff0 (Reason: Not specified)</a:t>
            </a:r>
            <a:endParaRPr sz="1607">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607">
                <a:solidFill>
                  <a:schemeClr val="dk1"/>
                </a:solidFill>
                <a:latin typeface="Courier New"/>
                <a:ea typeface="Courier New"/>
                <a:cs typeface="Courier New"/>
                <a:sym typeface="Courier New"/>
              </a:rPr>
              <a:t>- 2020-10-01T11:38:25Z: Well child visit (procedure) at 53622c13-f281-3432-8b79-89627a0eedd3 (Reason: Not specified)</a:t>
            </a:r>
            <a:endParaRPr sz="1607">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607">
                <a:solidFill>
                  <a:schemeClr val="dk1"/>
                </a:solidFill>
                <a:latin typeface="Courier New"/>
                <a:ea typeface="Courier New"/>
                <a:cs typeface="Courier New"/>
                <a:sym typeface="Courier New"/>
              </a:rPr>
              <a:t>- 2019-09-26T11:38:25Z: Well child visit (procedure) at 53622c13-f281-3432-8b79-89627a0eedd3 (Reason: Not specified)</a:t>
            </a:r>
            <a:endParaRPr sz="1607">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607">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607">
                <a:solidFill>
                  <a:schemeClr val="dk1"/>
                </a:solidFill>
                <a:latin typeface="Courier New"/>
                <a:ea typeface="Courier New"/>
                <a:cs typeface="Courier New"/>
                <a:sym typeface="Courier New"/>
              </a:rPr>
              <a:t>Recent Procedures:</a:t>
            </a:r>
            <a:endParaRPr sz="1607">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607">
                <a:solidFill>
                  <a:schemeClr val="dk1"/>
                </a:solidFill>
                <a:latin typeface="Courier New"/>
                <a:ea typeface="Courier New"/>
                <a:cs typeface="Courier New"/>
                <a:sym typeface="Courier New"/>
              </a:rPr>
              <a:t>- 2021-10-07T11:38:25Z: Assessment using Morse Fall Scale (procedure) (Reason: Not specified)</a:t>
            </a:r>
            <a:endParaRPr sz="1607">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607">
                <a:solidFill>
                  <a:schemeClr val="dk1"/>
                </a:solidFill>
                <a:latin typeface="Courier New"/>
                <a:ea typeface="Courier New"/>
                <a:cs typeface="Courier New"/>
                <a:sym typeface="Courier New"/>
              </a:rPr>
              <a:t>- 2021-06-30T11:38:25Z: Upper arm X-ray (Reason: Not specified)</a:t>
            </a:r>
            <a:endParaRPr sz="1607">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607">
                <a:solidFill>
                  <a:schemeClr val="dk1"/>
                </a:solidFill>
                <a:latin typeface="Courier New"/>
                <a:ea typeface="Courier New"/>
                <a:cs typeface="Courier New"/>
                <a:sym typeface="Courier New"/>
              </a:rPr>
              <a:t>- 2021-06-30T11:38:25Z: Bone immobilization (Reason: Fracture of forearm)</a:t>
            </a:r>
            <a:endParaRPr sz="1607">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607">
                <a:solidFill>
                  <a:schemeClr val="dk1"/>
                </a:solidFill>
                <a:latin typeface="Courier New"/>
                <a:ea typeface="Courier New"/>
                <a:cs typeface="Courier New"/>
                <a:sym typeface="Courier New"/>
              </a:rPr>
              <a:t>- 2019-09-26T11:38:25Z: Medication Reconciliation (procedure) (Reason: Not specified)</a:t>
            </a:r>
            <a:endParaRPr sz="1607">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607">
                <a:solidFill>
                  <a:schemeClr val="dk1"/>
                </a:solidFill>
                <a:latin typeface="Courier New"/>
                <a:ea typeface="Courier New"/>
                <a:cs typeface="Courier New"/>
                <a:sym typeface="Courier New"/>
              </a:rPr>
              <a:t>- 2018-10-08T08:38:25Z: Throat culture (procedure) (Reason: Acute viral pharyngitis (disorder))</a:t>
            </a:r>
            <a:endParaRPr sz="1607">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607">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607">
                <a:solidFill>
                  <a:schemeClr val="dk1"/>
                </a:solidFill>
                <a:latin typeface="Courier New"/>
                <a:ea typeface="Courier New"/>
                <a:cs typeface="Courier New"/>
                <a:sym typeface="Courier New"/>
              </a:rPr>
              <a:t>Allergies:</a:t>
            </a:r>
            <a:endParaRPr sz="1607">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607">
                <a:solidFill>
                  <a:schemeClr val="dk1"/>
                </a:solidFill>
                <a:latin typeface="Courier New"/>
                <a:ea typeface="Courier New"/>
                <a:cs typeface="Courier New"/>
                <a:sym typeface="Courier New"/>
              </a:rPr>
              <a:t>- No known allergies</a:t>
            </a:r>
            <a:endParaRPr sz="1607">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607">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607">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607">
                <a:solidFill>
                  <a:schemeClr val="dk1"/>
                </a:solidFill>
                <a:latin typeface="Courier New"/>
                <a:ea typeface="Courier New"/>
                <a:cs typeface="Courier New"/>
                <a:sym typeface="Courier New"/>
              </a:rPr>
              <a:t>Create a personalized discharge summary that:</a:t>
            </a:r>
            <a:endParaRPr sz="1607">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607">
                <a:solidFill>
                  <a:schemeClr val="dk1"/>
                </a:solidFill>
                <a:latin typeface="Courier New"/>
                <a:ea typeface="Courier New"/>
                <a:cs typeface="Courier New"/>
                <a:sym typeface="Courier New"/>
              </a:rPr>
              <a:t>1. Addresses the patient by their preferred name (Shelby741) and makes them feel seen as a person, not just a medical case</a:t>
            </a:r>
            <a:endParaRPr sz="1607">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607">
                <a:solidFill>
                  <a:schemeClr val="dk1"/>
                </a:solidFill>
                <a:latin typeface="Courier New"/>
                <a:ea typeface="Courier New"/>
                <a:cs typeface="Courier New"/>
                <a:sym typeface="Courier New"/>
              </a:rPr>
              <a:t>2. Summarizes their condition in plain language</a:t>
            </a:r>
            <a:endParaRPr sz="1607">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607">
                <a:solidFill>
                  <a:schemeClr val="dk1"/>
                </a:solidFill>
                <a:latin typeface="Courier New"/>
                <a:ea typeface="Courier New"/>
                <a:cs typeface="Courier New"/>
                <a:sym typeface="Courier New"/>
              </a:rPr>
              <a:t>3. Explains their medications clearly with a simple schedule</a:t>
            </a:r>
            <a:endParaRPr sz="1607">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607">
                <a:solidFill>
                  <a:schemeClr val="dk1"/>
                </a:solidFill>
                <a:latin typeface="Courier New"/>
                <a:ea typeface="Courier New"/>
                <a:cs typeface="Courier New"/>
                <a:sym typeface="Courier New"/>
              </a:rPr>
              <a:t>4. Provides specific follow-up instructions</a:t>
            </a:r>
            <a:endParaRPr sz="1607">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607">
                <a:solidFill>
                  <a:schemeClr val="dk1"/>
                </a:solidFill>
                <a:latin typeface="Courier New"/>
                <a:ea typeface="Courier New"/>
                <a:cs typeface="Courier New"/>
                <a:sym typeface="Courier New"/>
              </a:rPr>
              <a:t>5. Includes warning signs that should prompt them to seek immediate care</a:t>
            </a:r>
            <a:endParaRPr sz="1607">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607">
                <a:solidFill>
                  <a:schemeClr val="dk1"/>
                </a:solidFill>
                <a:latin typeface="Courier New"/>
                <a:ea typeface="Courier New"/>
                <a:cs typeface="Courier New"/>
                <a:sym typeface="Courier New"/>
              </a:rPr>
              <a:t>6. Uses appropriate visual formatting for the target audience</a:t>
            </a:r>
            <a:endParaRPr sz="1607">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607">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607">
                <a:solidFill>
                  <a:schemeClr val="dk1"/>
                </a:solidFill>
                <a:latin typeface="Courier New"/>
                <a:ea typeface="Courier New"/>
                <a:cs typeface="Courier New"/>
                <a:sym typeface="Courier New"/>
              </a:rPr>
              <a:t>Write in a warm, empathetic tone that acknowledges the patient's individual circumstances. Avoid generic language. Make the patient feel that this summary was created specifically for them.</a:t>
            </a:r>
            <a:endParaRPr sz="1607">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607">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607">
                <a:solidFill>
                  <a:schemeClr val="dk1"/>
                </a:solidFill>
                <a:latin typeface="Courier New"/>
                <a:ea typeface="Courier New"/>
                <a:cs typeface="Courier New"/>
                <a:sym typeface="Courier New"/>
              </a:rPr>
              <a:t>Important discharge information should be clearly highlighted. Medication instructions should be particularly clear and easy to follow.</a:t>
            </a:r>
            <a:endParaRPr sz="1607">
              <a:solidFill>
                <a:schemeClr val="dk1"/>
              </a:solidFill>
              <a:latin typeface="Courier New"/>
              <a:ea typeface="Courier New"/>
              <a:cs typeface="Courier New"/>
              <a:sym typeface="Courier New"/>
            </a:endParaRPr>
          </a:p>
          <a:p>
            <a:pPr indent="0" lvl="0" marL="0" rtl="0" algn="l">
              <a:spcBef>
                <a:spcPts val="0"/>
              </a:spcBef>
              <a:spcAft>
                <a:spcPts val="1200"/>
              </a:spcAft>
              <a:buNone/>
            </a:pPr>
            <a:r>
              <a:t/>
            </a:r>
            <a:endParaRPr/>
          </a:p>
        </p:txBody>
      </p:sp>
      <p:pic>
        <p:nvPicPr>
          <p:cNvPr id="237" name="Google Shape;237;p37"/>
          <p:cNvPicPr preferRelativeResize="0"/>
          <p:nvPr/>
        </p:nvPicPr>
        <p:blipFill>
          <a:blip r:embed="rId3">
            <a:alphaModFix/>
          </a:blip>
          <a:stretch>
            <a:fillRect/>
          </a:stretch>
        </p:blipFill>
        <p:spPr>
          <a:xfrm>
            <a:off x="4383950" y="1278425"/>
            <a:ext cx="4555852" cy="297195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Elderly: Prompt + Output</a:t>
            </a:r>
            <a:endParaRPr/>
          </a:p>
        </p:txBody>
      </p:sp>
      <p:sp>
        <p:nvSpPr>
          <p:cNvPr id="243" name="Google Shape;243;p38"/>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Generated prompt for patient 30813a62-aa9f-3c7c-cc52-6c3957a3c1b1:</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You are a compassionate medical communication specialist who creates personalized discharge summaries for patients with different needs. Your task is to create a clear, understandable, and personalized discharge summary based on the following patient information.</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The patient is elderly (age 96). </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Create a simplified discharge summary with visual indicators for important sections, clear medication instructions, </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and straightforward follow-up directions. Be respectful and avoid condescending language.</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Remember that elderly patients often have more complex health situations and may be taking multiple medications.</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PATIENT INFORMATION:</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Patient Information:</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 Full Name: Mrs. January966 Ledner144</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 Preferred Name: January966</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 Age: 96</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 Gender: F</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 Race: asian</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 Ethnicity: nonhispanic</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 Marital Status: M</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 Birthplace: Hyderabad  Andhra Pradesh  IN</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 Address: 120 Zieme Manor Unit 21, Burlington, Massachusetts nan</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Current Health Conditions:</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 Only received primary school education (finding) (since 1947-01-07)</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 Refugee (person) (since 1947-01-07)</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 Body mass index 30+ - obesity (finding) (since 1968-11-19)</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 Has a criminal record (finding) (since 1970-11-24)</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 Chronic pain (since 1990-07-01)</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 Chronic intractable migraine without aura (since 1990-08-07)</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 Impacted molars (since 1991-04-30)</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 Drug overdose (since 1998-06-16)</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 Atrial Fibrillation (since 2010-05-11)</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 Stroke (since 2016-05-24)</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 Osteoporosis (disorder) (since 2019-07-02)</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 Part-time employment (finding) (since 2021-07-13)</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 Stress (finding) (since 2021-07-13)</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 Otitis media (since 2021-09-23)</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Current Medications:</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 Vitamin B 12 5 MG/ML Injectable Solution (Reason: Not specified)</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 Alendronic acid 10 MG Oral Tablet (Reason: Not specified)</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 Verapamil Hydrochloride 40 MG (Reason: Not specified)</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 Digoxin 0.125 MG Oral Tablet (Reason: Not specified)</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 Warfarin Sodium 5 MG Oral Tablet (Reason: Not specified)</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Recent Medical Visits:</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- 2021-09-23T20:45:19Z: Encounter for symptom at 6f122869-a856-3d65-8db9-099bf4f5bbb8 (Reason: Otitis media)</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- 2021-07-13T20:45:19Z: General examination of patient (procedure) at ae072d0e-0be7-3627-ad1e-8be87110de63 (Reason: Not specified)</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- 2021-06-23T20:45:19Z: Encounter for problem (procedure) at 6f122869-a856-3d65-8db9-099bf4f5bbb8 (Reason: Not specified)</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- 2021-05-19T20:45:19Z: Emergency Room Admission at 6f122869-a856-3d65-8db9-099bf4f5bbb8 (Reason: Drug overdose)</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- 2021-04-13T20:45:19Z: Administration of vaccine to produce active immunity (procedure) at 6f122869-a856-3d65-8db9-099bf4f5bbb8 (Reason: Not specified)</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Recent Procedures:</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- 2021-07-13T22:12:13Z: Depression screening using Patient Health Questionnaire Two-Item score (procedure) (Reason: Not specified)</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- 2021-07-13T21:57:42Z: Depression screening (procedure) (Reason: Not specified)</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- 2021-07-13T21:22:42Z: Screening for domestic abuse (procedure) (Reason: Not specified)</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- 2021-07-13T20:45:19Z: Catheter ablation of tissue of heart (Reason: Atrial Fibrillation)</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- 2021-07-13T20:45:19Z: Assessment of health and social care needs (procedure) (Reason: Not specified)</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Allergies:</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 No known allergies</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Create a personalized discharge summary that:</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1. Addresses the patient by their preferred name (January966) and makes them feel seen as a person, not just a medical case</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2. Summarizes their condition in plain language</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3. Explains their medications clearly with a simple schedule</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4. Provides specific follow-up instructions</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5. Includes warning signs that should prompt them to seek immediate care</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6. Uses appropriate visual formatting for the target audience</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Write in a warm, empathetic tone that acknowledges the patient's individual circumstances. Avoid generic language. Make the patient feel that this summary was created specifically for them.</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Important discharge information should be clearly highlighted. Medication instructions should be particularly clear and easy to follow.</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Target audience: elderly</a:t>
            </a:r>
            <a:endParaRPr sz="300">
              <a:solidFill>
                <a:schemeClr val="dk1"/>
              </a:solidFill>
            </a:endParaRPr>
          </a:p>
        </p:txBody>
      </p:sp>
      <p:pic>
        <p:nvPicPr>
          <p:cNvPr id="244" name="Google Shape;244;p38"/>
          <p:cNvPicPr preferRelativeResize="0"/>
          <p:nvPr/>
        </p:nvPicPr>
        <p:blipFill>
          <a:blip r:embed="rId3">
            <a:alphaModFix/>
          </a:blip>
          <a:stretch>
            <a:fillRect/>
          </a:stretch>
        </p:blipFill>
        <p:spPr>
          <a:xfrm>
            <a:off x="4370625" y="895250"/>
            <a:ext cx="4527597" cy="3673637"/>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Cognitively</a:t>
            </a:r>
            <a:r>
              <a:rPr lang="en"/>
              <a:t> Impaired: Prompt + Output</a:t>
            </a:r>
            <a:endParaRPr/>
          </a:p>
        </p:txBody>
      </p:sp>
      <p:sp>
        <p:nvSpPr>
          <p:cNvPr id="250" name="Google Shape;250;p39"/>
          <p:cNvSpPr txBox="1"/>
          <p:nvPr>
            <p:ph idx="1" type="body"/>
          </p:nvPr>
        </p:nvSpPr>
        <p:spPr>
          <a:xfrm>
            <a:off x="311700" y="1143050"/>
            <a:ext cx="3999900" cy="3416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Generated prompt for patient 5ec53533-38d5-fd93-159b-7389ffd95940:</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You are a compassionate medical communication specialist who creates personalized discharge summaries for patients with different needs. Your task is to create a clear, understandable, and personalized discharge summary based on the following patient information.</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The patient has a condition that may affect cognition (e.g., dementia, intellectual disability, brain injury). </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Create a very simplified discharge summary with visual cues, simple language, step-by-step instructions, and information directed at both the patient and their caregiver(s).</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Use short sentences, simple words, and clear organization.</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PATIENT INFORMATION:</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Patient Information:</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 Full Name: Mr. Jewel43 McClure239</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 Preferred Name: Jewel43</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 Age: 98</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 Gender: M</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 Race: white</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 Ethnicity: nonhispanic</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 Marital Status: M</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 Birthplace: Worcester  Massachusetts  US</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 Address: 745 Breitenberg Tunnel, Wakefield, Massachusetts 1940.0</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Current Health Conditions:</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 Served in armed forces (finding) (since 1944-09-11)</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 Received higher education (finding) (since 1944-09-11)</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 Chronic sinusitis (disorder) (since 1947-11-20)</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 Refugee (person) (since 1972-08-07)</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 Smokes tobacco daily (since 1977-07-25)</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 Prediabetes (since 1979-08-06)</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 Neoplasm of prostate (since 1986-09-15)</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 Carcinoma in situ of prostate (disorder) (since 1986-09-15)</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 Victim of intimate partner abuse (finding) (since 1992-10-19)</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 Stroke (since 2008-07-07)</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 Part-time employment (finding) (since 2021-03-29)</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Current Medications:</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- 24hr nicotine transdermal patch (Reason: Not specified)</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- 1 ML DOCEtaxel 20 MG/ML Injection (Reason: Not specified)</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- 0.25 ML Leuprolide Acetate 30 MG/ML Prefilled Syringe (Reason: Not specified)</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Recent Medical Visits:</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- 2021-03-29T22:34:40Z: General examination of patient (procedure) at 8881e3ee-e915-31b3-867f-8e2fbe41e887 (Reason: Not specified)</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- 2020-03-23T22:34:40Z: General examination of patient (procedure) at 8881e3ee-e915-31b3-867f-8e2fbe41e887 (Reason: Not specified)</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- 2019-12-16T14:34:40Z: Encounter for symptom at 8881e3ee-e915-31b3-867f-8e2fbe41e887 (Reason: Viral sinusitis (disorder))</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- 2019-03-18T22:34:40Z: General examination of patient (procedure) at 8881e3ee-e915-31b3-867f-8e2fbe41e887 (Reason: Not specified)</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- 2018-03-12T22:34:40Z: General examination of patient (procedure) at 8881e3ee-e915-31b3-867f-8e2fbe41e887 (Reason: Not specified)</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Recent Procedures:</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- 2021-03-30T00:57:15Z: Assessment using Alcohol Use Disorders Identification Test - Consumption (procedure) (Reason: Not specified)</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- 2021-03-30T00:46:03Z: Assessment of substance use (procedure) (Reason: Not specified)</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- 2021-03-30T00:18:37Z: Depression screening using Patient Health Questionnaire Nine Item score (procedure) (Reason: Not specified)</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- 2021-03-29T23:56:00Z: Depression screening using Patient Health Questionnaire Two-Item score (procedure) (Reason: Not specified)</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- 2021-03-29T23:44:23Z: Depression screening (procedure) (Reason: Not specified)</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Allergies:</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 No known allergies</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Create a personalized discharge summary that:</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1. Addresses the patient by their preferred name (Jewel43) and makes them feel seen as a person, not just a medical case</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2. Summarizes their condition in plain language</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3. Explains their medications clearly with a simple schedule</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4. Provides specific follow-up instructions</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5. Includes warning signs that should prompt them to seek immediate care</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6. Uses appropriate visual formatting for the target audience</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Write in a warm, empathetic tone that acknowledges the patient's individual circumstances. Avoid generic language. Make the patient feel that this summary was created specifically for them.</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Important discharge information should be clearly highlighted. Medication instructions should be particularly clear and easy to follow.</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Target audience: cognitive_impairment</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Number of tokens in the prompt: 1035</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3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300">
                <a:solidFill>
                  <a:schemeClr val="dk1"/>
                </a:solidFill>
                <a:latin typeface="Courier New"/>
                <a:ea typeface="Courier New"/>
                <a:cs typeface="Courier New"/>
                <a:sym typeface="Courier New"/>
              </a:rPr>
              <a:t>Generated cognitive impairment discharge summary for Jewel43 McClure239 (Age: 98)</a:t>
            </a:r>
            <a:endParaRPr sz="300">
              <a:solidFill>
                <a:schemeClr val="dk1"/>
              </a:solidFill>
            </a:endParaRPr>
          </a:p>
        </p:txBody>
      </p:sp>
      <p:pic>
        <p:nvPicPr>
          <p:cNvPr id="251" name="Google Shape;251;p39"/>
          <p:cNvPicPr preferRelativeResize="0"/>
          <p:nvPr/>
        </p:nvPicPr>
        <p:blipFill>
          <a:blip r:embed="rId3">
            <a:alphaModFix/>
          </a:blip>
          <a:stretch>
            <a:fillRect/>
          </a:stretch>
        </p:blipFill>
        <p:spPr>
          <a:xfrm>
            <a:off x="4388675" y="1108900"/>
            <a:ext cx="4527598" cy="3630236"/>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40"/>
          <p:cNvSpPr txBox="1"/>
          <p:nvPr>
            <p:ph type="title"/>
          </p:nvPr>
        </p:nvSpPr>
        <p:spPr>
          <a:xfrm>
            <a:off x="311700" y="0"/>
            <a:ext cx="8520600" cy="1017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Test Case Results: Pediatric, Elderly, and </a:t>
            </a:r>
            <a:r>
              <a:rPr lang="en"/>
              <a:t>Cognitively</a:t>
            </a:r>
            <a:r>
              <a:rPr lang="en"/>
              <a:t> Impaired</a:t>
            </a:r>
            <a:endParaRPr/>
          </a:p>
        </p:txBody>
      </p:sp>
      <p:sp>
        <p:nvSpPr>
          <p:cNvPr id="257" name="Google Shape;257;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en"/>
              <a:t>Pediatric</a:t>
            </a:r>
            <a:endParaRPr/>
          </a:p>
          <a:p>
            <a:pPr indent="-304800" lvl="1" marL="914400" rtl="0" algn="l">
              <a:spcBef>
                <a:spcPts val="0"/>
              </a:spcBef>
              <a:spcAft>
                <a:spcPts val="0"/>
              </a:spcAft>
              <a:buSzPts val="1200"/>
              <a:buChar char="○"/>
            </a:pPr>
            <a:r>
              <a:rPr lang="en"/>
              <a:t>Inconsistencies between medications which were prescribed, and described in the table</a:t>
            </a:r>
            <a:endParaRPr/>
          </a:p>
          <a:p>
            <a:pPr indent="-304800" lvl="1" marL="914400" rtl="0" algn="l">
              <a:spcBef>
                <a:spcPts val="0"/>
              </a:spcBef>
              <a:spcAft>
                <a:spcPts val="0"/>
              </a:spcAft>
              <a:buSzPts val="1200"/>
              <a:buChar char="○"/>
            </a:pPr>
            <a:r>
              <a:rPr lang="en"/>
              <a:t>Good writing to the age range of someone below 10, medical documentation there was very good</a:t>
            </a:r>
            <a:endParaRPr/>
          </a:p>
          <a:p>
            <a:pPr indent="-304800" lvl="1" marL="914400" rtl="0" algn="l">
              <a:spcBef>
                <a:spcPts val="0"/>
              </a:spcBef>
              <a:spcAft>
                <a:spcPts val="0"/>
              </a:spcAft>
              <a:buSzPts val="1200"/>
              <a:buChar char="○"/>
            </a:pPr>
            <a:r>
              <a:rPr lang="en"/>
              <a:t>Overall, not a bad response, but lacking in structure, consistency, and details</a:t>
            </a:r>
            <a:endParaRPr/>
          </a:p>
          <a:p>
            <a:pPr indent="-317500" lvl="0" marL="457200" rtl="0" algn="l">
              <a:spcBef>
                <a:spcPts val="0"/>
              </a:spcBef>
              <a:spcAft>
                <a:spcPts val="0"/>
              </a:spcAft>
              <a:buSzPts val="1400"/>
              <a:buChar char="●"/>
            </a:pPr>
            <a:r>
              <a:rPr lang="en"/>
              <a:t>Elderly</a:t>
            </a:r>
            <a:endParaRPr/>
          </a:p>
          <a:p>
            <a:pPr indent="-304800" lvl="1" marL="914400" rtl="0" algn="l">
              <a:spcBef>
                <a:spcPts val="0"/>
              </a:spcBef>
              <a:spcAft>
                <a:spcPts val="0"/>
              </a:spcAft>
              <a:buSzPts val="1200"/>
              <a:buChar char="○"/>
            </a:pPr>
            <a:r>
              <a:rPr lang="en"/>
              <a:t>Very good medications section with the listings of times and </a:t>
            </a:r>
            <a:r>
              <a:rPr lang="en"/>
              <a:t>recommendations</a:t>
            </a:r>
            <a:endParaRPr/>
          </a:p>
          <a:p>
            <a:pPr indent="-304800" lvl="1" marL="914400" rtl="0" algn="l">
              <a:spcBef>
                <a:spcPts val="0"/>
              </a:spcBef>
              <a:spcAft>
                <a:spcPts val="0"/>
              </a:spcAft>
              <a:buSzPts val="1200"/>
              <a:buChar char="○"/>
            </a:pPr>
            <a:r>
              <a:rPr lang="en"/>
              <a:t>Instructions and </a:t>
            </a:r>
            <a:r>
              <a:rPr lang="en"/>
              <a:t>recommendations</a:t>
            </a:r>
            <a:r>
              <a:rPr lang="en"/>
              <a:t> were tuned specifically to an older individual, like remembering to take meds at the same time and using a pill box organizer</a:t>
            </a:r>
            <a:endParaRPr/>
          </a:p>
          <a:p>
            <a:pPr indent="-304800" lvl="1" marL="914400" rtl="0" algn="l">
              <a:spcBef>
                <a:spcPts val="0"/>
              </a:spcBef>
              <a:spcAft>
                <a:spcPts val="0"/>
              </a:spcAft>
              <a:buSzPts val="1200"/>
              <a:buChar char="○"/>
            </a:pPr>
            <a:r>
              <a:rPr lang="en"/>
              <a:t>Good additional resources, still lacking hospital and other details</a:t>
            </a:r>
            <a:endParaRPr/>
          </a:p>
          <a:p>
            <a:pPr indent="-317500" lvl="0" marL="457200" rtl="0" algn="l">
              <a:spcBef>
                <a:spcPts val="0"/>
              </a:spcBef>
              <a:spcAft>
                <a:spcPts val="0"/>
              </a:spcAft>
              <a:buSzPts val="1400"/>
              <a:buChar char="●"/>
            </a:pPr>
            <a:r>
              <a:rPr lang="en"/>
              <a:t>Cognitively</a:t>
            </a:r>
            <a:r>
              <a:rPr lang="en"/>
              <a:t> </a:t>
            </a:r>
            <a:r>
              <a:rPr lang="en"/>
              <a:t>Impaired</a:t>
            </a:r>
            <a:endParaRPr/>
          </a:p>
          <a:p>
            <a:pPr indent="-304800" lvl="1" marL="914400" rtl="0" algn="l">
              <a:spcBef>
                <a:spcPts val="0"/>
              </a:spcBef>
              <a:spcAft>
                <a:spcPts val="0"/>
              </a:spcAft>
              <a:buSzPts val="1200"/>
              <a:buChar char="○"/>
            </a:pPr>
            <a:r>
              <a:rPr lang="en"/>
              <a:t>Good summarization of history</a:t>
            </a:r>
            <a:endParaRPr/>
          </a:p>
          <a:p>
            <a:pPr indent="-304800" lvl="1" marL="914400" rtl="0" algn="l">
              <a:spcBef>
                <a:spcPts val="0"/>
              </a:spcBef>
              <a:spcAft>
                <a:spcPts val="0"/>
              </a:spcAft>
              <a:buSzPts val="1200"/>
              <a:buChar char="○"/>
            </a:pPr>
            <a:r>
              <a:rPr lang="en"/>
              <a:t>Accurate prediction of potential </a:t>
            </a:r>
            <a:r>
              <a:rPr lang="en"/>
              <a:t>follow up</a:t>
            </a:r>
            <a:r>
              <a:rPr lang="en"/>
              <a:t> and issues related to medications or complications</a:t>
            </a:r>
            <a:endParaRPr/>
          </a:p>
          <a:p>
            <a:pPr indent="-304800" lvl="1" marL="914400" rtl="0" algn="l">
              <a:spcBef>
                <a:spcPts val="0"/>
              </a:spcBef>
              <a:spcAft>
                <a:spcPts val="0"/>
              </a:spcAft>
              <a:buSzPts val="1200"/>
              <a:buChar char="○"/>
            </a:pPr>
            <a:r>
              <a:rPr lang="en"/>
              <a:t>Caregiver tips are helpful for someone living with impairment</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41"/>
          <p:cNvSpPr txBox="1"/>
          <p:nvPr>
            <p:ph type="title"/>
          </p:nvPr>
        </p:nvSpPr>
        <p:spPr>
          <a:xfrm>
            <a:off x="510450" y="2057400"/>
            <a:ext cx="8123100" cy="7788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Prompt Engineering: COT Pipeline with Deepseek R1 + Llama4</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COT Pipeline: Deepseek R1 -&gt; Llama4</a:t>
            </a:r>
            <a:endParaRPr/>
          </a:p>
        </p:txBody>
      </p:sp>
      <p:sp>
        <p:nvSpPr>
          <p:cNvPr id="268" name="Google Shape;268;p42"/>
          <p:cNvSpPr txBox="1"/>
          <p:nvPr>
            <p:ph idx="1" type="body"/>
          </p:nvPr>
        </p:nvSpPr>
        <p:spPr>
          <a:xfrm>
            <a:off x="311700" y="1152475"/>
            <a:ext cx="6195600" cy="3416400"/>
          </a:xfrm>
          <a:prstGeom prst="rect">
            <a:avLst/>
          </a:prstGeom>
        </p:spPr>
        <p:txBody>
          <a:bodyPr anchorCtr="0" anchor="t" bIns="91425" lIns="91425" spcFirstLastPara="1" rIns="91425" wrap="square" tIns="91425">
            <a:normAutofit lnSpcReduction="20000"/>
          </a:bodyPr>
          <a:lstStyle/>
          <a:p>
            <a:pPr indent="0" lvl="0" marL="0" rtl="0" algn="l">
              <a:spcBef>
                <a:spcPts val="1400"/>
              </a:spcBef>
              <a:spcAft>
                <a:spcPts val="0"/>
              </a:spcAft>
              <a:buNone/>
            </a:pPr>
            <a:r>
              <a:rPr b="1" lang="en" sz="1300">
                <a:solidFill>
                  <a:srgbClr val="000000"/>
                </a:solidFill>
                <a:latin typeface="Arial"/>
                <a:ea typeface="Arial"/>
                <a:cs typeface="Arial"/>
                <a:sym typeface="Arial"/>
              </a:rPr>
              <a:t>1. Input: Synthea Case Data</a:t>
            </a:r>
            <a:endParaRPr b="1" sz="13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Synthetic patient case (structured or unstructured) is used as the base.</a:t>
            </a:r>
            <a:endParaRPr sz="11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2. DeepSeek R1 – Problem Breakdown</a:t>
            </a:r>
            <a:endParaRPr b="1" sz="13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Prompted to identify key clinical elements: symptoms, timeline, and differential indicators.</a:t>
            </a:r>
            <a:br>
              <a:rPr lang="en" sz="1100">
                <a:solidFill>
                  <a:srgbClr val="000000"/>
                </a:solidFill>
                <a:latin typeface="Arial"/>
                <a:ea typeface="Arial"/>
                <a:cs typeface="Arial"/>
                <a:sym typeface="Arial"/>
              </a:rPr>
            </a:br>
            <a:r>
              <a:rPr lang="en" sz="1100">
                <a:solidFill>
                  <a:srgbClr val="000000"/>
                </a:solidFill>
                <a:latin typeface="Arial"/>
                <a:ea typeface="Arial"/>
                <a:cs typeface="Arial"/>
                <a:sym typeface="Arial"/>
              </a:rPr>
              <a:t> Output: Structured insight into the case.</a:t>
            </a:r>
            <a:endParaRPr sz="11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3. Prompt Construction</a:t>
            </a:r>
            <a:endParaRPr b="1" sz="13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Combines DeepSeek output + original case into a tailored medical summarization prompt.</a:t>
            </a:r>
            <a:endParaRPr sz="11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4. LLaMA 4 – Medical Summary</a:t>
            </a:r>
            <a:endParaRPr b="1" sz="13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Final prompt sent to LLaMA 4, which generates a concise, clinician-style summary of the case.</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pic>
        <p:nvPicPr>
          <p:cNvPr id="269" name="Google Shape;269;p42"/>
          <p:cNvPicPr preferRelativeResize="0"/>
          <p:nvPr/>
        </p:nvPicPr>
        <p:blipFill>
          <a:blip r:embed="rId3">
            <a:alphaModFix/>
          </a:blip>
          <a:stretch>
            <a:fillRect/>
          </a:stretch>
        </p:blipFill>
        <p:spPr>
          <a:xfrm>
            <a:off x="6590525" y="1047700"/>
            <a:ext cx="2241772" cy="382097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COT Pipeline Code: Technical Details</a:t>
            </a:r>
            <a:endParaRPr/>
          </a:p>
        </p:txBody>
      </p:sp>
      <p:sp>
        <p:nvSpPr>
          <p:cNvPr id="275" name="Google Shape;275;p43"/>
          <p:cNvSpPr txBox="1"/>
          <p:nvPr>
            <p:ph idx="1" type="body"/>
          </p:nvPr>
        </p:nvSpPr>
        <p:spPr>
          <a:xfrm>
            <a:off x="311700" y="1152475"/>
            <a:ext cx="4260300" cy="34164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lang="en"/>
              <a:t> </a:t>
            </a:r>
            <a:r>
              <a:rPr lang="en" sz="1000"/>
              <a:t>Data is extraction and formatting into a round 1 prompt</a:t>
            </a:r>
            <a:endParaRPr sz="1000"/>
          </a:p>
          <a:p>
            <a:pPr indent="0" lvl="0" marL="0" rtl="0" algn="l">
              <a:spcBef>
                <a:spcPts val="0"/>
              </a:spcBef>
              <a:spcAft>
                <a:spcPts val="0"/>
              </a:spcAft>
              <a:buNone/>
            </a:pPr>
            <a:r>
              <a:rPr lang="en" sz="1000"/>
              <a:t>  - Prompt is generated based on the patient age, health conditions, medications, diagnosis, and symptoms throughout their entire chart history</a:t>
            </a:r>
            <a:endParaRPr sz="1000"/>
          </a:p>
          <a:p>
            <a:pPr indent="0" lvl="0" marL="0" rtl="0" algn="l">
              <a:spcBef>
                <a:spcPts val="0"/>
              </a:spcBef>
              <a:spcAft>
                <a:spcPts val="0"/>
              </a:spcAft>
              <a:buNone/>
            </a:pPr>
            <a:r>
              <a:rPr lang="en" sz="1000"/>
              <a:t>  - Prompt contains all of the patient history collected, across multiple visits, and inferences times of different procedures, prescriptions, and diagnoses</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n" sz="1000"/>
              <a:t>- </a:t>
            </a:r>
            <a:r>
              <a:rPr b="1" lang="en" sz="1000"/>
              <a:t>Deepseek R1</a:t>
            </a:r>
            <a:r>
              <a:rPr lang="en" sz="1000"/>
              <a:t> First Pass Analysis (</a:t>
            </a:r>
            <a:r>
              <a:rPr b="1" lang="en" sz="1000"/>
              <a:t>Tree-of-Thought</a:t>
            </a:r>
            <a:r>
              <a:rPr lang="en" sz="1000"/>
              <a:t>)</a:t>
            </a:r>
            <a:endParaRPr sz="1000"/>
          </a:p>
          <a:p>
            <a:pPr indent="0" lvl="0" marL="0" rtl="0" algn="l">
              <a:spcBef>
                <a:spcPts val="0"/>
              </a:spcBef>
              <a:spcAft>
                <a:spcPts val="0"/>
              </a:spcAft>
              <a:buNone/>
            </a:pPr>
            <a:r>
              <a:rPr lang="en" sz="1000"/>
              <a:t>  - Utilizes Deepseek R1 for case review and prompt generation, outputting the thinking process and key considerations to consider in the output summary</a:t>
            </a:r>
            <a:endParaRPr sz="1000"/>
          </a:p>
          <a:p>
            <a:pPr indent="0" lvl="0" marL="0" rtl="0" algn="l">
              <a:spcBef>
                <a:spcPts val="0"/>
              </a:spcBef>
              <a:spcAft>
                <a:spcPts val="0"/>
              </a:spcAft>
              <a:buNone/>
            </a:pPr>
            <a:r>
              <a:rPr lang="en" sz="1000"/>
              <a:t>  - Deepseek generates points of focus and makes </a:t>
            </a:r>
            <a:r>
              <a:rPr lang="en" sz="1000"/>
              <a:t>recommendations</a:t>
            </a:r>
            <a:r>
              <a:rPr lang="en" sz="1000"/>
              <a:t>, as well as thinks through the case in the &lt;think&gt; &lt;/think&gt; tags, which are appended to the final prompt</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n" sz="1000"/>
              <a:t>- </a:t>
            </a:r>
            <a:r>
              <a:rPr b="1" lang="en" sz="1000"/>
              <a:t>Few Shot Prompting</a:t>
            </a:r>
            <a:r>
              <a:rPr lang="en" sz="1000"/>
              <a:t> (</a:t>
            </a:r>
            <a:r>
              <a:rPr b="1" lang="en" sz="1000"/>
              <a:t>In-Context-Learning</a:t>
            </a:r>
            <a:r>
              <a:rPr lang="en" sz="1000"/>
              <a:t>)</a:t>
            </a:r>
            <a:endParaRPr sz="1000"/>
          </a:p>
          <a:p>
            <a:pPr indent="0" lvl="0" marL="0" rtl="0" algn="l">
              <a:spcBef>
                <a:spcPts val="0"/>
              </a:spcBef>
              <a:spcAft>
                <a:spcPts val="0"/>
              </a:spcAft>
              <a:buNone/>
            </a:pPr>
            <a:r>
              <a:rPr lang="en" sz="1000"/>
              <a:t>  - Data inference is used to determine if the patient is a </a:t>
            </a:r>
            <a:r>
              <a:rPr lang="en" sz="1000"/>
              <a:t>minor</a:t>
            </a:r>
            <a:r>
              <a:rPr lang="en" sz="1000"/>
              <a:t>, if the patient is deceased, and if the patient has any social determinants of health</a:t>
            </a:r>
            <a:endParaRPr sz="1000"/>
          </a:p>
          <a:p>
            <a:pPr indent="0" lvl="0" marL="0" rtl="0" algn="l">
              <a:spcBef>
                <a:spcPts val="0"/>
              </a:spcBef>
              <a:spcAft>
                <a:spcPts val="0"/>
              </a:spcAft>
              <a:buNone/>
            </a:pPr>
            <a:r>
              <a:rPr lang="en" sz="1000"/>
              <a:t>  - A reference template is chosen that matches the type of case (e.g., minor, deceased, etc.) and included in the prompt</a:t>
            </a:r>
            <a:endParaRPr sz="1000"/>
          </a:p>
          <a:p>
            <a:pPr indent="0" lvl="0" marL="0" rtl="0" algn="l">
              <a:spcBef>
                <a:spcPts val="0"/>
              </a:spcBef>
              <a:spcAft>
                <a:spcPts val="0"/>
              </a:spcAft>
              <a:buNone/>
            </a:pPr>
            <a:r>
              <a:rPr lang="en" sz="1000"/>
              <a:t>  - Deviations from the prompt are noted and included in the final summary</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n" sz="1000"/>
              <a:t>- Final Case Summarization using </a:t>
            </a:r>
            <a:r>
              <a:rPr b="1" lang="en" sz="1000"/>
              <a:t>Llama4</a:t>
            </a:r>
            <a:endParaRPr b="1" sz="1000"/>
          </a:p>
          <a:p>
            <a:pPr indent="0" lvl="0" marL="0" rtl="0" algn="l">
              <a:spcBef>
                <a:spcPts val="0"/>
              </a:spcBef>
              <a:spcAft>
                <a:spcPts val="0"/>
              </a:spcAft>
              <a:buNone/>
            </a:pPr>
            <a:r>
              <a:rPr lang="en" sz="1000"/>
              <a:t>  - The final case summary is generated using llama4, a recently released </a:t>
            </a:r>
            <a:r>
              <a:rPr lang="en" sz="1000"/>
              <a:t>open source</a:t>
            </a:r>
            <a:r>
              <a:rPr lang="en" sz="1000"/>
              <a:t> model</a:t>
            </a:r>
            <a:endParaRPr sz="1000"/>
          </a:p>
          <a:p>
            <a:pPr indent="0" lvl="0" marL="0" rtl="0" algn="l">
              <a:spcBef>
                <a:spcPts val="0"/>
              </a:spcBef>
              <a:spcAft>
                <a:spcPts val="0"/>
              </a:spcAft>
              <a:buNone/>
            </a:pPr>
            <a:r>
              <a:rPr lang="en" sz="1000"/>
              <a:t>  - The prompt contains all of the patient history and data collected, the results from deepseeks initial analysis, and an example format that was provided via few shot prompting</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n" sz="1000"/>
              <a:t>- The final summary is then formatted and returned to the user in a structured format</a:t>
            </a:r>
            <a:endParaRPr sz="1000"/>
          </a:p>
          <a:p>
            <a:pPr indent="0" lvl="0" marL="0" rtl="0" algn="l">
              <a:spcBef>
                <a:spcPts val="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COT Pipeline: Few Shot Prompts</a:t>
            </a:r>
            <a:endParaRPr/>
          </a:p>
        </p:txBody>
      </p:sp>
      <p:pic>
        <p:nvPicPr>
          <p:cNvPr id="281" name="Google Shape;281;p44"/>
          <p:cNvPicPr preferRelativeResize="0"/>
          <p:nvPr/>
        </p:nvPicPr>
        <p:blipFill>
          <a:blip r:embed="rId3">
            <a:alphaModFix/>
          </a:blip>
          <a:stretch>
            <a:fillRect/>
          </a:stretch>
        </p:blipFill>
        <p:spPr>
          <a:xfrm>
            <a:off x="0" y="1432265"/>
            <a:ext cx="3604327" cy="3711237"/>
          </a:xfrm>
          <a:prstGeom prst="rect">
            <a:avLst/>
          </a:prstGeom>
          <a:noFill/>
          <a:ln>
            <a:noFill/>
          </a:ln>
        </p:spPr>
      </p:pic>
      <p:pic>
        <p:nvPicPr>
          <p:cNvPr id="282" name="Google Shape;282;p44"/>
          <p:cNvPicPr preferRelativeResize="0"/>
          <p:nvPr/>
        </p:nvPicPr>
        <p:blipFill>
          <a:blip r:embed="rId4">
            <a:alphaModFix/>
          </a:blip>
          <a:stretch>
            <a:fillRect/>
          </a:stretch>
        </p:blipFill>
        <p:spPr>
          <a:xfrm>
            <a:off x="3578375" y="2665050"/>
            <a:ext cx="5565624" cy="2478449"/>
          </a:xfrm>
          <a:prstGeom prst="rect">
            <a:avLst/>
          </a:prstGeom>
          <a:noFill/>
          <a:ln>
            <a:noFill/>
          </a:ln>
        </p:spPr>
      </p:pic>
      <p:pic>
        <p:nvPicPr>
          <p:cNvPr id="283" name="Google Shape;283;p44"/>
          <p:cNvPicPr preferRelativeResize="0"/>
          <p:nvPr/>
        </p:nvPicPr>
        <p:blipFill>
          <a:blip r:embed="rId5">
            <a:alphaModFix/>
          </a:blip>
          <a:stretch>
            <a:fillRect/>
          </a:stretch>
        </p:blipFill>
        <p:spPr>
          <a:xfrm>
            <a:off x="4963751" y="532075"/>
            <a:ext cx="4180250" cy="2132976"/>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5"/>
          <p:cNvSpPr txBox="1"/>
          <p:nvPr>
            <p:ph type="title"/>
          </p:nvPr>
        </p:nvSpPr>
        <p:spPr>
          <a:xfrm>
            <a:off x="311700" y="1484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COT Pipeline: Deepseek Analysis Code + Prompt</a:t>
            </a:r>
            <a:endParaRPr/>
          </a:p>
        </p:txBody>
      </p:sp>
      <p:sp>
        <p:nvSpPr>
          <p:cNvPr id="289" name="Google Shape;289;p45"/>
          <p:cNvSpPr txBox="1"/>
          <p:nvPr>
            <p:ph idx="1" type="body"/>
          </p:nvPr>
        </p:nvSpPr>
        <p:spPr>
          <a:xfrm>
            <a:off x="4761275" y="615725"/>
            <a:ext cx="4199100" cy="3416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You are a compassionate and detail-oriented medical communication specialist who crafts personalized, empathetic, and easy-to-understand discharge summaries. Your summaries should make the patient (or their family, in case of death) feel seen, respected, and well-informed about their care.  </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The patient is a minor (age 5). </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Create a simplified discharge summary focused on their most recent hospital visit that would be appropriate for a child or adolescent patient and their parents/guardians.</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Use warm, reassuring language and simple explanations of medical concepts. </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If the child is very young (under 10), include elements that make the summary more engaging for kids.</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Address both the child and the parent/guardian in the summary.</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PATIENT INFORMATION:</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Patient Information:</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 Full Name: Hassan290 Wyman904</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 Preferred Name: Hassan290</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 Age: 5</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 Gender: M</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 Race: white</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 Ethnicity: nonhispanic</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 Birthplace: Douglas  Massachusetts  US</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 Address: 606 Ferry Quay Unit 80, Chicopee, Massachusetts 1022.0</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Current Discharge Information:</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 Visit Date: 2021-07-11T06:37:21Z</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 Reason for Visit: Well child visit (procedure)</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Allergies:</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 No known allergies</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Provider information:</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 Hospital Name: Example General Hospital</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 Hospital Address: 1234 Health St, Cityville, ST 12345</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 Hospital Phone: 800-555-1234</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 Attending Physician: Dr. Jane Doe, MD</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 Attending Physician Phone: 800-555-5678</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 Primary Care Provider: Dr. John Smith, MD</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 Primary Care Provider Phone: 800-555-9876</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 Primary Care Provider Organization: Example Health Network</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 Crisis Line: 800-555-6789</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 Mental Health Support: 800-555-4321</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 Substance Use Support: 800-555-8765</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    </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Create a personalized discharge summary that:</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1. Addresses the patient by their preferred name (Hassan290) and makes them feel seen as a person, not just a medical case</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2. Focuses specifically on their most recent visit and what they were treated for</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3. Clearly explains any follow-up care needed, including when they should return for a check-up</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4. Includes specific medications they need to take (with clear schedule and dosage)</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5. Includes warning signs that should prompt them to seek immediate care</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6. Uses appropriate visual formatting for the target audience</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Write in a warm, empathetic tone that acknowledges the patient's individual circumstances. Avoid generic language and placeholder text like [insert medication name] or [insert time frame]. If specific information is missing, make appropriate recommendations based on the condition.</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Additionally, there are a few edge cases you should watch out for:</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 If the patient has a history of substance abuse, be sensitive to that in your language.</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 If the patient has a history of mental health issues, be careful to avoid stigmatizing language.</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 If the patient has a history of trauma, be mindful of that in your language and avoid triggering terms.</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 If the patient has a history of non-compliance with medications or follow-up care, be gentle but firm in your recommendations.</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 If the patient has a history of complex medical conditions, be sure to explain things clearly and simply.</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 If the patient has died, or is receiving a death certificate, instead of creating a summary for the patient create a summary that is appropriate for the family or next of kin to explain why their loved one has died and what the next steps are. </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 If the patient is a minor, be sure to include information that is appropriate for both the child and their parents/guardians, with a respect for asking a parent to administer medications and follow-up care.</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 If the patient is elderly, be sure to include information that is appropriate for their age group and any potential cognitive impairments they may have, as well as any social determinants of health that may affect their care.</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Make the patient feel that this summary was created specifically for them. Use real details from their record throughout the summary.</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Important discharge information should be clearly highlighted. Medication instructions should be particularly clear and easy to follow. </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 **Patient-Specific Considerations:**  </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Before writing, carefully review:  </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 **Demographics** (age, preferred name, language needs)  </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 **Medical history** (conditions, medications, allergies)  </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 **Social determinants of health** (housing, support system, financial barriers)  </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 **Special circumstances** (mental health, trauma history, substance use, cognitive impairments, pediatric/geriatric needs)  </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 **Key Requirements for the Discharge Summary:**  </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1. **Personalization**  </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   - Address the patient by their **preferred name** (Hassan290).  </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   - Acknowledge their **individual situation** (e.g., "We know managing diabetes can be challenging, but you're doing great by staying on top of your care.").  </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   - Avoid **generic templates**—every sentence should reflect their real medical details.  </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2. **Clear Focus on This Visit**  </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   - Explain **why they were admitted** and **what treatment they received**.  </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   - Keep it relevant—don't overload with unrelated past medical history.  </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3. **Follow-Up Care Instructions**  </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   - Specify:  </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     - **When to return** (e.g., "Please see Dr. Smith in 7 days, by [exact date]").  </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     - **Who to contact** if issues arise (e.g., "Call Cardiology at [phone] if you have chest pain.").  </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   - If the patient has a history of **missed appointments**, gently emphasize importance (e.g., "We know life gets busy, but this follow-up is key to your recovery.").  </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4. **Medication Instructions (Critical!)**  </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   - List **each medication**, **dosage**, **schedule**, and **purpose** in a **bullet-point format**.  </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     - Example:  </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       - **Metformin 500mg**: Take **1 pill with breakfast and dinner** to help control blood sugar.  </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   - Highlight **new medications** or **changes** from prior prescriptions.  </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   - If the patient has **history of non-compliance**, add a supportive note (e.g., "We recommend setting a daily alarm to help remember your pills."). </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   - Ensure special medications like Antibiotics have proper warnings such as to not take if pregnant or breastfeeding, and to take with food.</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   - Include **specific instructions** for medications (e.g., "Take with food" or "Do not crush")</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   - For some medications, like antibiotics, include a warning about potential side effects, such as "If you develop a rash or have difficulty breathing, stop taking this medication and call us immediately.", and instructions to finish the course with a warning about bacterial resistance.</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5. **Warning Signs (Red Flags)**  </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   - List **symptoms that require urgent care** (e.g., "Seek ER care if you have:  </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     - Shortness of breath  </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     - Sudden confusion").  </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6. **Formatting for Clarity**  </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   - Use **bold**, bullet points, and spacing to improve readability.  </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   - For **low-literacy audiences**, simplify language (avoid jargon like "myocardial infarction"—say "heart attack").  </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   - For **minors**, include **parent-friendly instructions** (e.g., "Give your child 5mL of amoxicillin every 12 hours.").  </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 **Special Edge Cases &amp; Sensitivity:**  </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 **Substance use history**: Avoid judgmental terms (e.g., say "managed withdrawal" not "drug abuse").  </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 **Mental health/Trauma**: Use neutral language (e.g., "We recommend counseling for support" vs. "You need therapy.").  </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 **Deceased patients**: Write for the **family**, explaining cause of death and next steps (e.g., funeral home contact).  </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 **Elderly patients**: Include reminders for **memory aids** (e.g., pill organizers) and **social support needs**.  </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 **Final Checks:**  </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 **No placeholders** (e.g., [insert date] → use real data).  </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 **Warm tone** (e.g., "We're here to support you.").  </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200">
                <a:solidFill>
                  <a:schemeClr val="dk1"/>
                </a:solidFill>
                <a:latin typeface="Courier New"/>
                <a:ea typeface="Courier New"/>
                <a:cs typeface="Courier New"/>
                <a:sym typeface="Courier New"/>
              </a:rPr>
              <a:t>- **Highlight critical info** (e.g., **"!Call 911 if you have trouble breathing."**).  </a:t>
            </a:r>
            <a:endParaRPr sz="2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200">
              <a:solidFill>
                <a:schemeClr val="dk1"/>
              </a:solidFill>
              <a:latin typeface="Arial"/>
              <a:ea typeface="Arial"/>
              <a:cs typeface="Arial"/>
              <a:sym typeface="Arial"/>
            </a:endParaRPr>
          </a:p>
          <a:p>
            <a:pPr indent="0" lvl="0" marL="0" rtl="0" algn="l">
              <a:lnSpc>
                <a:spcPct val="95000"/>
              </a:lnSpc>
              <a:spcBef>
                <a:spcPts val="0"/>
              </a:spcBef>
              <a:spcAft>
                <a:spcPts val="0"/>
              </a:spcAft>
              <a:buSzPts val="275"/>
              <a:buNone/>
            </a:pPr>
            <a:r>
              <a:t/>
            </a:r>
            <a:endParaRPr sz="200">
              <a:solidFill>
                <a:srgbClr val="000000"/>
              </a:solidFill>
              <a:latin typeface="Arial"/>
              <a:ea typeface="Arial"/>
              <a:cs typeface="Arial"/>
              <a:sym typeface="Arial"/>
            </a:endParaRPr>
          </a:p>
          <a:p>
            <a:pPr indent="0" lvl="0" marL="0" rtl="0" algn="l">
              <a:lnSpc>
                <a:spcPct val="95000"/>
              </a:lnSpc>
              <a:spcBef>
                <a:spcPts val="1200"/>
              </a:spcBef>
              <a:spcAft>
                <a:spcPts val="1200"/>
              </a:spcAft>
              <a:buSzPts val="275"/>
              <a:buNone/>
            </a:pPr>
            <a:r>
              <a:t/>
            </a:r>
            <a:endParaRPr sz="450"/>
          </a:p>
        </p:txBody>
      </p:sp>
      <p:sp>
        <p:nvSpPr>
          <p:cNvPr id="290" name="Google Shape;290;p45"/>
          <p:cNvSpPr txBox="1"/>
          <p:nvPr/>
        </p:nvSpPr>
        <p:spPr>
          <a:xfrm>
            <a:off x="174225" y="711000"/>
            <a:ext cx="4543800" cy="138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00">
                <a:solidFill>
                  <a:schemeClr val="dk1"/>
                </a:solidFill>
                <a:latin typeface="Proxima Nova"/>
                <a:ea typeface="Proxima Nova"/>
                <a:cs typeface="Proxima Nova"/>
                <a:sym typeface="Proxima Nova"/>
              </a:rPr>
              <a:t>thinking_prompt = f"""</a:t>
            </a:r>
            <a:endParaRPr sz="400">
              <a:solidFill>
                <a:schemeClr val="dk1"/>
              </a:solidFill>
              <a:latin typeface="Proxima Nova"/>
              <a:ea typeface="Proxima Nova"/>
              <a:cs typeface="Proxima Nova"/>
              <a:sym typeface="Proxima Nova"/>
            </a:endParaRPr>
          </a:p>
          <a:p>
            <a:pPr indent="0" lvl="0" marL="0" rtl="0" algn="l">
              <a:spcBef>
                <a:spcPts val="0"/>
              </a:spcBef>
              <a:spcAft>
                <a:spcPts val="0"/>
              </a:spcAft>
              <a:buNone/>
            </a:pPr>
            <a:r>
              <a:rPr lang="en" sz="400">
                <a:solidFill>
                  <a:schemeClr val="dk1"/>
                </a:solidFill>
                <a:latin typeface="Proxima Nova"/>
                <a:ea typeface="Proxima Nova"/>
                <a:cs typeface="Proxima Nova"/>
                <a:sym typeface="Proxima Nova"/>
              </a:rPr>
              <a:t>You are a medical professional with expertise in creating clear and personalized discharge summaries.</a:t>
            </a:r>
            <a:endParaRPr sz="400">
              <a:solidFill>
                <a:schemeClr val="dk1"/>
              </a:solidFill>
              <a:latin typeface="Proxima Nova"/>
              <a:ea typeface="Proxima Nova"/>
              <a:cs typeface="Proxima Nova"/>
              <a:sym typeface="Proxima Nova"/>
            </a:endParaRPr>
          </a:p>
          <a:p>
            <a:pPr indent="0" lvl="0" marL="0" rtl="0" algn="l">
              <a:spcBef>
                <a:spcPts val="0"/>
              </a:spcBef>
              <a:spcAft>
                <a:spcPts val="0"/>
              </a:spcAft>
              <a:buNone/>
            </a:pPr>
            <a:r>
              <a:rPr lang="en" sz="400">
                <a:solidFill>
                  <a:schemeClr val="dk1"/>
                </a:solidFill>
                <a:latin typeface="Proxima Nova"/>
                <a:ea typeface="Proxima Nova"/>
                <a:cs typeface="Proxima Nova"/>
                <a:sym typeface="Proxima Nova"/>
              </a:rPr>
              <a:t>You need to carefully think through how to create the best discharge summary for a specific patient.</a:t>
            </a:r>
            <a:endParaRPr sz="400">
              <a:solidFill>
                <a:schemeClr val="dk1"/>
              </a:solidFill>
              <a:latin typeface="Proxima Nova"/>
              <a:ea typeface="Proxima Nova"/>
              <a:cs typeface="Proxima Nova"/>
              <a:sym typeface="Proxima Nova"/>
            </a:endParaRPr>
          </a:p>
          <a:p>
            <a:pPr indent="0" lvl="0" marL="0" rtl="0" algn="l">
              <a:spcBef>
                <a:spcPts val="0"/>
              </a:spcBef>
              <a:spcAft>
                <a:spcPts val="0"/>
              </a:spcAft>
              <a:buNone/>
            </a:pPr>
            <a:r>
              <a:rPr lang="en" sz="400">
                <a:solidFill>
                  <a:schemeClr val="dk1"/>
                </a:solidFill>
                <a:latin typeface="Proxima Nova"/>
                <a:ea typeface="Proxima Nova"/>
                <a:cs typeface="Proxima Nova"/>
                <a:sym typeface="Proxima Nova"/>
              </a:rPr>
              <a:t>I'll provide you with the patient's information and your task is to:</a:t>
            </a:r>
            <a:endParaRPr sz="4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400">
              <a:solidFill>
                <a:schemeClr val="dk1"/>
              </a:solidFill>
              <a:latin typeface="Proxima Nova"/>
              <a:ea typeface="Proxima Nova"/>
              <a:cs typeface="Proxima Nova"/>
              <a:sym typeface="Proxima Nova"/>
            </a:endParaRPr>
          </a:p>
          <a:p>
            <a:pPr indent="0" lvl="0" marL="0" rtl="0" algn="l">
              <a:spcBef>
                <a:spcPts val="0"/>
              </a:spcBef>
              <a:spcAft>
                <a:spcPts val="0"/>
              </a:spcAft>
              <a:buNone/>
            </a:pPr>
            <a:r>
              <a:rPr lang="en" sz="400">
                <a:solidFill>
                  <a:schemeClr val="dk1"/>
                </a:solidFill>
                <a:latin typeface="Proxima Nova"/>
                <a:ea typeface="Proxima Nova"/>
                <a:cs typeface="Proxima Nova"/>
                <a:sym typeface="Proxima Nova"/>
              </a:rPr>
              <a:t>1. Analyze the key elements listed below that need special attention</a:t>
            </a:r>
            <a:endParaRPr sz="400">
              <a:solidFill>
                <a:schemeClr val="dk1"/>
              </a:solidFill>
              <a:latin typeface="Proxima Nova"/>
              <a:ea typeface="Proxima Nova"/>
              <a:cs typeface="Proxima Nova"/>
              <a:sym typeface="Proxima Nova"/>
            </a:endParaRPr>
          </a:p>
          <a:p>
            <a:pPr indent="0" lvl="0" marL="0" rtl="0" algn="l">
              <a:spcBef>
                <a:spcPts val="0"/>
              </a:spcBef>
              <a:spcAft>
                <a:spcPts val="0"/>
              </a:spcAft>
              <a:buNone/>
            </a:pPr>
            <a:r>
              <a:rPr lang="en" sz="400">
                <a:solidFill>
                  <a:schemeClr val="dk1"/>
                </a:solidFill>
                <a:latin typeface="Proxima Nova"/>
                <a:ea typeface="Proxima Nova"/>
                <a:cs typeface="Proxima Nova"/>
                <a:sym typeface="Proxima Nova"/>
              </a:rPr>
              <a:t>2. Ask yourself questions about what specific information is needed to provide the patient the most wholistic care, and make presumptions about what likely happened in the discharge case. Come up with a story in your head of how the patient got to this point, and what they need to know to be successful in their care</a:t>
            </a:r>
            <a:endParaRPr sz="400">
              <a:solidFill>
                <a:schemeClr val="dk1"/>
              </a:solidFill>
              <a:latin typeface="Proxima Nova"/>
              <a:ea typeface="Proxima Nova"/>
              <a:cs typeface="Proxima Nova"/>
              <a:sym typeface="Proxima Nova"/>
            </a:endParaRPr>
          </a:p>
          <a:p>
            <a:pPr indent="0" lvl="0" marL="0" rtl="0" algn="l">
              <a:spcBef>
                <a:spcPts val="0"/>
              </a:spcBef>
              <a:spcAft>
                <a:spcPts val="0"/>
              </a:spcAft>
              <a:buNone/>
            </a:pPr>
            <a:r>
              <a:rPr lang="en" sz="400">
                <a:solidFill>
                  <a:schemeClr val="dk1"/>
                </a:solidFill>
                <a:latin typeface="Proxima Nova"/>
                <a:ea typeface="Proxima Nova"/>
                <a:cs typeface="Proxima Nova"/>
                <a:sym typeface="Proxima Nova"/>
              </a:rPr>
              <a:t>3. Examine the patient's specific circumstances and how they affect the discharge summary</a:t>
            </a:r>
            <a:endParaRPr sz="400">
              <a:solidFill>
                <a:schemeClr val="dk1"/>
              </a:solidFill>
              <a:latin typeface="Proxima Nova"/>
              <a:ea typeface="Proxima Nova"/>
              <a:cs typeface="Proxima Nova"/>
              <a:sym typeface="Proxima Nova"/>
            </a:endParaRPr>
          </a:p>
          <a:p>
            <a:pPr indent="0" lvl="0" marL="0" rtl="0" algn="l">
              <a:spcBef>
                <a:spcPts val="0"/>
              </a:spcBef>
              <a:spcAft>
                <a:spcPts val="0"/>
              </a:spcAft>
              <a:buNone/>
            </a:pPr>
            <a:r>
              <a:rPr lang="en" sz="400">
                <a:solidFill>
                  <a:schemeClr val="dk1"/>
                </a:solidFill>
                <a:latin typeface="Proxima Nova"/>
                <a:ea typeface="Proxima Nova"/>
                <a:cs typeface="Proxima Nova"/>
                <a:sym typeface="Proxima Nova"/>
              </a:rPr>
              <a:t>4. Consider the appropriate tone, language, and structure for this specific patient, especially when dealing with mental health disorders. If a patient has a history of depression, consider asking them questions that would help them feel more comfortable and supported.</a:t>
            </a:r>
            <a:endParaRPr sz="400">
              <a:solidFill>
                <a:schemeClr val="dk1"/>
              </a:solidFill>
              <a:latin typeface="Proxima Nova"/>
              <a:ea typeface="Proxima Nova"/>
              <a:cs typeface="Proxima Nova"/>
              <a:sym typeface="Proxima Nova"/>
            </a:endParaRPr>
          </a:p>
          <a:p>
            <a:pPr indent="0" lvl="0" marL="0" rtl="0" algn="l">
              <a:spcBef>
                <a:spcPts val="0"/>
              </a:spcBef>
              <a:spcAft>
                <a:spcPts val="0"/>
              </a:spcAft>
              <a:buNone/>
            </a:pPr>
            <a:r>
              <a:rPr lang="en" sz="400">
                <a:solidFill>
                  <a:schemeClr val="dk1"/>
                </a:solidFill>
                <a:latin typeface="Proxima Nova"/>
                <a:ea typeface="Proxima Nova"/>
                <a:cs typeface="Proxima Nova"/>
                <a:sym typeface="Proxima Nova"/>
              </a:rPr>
              <a:t>5. Think about potential pitfalls to avoid in your tone, the information you include, and the focus you have</a:t>
            </a:r>
            <a:endParaRPr sz="400">
              <a:solidFill>
                <a:schemeClr val="dk1"/>
              </a:solidFill>
              <a:latin typeface="Proxima Nova"/>
              <a:ea typeface="Proxima Nova"/>
              <a:cs typeface="Proxima Nova"/>
              <a:sym typeface="Proxima Nova"/>
            </a:endParaRPr>
          </a:p>
          <a:p>
            <a:pPr indent="0" lvl="0" marL="0" rtl="0" algn="l">
              <a:spcBef>
                <a:spcPts val="0"/>
              </a:spcBef>
              <a:spcAft>
                <a:spcPts val="0"/>
              </a:spcAft>
              <a:buNone/>
            </a:pPr>
            <a:r>
              <a:rPr lang="en" sz="400">
                <a:solidFill>
                  <a:schemeClr val="dk1"/>
                </a:solidFill>
                <a:latin typeface="Proxima Nova"/>
                <a:ea typeface="Proxima Nova"/>
                <a:cs typeface="Proxima Nova"/>
                <a:sym typeface="Proxima Nova"/>
              </a:rPr>
              <a:t>6. Estimate the follow up actions that would be appropriate from a physician, such as if a followup is necessary, the length of time appropriate to wait until the next followup and the likely reason for a followup if needed</a:t>
            </a:r>
            <a:endParaRPr sz="400">
              <a:solidFill>
                <a:schemeClr val="dk1"/>
              </a:solidFill>
              <a:latin typeface="Proxima Nova"/>
              <a:ea typeface="Proxima Nova"/>
              <a:cs typeface="Proxima Nova"/>
              <a:sym typeface="Proxima Nova"/>
            </a:endParaRPr>
          </a:p>
          <a:p>
            <a:pPr indent="0" lvl="0" marL="0" rtl="0" algn="l">
              <a:spcBef>
                <a:spcPts val="0"/>
              </a:spcBef>
              <a:spcAft>
                <a:spcPts val="0"/>
              </a:spcAft>
              <a:buNone/>
            </a:pPr>
            <a:r>
              <a:rPr lang="en" sz="400">
                <a:solidFill>
                  <a:schemeClr val="dk1"/>
                </a:solidFill>
                <a:latin typeface="Proxima Nova"/>
                <a:ea typeface="Proxima Nova"/>
                <a:cs typeface="Proxima Nova"/>
                <a:sym typeface="Proxima Nova"/>
              </a:rPr>
              <a:t>7. Think about the medications the patient is on, what they are for and when they are from (predict if they are still taking them), and how the medications they are currently taking might interact with each other</a:t>
            </a:r>
            <a:endParaRPr sz="400">
              <a:solidFill>
                <a:schemeClr val="dk1"/>
              </a:solidFill>
              <a:latin typeface="Proxima Nova"/>
              <a:ea typeface="Proxima Nova"/>
              <a:cs typeface="Proxima Nova"/>
              <a:sym typeface="Proxima Nova"/>
            </a:endParaRPr>
          </a:p>
          <a:p>
            <a:pPr indent="0" lvl="0" marL="0" rtl="0" algn="l">
              <a:spcBef>
                <a:spcPts val="0"/>
              </a:spcBef>
              <a:spcAft>
                <a:spcPts val="0"/>
              </a:spcAft>
              <a:buNone/>
            </a:pPr>
            <a:r>
              <a:rPr lang="en" sz="400">
                <a:solidFill>
                  <a:schemeClr val="dk1"/>
                </a:solidFill>
                <a:latin typeface="Proxima Nova"/>
                <a:ea typeface="Proxima Nova"/>
                <a:cs typeface="Proxima Nova"/>
                <a:sym typeface="Proxima Nova"/>
              </a:rPr>
              <a:t>8. Consider the patient's social determinants of health and how they might affect their care, if a patient has a history of being unhoused or having a history of substance use, how might that affect their care and the advice a physician would give them</a:t>
            </a:r>
            <a:endParaRPr sz="400">
              <a:solidFill>
                <a:schemeClr val="dk1"/>
              </a:solidFill>
              <a:latin typeface="Proxima Nova"/>
              <a:ea typeface="Proxima Nova"/>
              <a:cs typeface="Proxima Nova"/>
              <a:sym typeface="Proxima Nova"/>
            </a:endParaRPr>
          </a:p>
          <a:p>
            <a:pPr indent="0" lvl="0" marL="0" rtl="0" algn="l">
              <a:spcBef>
                <a:spcPts val="0"/>
              </a:spcBef>
              <a:spcAft>
                <a:spcPts val="0"/>
              </a:spcAft>
              <a:buNone/>
            </a:pPr>
            <a:r>
              <a:rPr lang="en" sz="400">
                <a:solidFill>
                  <a:schemeClr val="dk1"/>
                </a:solidFill>
                <a:latin typeface="Proxima Nova"/>
                <a:ea typeface="Proxima Nova"/>
                <a:cs typeface="Proxima Nova"/>
                <a:sym typeface="Proxima Nova"/>
              </a:rPr>
              <a:t>9. Think about the patient's history of non-compliance with medications or follow-up care, and come up with a way to explain to the patient why this is important and how they will see long term benefits even with short term discomfort</a:t>
            </a:r>
            <a:endParaRPr sz="400">
              <a:solidFill>
                <a:schemeClr val="dk1"/>
              </a:solidFill>
              <a:latin typeface="Proxima Nova"/>
              <a:ea typeface="Proxima Nova"/>
              <a:cs typeface="Proxima Nova"/>
              <a:sym typeface="Proxima Nova"/>
            </a:endParaRPr>
          </a:p>
          <a:p>
            <a:pPr indent="0" lvl="0" marL="0" rtl="0" algn="l">
              <a:spcBef>
                <a:spcPts val="0"/>
              </a:spcBef>
              <a:spcAft>
                <a:spcPts val="0"/>
              </a:spcAft>
              <a:buNone/>
            </a:pPr>
            <a:r>
              <a:rPr lang="en" sz="400">
                <a:solidFill>
                  <a:schemeClr val="dk1"/>
                </a:solidFill>
                <a:latin typeface="Proxima Nova"/>
                <a:ea typeface="Proxima Nova"/>
                <a:cs typeface="Proxima Nova"/>
                <a:sym typeface="Proxima Nova"/>
              </a:rPr>
              <a:t>10. If this is a special case, such as a minor or an elderly patient, someone who has died, someone who is unresponsive, or someone who has a cognitive impairment, think about how that would affect the discharge summary and what you would need to include in the summary to make it appropriate for that patient, their caregivers, or their surviving kin</a:t>
            </a:r>
            <a:endParaRPr sz="400">
              <a:solidFill>
                <a:schemeClr val="dk1"/>
              </a:solidFill>
              <a:latin typeface="Proxima Nova"/>
              <a:ea typeface="Proxima Nova"/>
              <a:cs typeface="Proxima Nova"/>
              <a:sym typeface="Proxima Nova"/>
            </a:endParaRPr>
          </a:p>
          <a:p>
            <a:pPr indent="0" lvl="0" marL="0" rtl="0" algn="l">
              <a:spcBef>
                <a:spcPts val="0"/>
              </a:spcBef>
              <a:spcAft>
                <a:spcPts val="0"/>
              </a:spcAft>
              <a:buNone/>
            </a:pPr>
            <a:r>
              <a:rPr lang="en" sz="400">
                <a:solidFill>
                  <a:schemeClr val="dk1"/>
                </a:solidFill>
                <a:latin typeface="Proxima Nova"/>
                <a:ea typeface="Proxima Nova"/>
                <a:cs typeface="Proxima Nova"/>
                <a:sym typeface="Proxima Nova"/>
              </a:rPr>
              <a:t>11. Utilize the hospital name and provider information anywhere you require including it</a:t>
            </a:r>
            <a:endParaRPr sz="4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400">
              <a:solidFill>
                <a:schemeClr val="dk1"/>
              </a:solidFill>
              <a:latin typeface="Proxima Nova"/>
              <a:ea typeface="Proxima Nova"/>
              <a:cs typeface="Proxima Nova"/>
              <a:sym typeface="Proxima Nova"/>
            </a:endParaRPr>
          </a:p>
          <a:p>
            <a:pPr indent="0" lvl="0" marL="0" rtl="0" algn="l">
              <a:spcBef>
                <a:spcPts val="0"/>
              </a:spcBef>
              <a:spcAft>
                <a:spcPts val="0"/>
              </a:spcAft>
              <a:buNone/>
            </a:pPr>
            <a:r>
              <a:rPr lang="en" sz="400">
                <a:solidFill>
                  <a:schemeClr val="dk1"/>
                </a:solidFill>
                <a:latin typeface="Proxima Nova"/>
                <a:ea typeface="Proxima Nova"/>
                <a:cs typeface="Proxima Nova"/>
                <a:sym typeface="Proxima Nova"/>
              </a:rPr>
              <a:t>Here is the patient information:</a:t>
            </a:r>
            <a:endParaRPr sz="4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400">
              <a:solidFill>
                <a:schemeClr val="dk1"/>
              </a:solidFill>
              <a:latin typeface="Proxima Nova"/>
              <a:ea typeface="Proxima Nova"/>
              <a:cs typeface="Proxima Nova"/>
              <a:sym typeface="Proxima Nova"/>
            </a:endParaRPr>
          </a:p>
          <a:p>
            <a:pPr indent="0" lvl="0" marL="0" rtl="0" algn="l">
              <a:spcBef>
                <a:spcPts val="0"/>
              </a:spcBef>
              <a:spcAft>
                <a:spcPts val="0"/>
              </a:spcAft>
              <a:buNone/>
            </a:pPr>
            <a:r>
              <a:rPr lang="en" sz="400">
                <a:solidFill>
                  <a:schemeClr val="dk1"/>
                </a:solidFill>
                <a:latin typeface="Proxima Nova"/>
                <a:ea typeface="Proxima Nova"/>
                <a:cs typeface="Proxima Nova"/>
                <a:sym typeface="Proxima Nova"/>
              </a:rPr>
              <a:t>{original_prompt}</a:t>
            </a:r>
            <a:endParaRPr sz="4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400">
              <a:solidFill>
                <a:schemeClr val="dk1"/>
              </a:solidFill>
              <a:latin typeface="Proxima Nova"/>
              <a:ea typeface="Proxima Nova"/>
              <a:cs typeface="Proxima Nova"/>
              <a:sym typeface="Proxima Nova"/>
            </a:endParaRPr>
          </a:p>
          <a:p>
            <a:pPr indent="0" lvl="0" marL="0" rtl="0" algn="l">
              <a:spcBef>
                <a:spcPts val="0"/>
              </a:spcBef>
              <a:spcAft>
                <a:spcPts val="0"/>
              </a:spcAft>
              <a:buNone/>
            </a:pPr>
            <a:r>
              <a:rPr lang="en" sz="400">
                <a:solidFill>
                  <a:schemeClr val="dk1"/>
                </a:solidFill>
                <a:latin typeface="Proxima Nova"/>
                <a:ea typeface="Proxima Nova"/>
                <a:cs typeface="Proxima Nova"/>
                <a:sym typeface="Proxima Nova"/>
              </a:rPr>
              <a:t>Now, think step by step about how you would create this discharge summary. Ask yourself questions, consider different approaches, and really explore what would make this summary most effective and personalized for this specific patient. You will then generate a prompt which focuses on the data you identified as important to ensure the next step of the process is as effective as possible.</a:t>
            </a:r>
            <a:endParaRPr sz="400">
              <a:solidFill>
                <a:schemeClr val="dk1"/>
              </a:solidFill>
              <a:latin typeface="Proxima Nova"/>
              <a:ea typeface="Proxima Nova"/>
              <a:cs typeface="Proxima Nova"/>
              <a:sym typeface="Proxima Nova"/>
            </a:endParaRPr>
          </a:p>
          <a:p>
            <a:pPr indent="0" lvl="0" marL="0" rtl="0" algn="l">
              <a:spcBef>
                <a:spcPts val="0"/>
              </a:spcBef>
              <a:spcAft>
                <a:spcPts val="0"/>
              </a:spcAft>
              <a:buNone/>
            </a:pPr>
            <a:r>
              <a:rPr lang="en" sz="400">
                <a:solidFill>
                  <a:schemeClr val="dk1"/>
                </a:solidFill>
                <a:latin typeface="Proxima Nova"/>
                <a:ea typeface="Proxima Nova"/>
                <a:cs typeface="Proxima Nova"/>
                <a:sym typeface="Proxima Nova"/>
              </a:rPr>
              <a:t>Your task is to create a prompt that will be sent to the Llama4 model. This prompt should include all the information you have thought about, and should be clear and easy to understand. The goal is to create a discharge summary that is personalized, empathetic, and medically accurate.</a:t>
            </a:r>
            <a:endParaRPr sz="400">
              <a:solidFill>
                <a:schemeClr val="dk1"/>
              </a:solidFill>
              <a:latin typeface="Proxima Nova"/>
              <a:ea typeface="Proxima Nova"/>
              <a:cs typeface="Proxima Nova"/>
              <a:sym typeface="Proxima Nova"/>
            </a:endParaRPr>
          </a:p>
          <a:p>
            <a:pPr indent="0" lvl="0" marL="0" rtl="0" algn="l">
              <a:spcBef>
                <a:spcPts val="0"/>
              </a:spcBef>
              <a:spcAft>
                <a:spcPts val="0"/>
              </a:spcAft>
              <a:buNone/>
            </a:pPr>
            <a:r>
              <a:rPr lang="en" sz="400">
                <a:solidFill>
                  <a:schemeClr val="dk1"/>
                </a:solidFill>
                <a:latin typeface="Proxima Nova"/>
                <a:ea typeface="Proxima Nova"/>
                <a:cs typeface="Proxima Nova"/>
                <a:sym typeface="Proxima Nova"/>
              </a:rPr>
              <a:t>"""</a:t>
            </a:r>
            <a:endParaRPr sz="400">
              <a:solidFill>
                <a:schemeClr val="dk1"/>
              </a:solidFill>
              <a:latin typeface="Proxima Nova"/>
              <a:ea typeface="Proxima Nova"/>
              <a:cs typeface="Proxima Nova"/>
              <a:sym typeface="Proxima Nova"/>
            </a:endParaRPr>
          </a:p>
        </p:txBody>
      </p:sp>
      <p:pic>
        <p:nvPicPr>
          <p:cNvPr id="291" name="Google Shape;291;p45"/>
          <p:cNvPicPr preferRelativeResize="0"/>
          <p:nvPr/>
        </p:nvPicPr>
        <p:blipFill>
          <a:blip r:embed="rId3">
            <a:alphaModFix/>
          </a:blip>
          <a:stretch>
            <a:fillRect/>
          </a:stretch>
        </p:blipFill>
        <p:spPr>
          <a:xfrm>
            <a:off x="1134747" y="2901225"/>
            <a:ext cx="2788826" cy="19439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COT Pipeline: Llama4 Final prompt Code + Prompt</a:t>
            </a:r>
            <a:endParaRPr/>
          </a:p>
        </p:txBody>
      </p:sp>
      <p:pic>
        <p:nvPicPr>
          <p:cNvPr id="297" name="Google Shape;297;p46"/>
          <p:cNvPicPr preferRelativeResize="0"/>
          <p:nvPr/>
        </p:nvPicPr>
        <p:blipFill>
          <a:blip r:embed="rId3">
            <a:alphaModFix/>
          </a:blip>
          <a:stretch>
            <a:fillRect/>
          </a:stretch>
        </p:blipFill>
        <p:spPr>
          <a:xfrm>
            <a:off x="1365475" y="1017725"/>
            <a:ext cx="6126725" cy="3721501"/>
          </a:xfrm>
          <a:prstGeom prst="rect">
            <a:avLst/>
          </a:prstGeom>
          <a:noFill/>
          <a:ln>
            <a:noFill/>
          </a:ln>
        </p:spPr>
      </p:pic>
      <p:pic>
        <p:nvPicPr>
          <p:cNvPr id="298" name="Google Shape;298;p46"/>
          <p:cNvPicPr preferRelativeResize="0"/>
          <p:nvPr/>
        </p:nvPicPr>
        <p:blipFill>
          <a:blip r:embed="rId4">
            <a:alphaModFix/>
          </a:blip>
          <a:stretch>
            <a:fillRect/>
          </a:stretch>
        </p:blipFill>
        <p:spPr>
          <a:xfrm>
            <a:off x="6050481" y="1130575"/>
            <a:ext cx="2989100" cy="23714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COT Pipeline: Llama4 Final Summary outputs</a:t>
            </a:r>
            <a:endParaRPr/>
          </a:p>
        </p:txBody>
      </p:sp>
      <p:pic>
        <p:nvPicPr>
          <p:cNvPr id="304" name="Google Shape;304;p47"/>
          <p:cNvPicPr preferRelativeResize="0"/>
          <p:nvPr/>
        </p:nvPicPr>
        <p:blipFill>
          <a:blip r:embed="rId3">
            <a:alphaModFix/>
          </a:blip>
          <a:stretch>
            <a:fillRect/>
          </a:stretch>
        </p:blipFill>
        <p:spPr>
          <a:xfrm>
            <a:off x="0" y="1102625"/>
            <a:ext cx="3326877" cy="3041585"/>
          </a:xfrm>
          <a:prstGeom prst="rect">
            <a:avLst/>
          </a:prstGeom>
          <a:noFill/>
          <a:ln>
            <a:noFill/>
          </a:ln>
        </p:spPr>
      </p:pic>
      <p:pic>
        <p:nvPicPr>
          <p:cNvPr id="305" name="Google Shape;305;p47"/>
          <p:cNvPicPr preferRelativeResize="0"/>
          <p:nvPr/>
        </p:nvPicPr>
        <p:blipFill>
          <a:blip r:embed="rId4">
            <a:alphaModFix/>
          </a:blip>
          <a:stretch>
            <a:fillRect/>
          </a:stretch>
        </p:blipFill>
        <p:spPr>
          <a:xfrm>
            <a:off x="3336299" y="1102625"/>
            <a:ext cx="3024282" cy="3820973"/>
          </a:xfrm>
          <a:prstGeom prst="rect">
            <a:avLst/>
          </a:prstGeom>
          <a:noFill/>
          <a:ln>
            <a:noFill/>
          </a:ln>
        </p:spPr>
      </p:pic>
      <p:pic>
        <p:nvPicPr>
          <p:cNvPr id="306" name="Google Shape;306;p47"/>
          <p:cNvPicPr preferRelativeResize="0"/>
          <p:nvPr/>
        </p:nvPicPr>
        <p:blipFill>
          <a:blip r:embed="rId5">
            <a:alphaModFix/>
          </a:blip>
          <a:stretch>
            <a:fillRect/>
          </a:stretch>
        </p:blipFill>
        <p:spPr>
          <a:xfrm>
            <a:off x="6370000" y="1102620"/>
            <a:ext cx="2792851" cy="3650755"/>
          </a:xfrm>
          <a:prstGeom prst="rect">
            <a:avLst/>
          </a:prstGeom>
          <a:noFill/>
          <a:ln>
            <a:noFill/>
          </a:ln>
        </p:spPr>
      </p:pic>
      <p:sp>
        <p:nvSpPr>
          <p:cNvPr id="307" name="Google Shape;307;p47"/>
          <p:cNvSpPr txBox="1"/>
          <p:nvPr/>
        </p:nvSpPr>
        <p:spPr>
          <a:xfrm>
            <a:off x="28250" y="4195325"/>
            <a:ext cx="3253500" cy="75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latin typeface="Proxima Nova"/>
                <a:ea typeface="Proxima Nova"/>
                <a:cs typeface="Proxima Nova"/>
                <a:sym typeface="Proxima Nova"/>
              </a:rPr>
              <a:t>Tests were again performed on a pediatric patient, an elderly patient, and a </a:t>
            </a:r>
            <a:r>
              <a:rPr lang="en">
                <a:solidFill>
                  <a:schemeClr val="accent3"/>
                </a:solidFill>
                <a:latin typeface="Proxima Nova"/>
                <a:ea typeface="Proxima Nova"/>
                <a:cs typeface="Proxima Nova"/>
                <a:sym typeface="Proxima Nova"/>
              </a:rPr>
              <a:t>cognitively</a:t>
            </a:r>
            <a:r>
              <a:rPr lang="en">
                <a:solidFill>
                  <a:schemeClr val="accent3"/>
                </a:solidFill>
                <a:latin typeface="Proxima Nova"/>
                <a:ea typeface="Proxima Nova"/>
                <a:cs typeface="Proxima Nova"/>
                <a:sym typeface="Proxima Nova"/>
              </a:rPr>
              <a:t> impaired patient</a:t>
            </a:r>
            <a:endParaRPr>
              <a:solidFill>
                <a:schemeClr val="accent3"/>
              </a:solidFill>
              <a:latin typeface="Proxima Nova"/>
              <a:ea typeface="Proxima Nova"/>
              <a:cs typeface="Proxima Nova"/>
              <a:sym typeface="Proxima Nova"/>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COT Pipeline: Final Thoughts</a:t>
            </a:r>
            <a:endParaRPr/>
          </a:p>
        </p:txBody>
      </p:sp>
      <p:sp>
        <p:nvSpPr>
          <p:cNvPr id="313" name="Google Shape;313;p4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100">
                <a:solidFill>
                  <a:srgbClr val="000000"/>
                </a:solidFill>
                <a:latin typeface="Arial"/>
                <a:ea typeface="Arial"/>
                <a:cs typeface="Arial"/>
                <a:sym typeface="Arial"/>
              </a:rPr>
              <a:t>Chained Reasoning with DeepSeek + LLaMA 4</a:t>
            </a:r>
            <a:br>
              <a:rPr b="1" lang="en" sz="1100">
                <a:solidFill>
                  <a:srgbClr val="000000"/>
                </a:solidFill>
                <a:latin typeface="Arial"/>
                <a:ea typeface="Arial"/>
                <a:cs typeface="Arial"/>
                <a:sym typeface="Arial"/>
              </a:rPr>
            </a:br>
            <a:r>
              <a:rPr b="1" lang="en" sz="1100">
                <a:solidFill>
                  <a:srgbClr val="000000"/>
                </a:solidFill>
                <a:latin typeface="Arial"/>
                <a:ea typeface="Arial"/>
                <a:cs typeface="Arial"/>
                <a:sym typeface="Arial"/>
              </a:rPr>
              <a:t> </a:t>
            </a:r>
            <a:r>
              <a:rPr lang="en" sz="1100">
                <a:solidFill>
                  <a:srgbClr val="000000"/>
                </a:solidFill>
                <a:latin typeface="Arial"/>
                <a:ea typeface="Arial"/>
                <a:cs typeface="Arial"/>
                <a:sym typeface="Arial"/>
              </a:rPr>
              <a:t>- Using DeepSeek R1 to break down the case before summarization created a more logical, layered understanding. This </a:t>
            </a:r>
            <a:r>
              <a:rPr b="1" lang="en" sz="1100">
                <a:solidFill>
                  <a:srgbClr val="000000"/>
                </a:solidFill>
                <a:latin typeface="Arial"/>
                <a:ea typeface="Arial"/>
                <a:cs typeface="Arial"/>
                <a:sym typeface="Arial"/>
              </a:rPr>
              <a:t>chain-of-thought approach</a:t>
            </a:r>
            <a:r>
              <a:rPr lang="en" sz="1100">
                <a:solidFill>
                  <a:srgbClr val="000000"/>
                </a:solidFill>
                <a:latin typeface="Arial"/>
                <a:ea typeface="Arial"/>
                <a:cs typeface="Arial"/>
                <a:sym typeface="Arial"/>
              </a:rPr>
              <a:t> led to richer context and better clinical accuracy in the final summaries.</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0" lvl="0" marL="0" rtl="0" algn="l">
              <a:spcBef>
                <a:spcPts val="1200"/>
              </a:spcBef>
              <a:spcAft>
                <a:spcPts val="0"/>
              </a:spcAft>
              <a:buNone/>
            </a:pPr>
            <a:r>
              <a:rPr b="1" lang="en" sz="1100">
                <a:solidFill>
                  <a:srgbClr val="000000"/>
                </a:solidFill>
                <a:latin typeface="Arial"/>
                <a:ea typeface="Arial"/>
                <a:cs typeface="Arial"/>
                <a:sym typeface="Arial"/>
              </a:rPr>
              <a:t>Dynamic Prompting for Context Sensitivity</a:t>
            </a:r>
            <a:br>
              <a:rPr b="1" lang="en" sz="1100">
                <a:solidFill>
                  <a:srgbClr val="000000"/>
                </a:solidFill>
                <a:latin typeface="Arial"/>
                <a:ea typeface="Arial"/>
                <a:cs typeface="Arial"/>
                <a:sym typeface="Arial"/>
              </a:rPr>
            </a:br>
            <a:r>
              <a:rPr b="1" lang="en" sz="1100">
                <a:solidFill>
                  <a:srgbClr val="000000"/>
                </a:solidFill>
                <a:latin typeface="Arial"/>
                <a:ea typeface="Arial"/>
                <a:cs typeface="Arial"/>
                <a:sym typeface="Arial"/>
              </a:rPr>
              <a:t> </a:t>
            </a:r>
            <a:r>
              <a:rPr lang="en" sz="1100">
                <a:solidFill>
                  <a:srgbClr val="000000"/>
                </a:solidFill>
                <a:latin typeface="Arial"/>
                <a:ea typeface="Arial"/>
                <a:cs typeface="Arial"/>
                <a:sym typeface="Arial"/>
              </a:rPr>
              <a:t>- Prompts were not static. By adjusting to each case’s complexity or clinical focus, the pipeline delivered </a:t>
            </a:r>
            <a:r>
              <a:rPr b="1" lang="en" sz="1100">
                <a:solidFill>
                  <a:srgbClr val="000000"/>
                </a:solidFill>
                <a:latin typeface="Arial"/>
                <a:ea typeface="Arial"/>
                <a:cs typeface="Arial"/>
                <a:sym typeface="Arial"/>
              </a:rPr>
              <a:t>more precise, situation-aware prompts</a:t>
            </a:r>
            <a:r>
              <a:rPr lang="en" sz="1100">
                <a:solidFill>
                  <a:srgbClr val="000000"/>
                </a:solidFill>
                <a:latin typeface="Arial"/>
                <a:ea typeface="Arial"/>
                <a:cs typeface="Arial"/>
                <a:sym typeface="Arial"/>
              </a:rPr>
              <a:t>—especially valuable in edge or ambiguous cases.</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0" lvl="0" marL="0" rtl="0" algn="l">
              <a:spcBef>
                <a:spcPts val="1200"/>
              </a:spcBef>
              <a:spcAft>
                <a:spcPts val="0"/>
              </a:spcAft>
              <a:buNone/>
            </a:pPr>
            <a:r>
              <a:rPr b="1" lang="en" sz="1100">
                <a:solidFill>
                  <a:srgbClr val="000000"/>
                </a:solidFill>
                <a:latin typeface="Arial"/>
                <a:ea typeface="Arial"/>
                <a:cs typeface="Arial"/>
                <a:sym typeface="Arial"/>
              </a:rPr>
              <a:t>Best Results Across the Board</a:t>
            </a:r>
            <a:br>
              <a:rPr b="1" lang="en" sz="1100">
                <a:solidFill>
                  <a:srgbClr val="000000"/>
                </a:solidFill>
                <a:latin typeface="Arial"/>
                <a:ea typeface="Arial"/>
                <a:cs typeface="Arial"/>
                <a:sym typeface="Arial"/>
              </a:rPr>
            </a:br>
            <a:r>
              <a:rPr b="1" lang="en" sz="1100">
                <a:solidFill>
                  <a:srgbClr val="000000"/>
                </a:solidFill>
                <a:latin typeface="Arial"/>
                <a:ea typeface="Arial"/>
                <a:cs typeface="Arial"/>
                <a:sym typeface="Arial"/>
              </a:rPr>
              <a:t> </a:t>
            </a:r>
            <a:r>
              <a:rPr lang="en" sz="1100">
                <a:solidFill>
                  <a:srgbClr val="000000"/>
                </a:solidFill>
                <a:latin typeface="Arial"/>
                <a:ea typeface="Arial"/>
                <a:cs typeface="Arial"/>
                <a:sym typeface="Arial"/>
              </a:rPr>
              <a:t>- Compared to direct-to-summary approaches, this method produced </a:t>
            </a:r>
            <a:r>
              <a:rPr b="1" lang="en" sz="1100">
                <a:solidFill>
                  <a:srgbClr val="000000"/>
                </a:solidFill>
                <a:latin typeface="Arial"/>
                <a:ea typeface="Arial"/>
                <a:cs typeface="Arial"/>
                <a:sym typeface="Arial"/>
              </a:rPr>
              <a:t>clearer, more comprehensive outputs</a:t>
            </a:r>
            <a:r>
              <a:rPr lang="en" sz="1100">
                <a:solidFill>
                  <a:srgbClr val="000000"/>
                </a:solidFill>
                <a:latin typeface="Arial"/>
                <a:ea typeface="Arial"/>
                <a:cs typeface="Arial"/>
                <a:sym typeface="Arial"/>
              </a:rPr>
              <a:t>, aligning better with real clinical documentation standards.</a:t>
            </a:r>
            <a:endParaRPr sz="1100">
              <a:solidFill>
                <a:srgbClr val="000000"/>
              </a:solidFill>
              <a:latin typeface="Arial"/>
              <a:ea typeface="Arial"/>
              <a:cs typeface="Arial"/>
              <a:sym typeface="Arial"/>
            </a:endParaRPr>
          </a:p>
          <a:p>
            <a:pPr indent="0" lvl="0" marL="0" rtl="0" algn="l">
              <a:spcBef>
                <a:spcPts val="1200"/>
              </a:spcBef>
              <a:spcAft>
                <a:spcPts val="0"/>
              </a:spcAft>
              <a:buNone/>
            </a:pPr>
            <a:r>
              <a:t/>
            </a:r>
            <a:endParaRPr b="1" sz="11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9"/>
          <p:cNvSpPr txBox="1"/>
          <p:nvPr>
            <p:ph type="title"/>
          </p:nvPr>
        </p:nvSpPr>
        <p:spPr>
          <a:xfrm>
            <a:off x="510450" y="2057400"/>
            <a:ext cx="8123100" cy="7788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BONUS: Clinical </a:t>
            </a:r>
            <a:r>
              <a:rPr lang="en"/>
              <a:t>Decision</a:t>
            </a:r>
            <a:r>
              <a:rPr lang="en"/>
              <a:t> Making with LLM’s - Deepseek R1 Triage</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50"/>
          <p:cNvSpPr txBox="1"/>
          <p:nvPr>
            <p:ph type="title"/>
          </p:nvPr>
        </p:nvSpPr>
        <p:spPr>
          <a:xfrm>
            <a:off x="335250" y="61200"/>
            <a:ext cx="3671700" cy="755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Deepseek R1 - Triage Prompt + Extracting the Triage</a:t>
            </a:r>
            <a:endParaRPr/>
          </a:p>
        </p:txBody>
      </p:sp>
      <p:sp>
        <p:nvSpPr>
          <p:cNvPr id="324" name="Google Shape;324;p50"/>
          <p:cNvSpPr txBox="1"/>
          <p:nvPr>
            <p:ph idx="1" type="body"/>
          </p:nvPr>
        </p:nvSpPr>
        <p:spPr>
          <a:xfrm>
            <a:off x="1018050" y="782175"/>
            <a:ext cx="3808200" cy="3179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275"/>
              <a:buNone/>
            </a:pPr>
            <a:r>
              <a:rPr lang="en" sz="600"/>
              <a:t>prompt = f"""</a:t>
            </a:r>
            <a:endParaRPr sz="600"/>
          </a:p>
          <a:p>
            <a:pPr indent="0" lvl="0" marL="0" rtl="0" algn="l">
              <a:lnSpc>
                <a:spcPct val="95000"/>
              </a:lnSpc>
              <a:spcBef>
                <a:spcPts val="0"/>
              </a:spcBef>
              <a:spcAft>
                <a:spcPts val="0"/>
              </a:spcAft>
              <a:buSzPts val="275"/>
              <a:buNone/>
            </a:pPr>
            <a:r>
              <a:rPr lang="en" sz="600"/>
              <a:t>You are an experienced emergency medicine physician tasked with determining the triage level for a patient based on their presentation. Please classify this patient into one of the following triage categories:</a:t>
            </a:r>
            <a:endParaRPr sz="600"/>
          </a:p>
          <a:p>
            <a:pPr indent="0" lvl="0" marL="0" rtl="0" algn="l">
              <a:lnSpc>
                <a:spcPct val="95000"/>
              </a:lnSpc>
              <a:spcBef>
                <a:spcPts val="0"/>
              </a:spcBef>
              <a:spcAft>
                <a:spcPts val="0"/>
              </a:spcAft>
              <a:buSzPts val="275"/>
              <a:buNone/>
            </a:pPr>
            <a:r>
              <a:t/>
            </a:r>
            <a:endParaRPr sz="600"/>
          </a:p>
          <a:p>
            <a:pPr indent="0" lvl="0" marL="0" rtl="0" algn="l">
              <a:lnSpc>
                <a:spcPct val="95000"/>
              </a:lnSpc>
              <a:spcBef>
                <a:spcPts val="0"/>
              </a:spcBef>
              <a:spcAft>
                <a:spcPts val="0"/>
              </a:spcAft>
              <a:buSzPts val="275"/>
              <a:buNone/>
            </a:pPr>
            <a:r>
              <a:rPr lang="en" sz="600"/>
              <a:t>1. IMMEDIATE (RED): Life-threatening condition requiring immediate intervention</a:t>
            </a:r>
            <a:endParaRPr sz="600"/>
          </a:p>
          <a:p>
            <a:pPr indent="0" lvl="0" marL="0" rtl="0" algn="l">
              <a:lnSpc>
                <a:spcPct val="95000"/>
              </a:lnSpc>
              <a:spcBef>
                <a:spcPts val="0"/>
              </a:spcBef>
              <a:spcAft>
                <a:spcPts val="0"/>
              </a:spcAft>
              <a:buSzPts val="275"/>
              <a:buNone/>
            </a:pPr>
            <a:r>
              <a:rPr lang="en" sz="600"/>
              <a:t>2. EMERGENT (ORANGE): Potentially life-threatening condition requiring prompt intervention</a:t>
            </a:r>
            <a:endParaRPr sz="600"/>
          </a:p>
          <a:p>
            <a:pPr indent="0" lvl="0" marL="0" rtl="0" algn="l">
              <a:lnSpc>
                <a:spcPct val="95000"/>
              </a:lnSpc>
              <a:spcBef>
                <a:spcPts val="0"/>
              </a:spcBef>
              <a:spcAft>
                <a:spcPts val="0"/>
              </a:spcAft>
              <a:buSzPts val="275"/>
              <a:buNone/>
            </a:pPr>
            <a:r>
              <a:rPr lang="en" sz="600"/>
              <a:t>3. URGENT (YELLOW): Serious condition requiring medical attention within hours</a:t>
            </a:r>
            <a:endParaRPr sz="600"/>
          </a:p>
          <a:p>
            <a:pPr indent="0" lvl="0" marL="0" rtl="0" algn="l">
              <a:lnSpc>
                <a:spcPct val="95000"/>
              </a:lnSpc>
              <a:spcBef>
                <a:spcPts val="0"/>
              </a:spcBef>
              <a:spcAft>
                <a:spcPts val="0"/>
              </a:spcAft>
              <a:buSzPts val="275"/>
              <a:buNone/>
            </a:pPr>
            <a:r>
              <a:rPr lang="en" sz="600"/>
              <a:t>4. SEMI-URGENT (GREEN): Condition requiring medical attention but not immediately life-threatening</a:t>
            </a:r>
            <a:endParaRPr sz="600"/>
          </a:p>
          <a:p>
            <a:pPr indent="0" lvl="0" marL="0" rtl="0" algn="l">
              <a:lnSpc>
                <a:spcPct val="95000"/>
              </a:lnSpc>
              <a:spcBef>
                <a:spcPts val="0"/>
              </a:spcBef>
              <a:spcAft>
                <a:spcPts val="0"/>
              </a:spcAft>
              <a:buSzPts val="275"/>
              <a:buNone/>
            </a:pPr>
            <a:r>
              <a:rPr lang="en" sz="600"/>
              <a:t>5. NON-URGENT (BLUE): Minor condition that could be treated in a primary care setting</a:t>
            </a:r>
            <a:endParaRPr sz="600"/>
          </a:p>
          <a:p>
            <a:pPr indent="0" lvl="0" marL="0" rtl="0" algn="l">
              <a:lnSpc>
                <a:spcPct val="95000"/>
              </a:lnSpc>
              <a:spcBef>
                <a:spcPts val="0"/>
              </a:spcBef>
              <a:spcAft>
                <a:spcPts val="0"/>
              </a:spcAft>
              <a:buSzPts val="275"/>
              <a:buNone/>
            </a:pPr>
            <a:r>
              <a:t/>
            </a:r>
            <a:endParaRPr sz="600"/>
          </a:p>
          <a:p>
            <a:pPr indent="0" lvl="0" marL="0" rtl="0" algn="l">
              <a:lnSpc>
                <a:spcPct val="95000"/>
              </a:lnSpc>
              <a:spcBef>
                <a:spcPts val="0"/>
              </a:spcBef>
              <a:spcAft>
                <a:spcPts val="0"/>
              </a:spcAft>
              <a:buSzPts val="275"/>
              <a:buNone/>
            </a:pPr>
            <a:r>
              <a:rPr lang="en" sz="600"/>
              <a:t>{demographics_section}</a:t>
            </a:r>
            <a:endParaRPr sz="600"/>
          </a:p>
          <a:p>
            <a:pPr indent="0" lvl="0" marL="0" rtl="0" algn="l">
              <a:lnSpc>
                <a:spcPct val="95000"/>
              </a:lnSpc>
              <a:spcBef>
                <a:spcPts val="0"/>
              </a:spcBef>
              <a:spcAft>
                <a:spcPts val="0"/>
              </a:spcAft>
              <a:buSzPts val="275"/>
              <a:buNone/>
            </a:pPr>
            <a:r>
              <a:t/>
            </a:r>
            <a:endParaRPr sz="600"/>
          </a:p>
          <a:p>
            <a:pPr indent="0" lvl="0" marL="0" rtl="0" algn="l">
              <a:lnSpc>
                <a:spcPct val="95000"/>
              </a:lnSpc>
              <a:spcBef>
                <a:spcPts val="0"/>
              </a:spcBef>
              <a:spcAft>
                <a:spcPts val="0"/>
              </a:spcAft>
              <a:buSzPts val="275"/>
              <a:buNone/>
            </a:pPr>
            <a:r>
              <a:rPr lang="en" sz="600"/>
              <a:t>{vitals_section}</a:t>
            </a:r>
            <a:endParaRPr sz="600"/>
          </a:p>
          <a:p>
            <a:pPr indent="0" lvl="0" marL="0" rtl="0" algn="l">
              <a:lnSpc>
                <a:spcPct val="95000"/>
              </a:lnSpc>
              <a:spcBef>
                <a:spcPts val="0"/>
              </a:spcBef>
              <a:spcAft>
                <a:spcPts val="0"/>
              </a:spcAft>
              <a:buSzPts val="275"/>
              <a:buNone/>
            </a:pPr>
            <a:r>
              <a:t/>
            </a:r>
            <a:endParaRPr sz="600"/>
          </a:p>
          <a:p>
            <a:pPr indent="0" lvl="0" marL="0" rtl="0" algn="l">
              <a:lnSpc>
                <a:spcPct val="95000"/>
              </a:lnSpc>
              <a:spcBef>
                <a:spcPts val="0"/>
              </a:spcBef>
              <a:spcAft>
                <a:spcPts val="0"/>
              </a:spcAft>
              <a:buSzPts val="275"/>
              <a:buNone/>
            </a:pPr>
            <a:r>
              <a:rPr lang="en" sz="600"/>
              <a:t>{chronic_section}</a:t>
            </a:r>
            <a:endParaRPr sz="600"/>
          </a:p>
          <a:p>
            <a:pPr indent="0" lvl="0" marL="0" rtl="0" algn="l">
              <a:lnSpc>
                <a:spcPct val="95000"/>
              </a:lnSpc>
              <a:spcBef>
                <a:spcPts val="0"/>
              </a:spcBef>
              <a:spcAft>
                <a:spcPts val="0"/>
              </a:spcAft>
              <a:buSzPts val="275"/>
              <a:buNone/>
            </a:pPr>
            <a:r>
              <a:t/>
            </a:r>
            <a:endParaRPr sz="600"/>
          </a:p>
          <a:p>
            <a:pPr indent="0" lvl="0" marL="0" rtl="0" algn="l">
              <a:lnSpc>
                <a:spcPct val="95000"/>
              </a:lnSpc>
              <a:spcBef>
                <a:spcPts val="0"/>
              </a:spcBef>
              <a:spcAft>
                <a:spcPts val="0"/>
              </a:spcAft>
              <a:buSzPts val="275"/>
              <a:buNone/>
            </a:pPr>
            <a:r>
              <a:rPr lang="en" sz="600"/>
              <a:t>{acute_section}</a:t>
            </a:r>
            <a:endParaRPr sz="600"/>
          </a:p>
          <a:p>
            <a:pPr indent="0" lvl="0" marL="0" rtl="0" algn="l">
              <a:lnSpc>
                <a:spcPct val="95000"/>
              </a:lnSpc>
              <a:spcBef>
                <a:spcPts val="0"/>
              </a:spcBef>
              <a:spcAft>
                <a:spcPts val="0"/>
              </a:spcAft>
              <a:buSzPts val="275"/>
              <a:buNone/>
            </a:pPr>
            <a:r>
              <a:t/>
            </a:r>
            <a:endParaRPr sz="600"/>
          </a:p>
          <a:p>
            <a:pPr indent="0" lvl="0" marL="0" rtl="0" algn="l">
              <a:lnSpc>
                <a:spcPct val="95000"/>
              </a:lnSpc>
              <a:spcBef>
                <a:spcPts val="0"/>
              </a:spcBef>
              <a:spcAft>
                <a:spcPts val="0"/>
              </a:spcAft>
              <a:buSzPts val="275"/>
              <a:buNone/>
            </a:pPr>
            <a:r>
              <a:rPr lang="en" sz="600"/>
              <a:t>{medications_section}</a:t>
            </a:r>
            <a:endParaRPr sz="600"/>
          </a:p>
          <a:p>
            <a:pPr indent="0" lvl="0" marL="0" rtl="0" algn="l">
              <a:lnSpc>
                <a:spcPct val="95000"/>
              </a:lnSpc>
              <a:spcBef>
                <a:spcPts val="0"/>
              </a:spcBef>
              <a:spcAft>
                <a:spcPts val="0"/>
              </a:spcAft>
              <a:buSzPts val="275"/>
              <a:buNone/>
            </a:pPr>
            <a:r>
              <a:t/>
            </a:r>
            <a:endParaRPr sz="600"/>
          </a:p>
          <a:p>
            <a:pPr indent="0" lvl="0" marL="0" rtl="0" algn="l">
              <a:lnSpc>
                <a:spcPct val="95000"/>
              </a:lnSpc>
              <a:spcBef>
                <a:spcPts val="0"/>
              </a:spcBef>
              <a:spcAft>
                <a:spcPts val="0"/>
              </a:spcAft>
              <a:buSzPts val="275"/>
              <a:buNone/>
            </a:pPr>
            <a:r>
              <a:rPr lang="en" sz="600"/>
              <a:t>{allergies_section}</a:t>
            </a:r>
            <a:endParaRPr sz="600"/>
          </a:p>
          <a:p>
            <a:pPr indent="0" lvl="0" marL="0" rtl="0" algn="l">
              <a:lnSpc>
                <a:spcPct val="95000"/>
              </a:lnSpc>
              <a:spcBef>
                <a:spcPts val="0"/>
              </a:spcBef>
              <a:spcAft>
                <a:spcPts val="0"/>
              </a:spcAft>
              <a:buSzPts val="275"/>
              <a:buNone/>
            </a:pPr>
            <a:r>
              <a:t/>
            </a:r>
            <a:endParaRPr sz="600"/>
          </a:p>
          <a:p>
            <a:pPr indent="0" lvl="0" marL="0" rtl="0" algn="l">
              <a:lnSpc>
                <a:spcPct val="95000"/>
              </a:lnSpc>
              <a:spcBef>
                <a:spcPts val="0"/>
              </a:spcBef>
              <a:spcAft>
                <a:spcPts val="0"/>
              </a:spcAft>
              <a:buSzPts val="275"/>
              <a:buNone/>
            </a:pPr>
            <a:r>
              <a:rPr lang="en" sz="600"/>
              <a:t>{procedures_section}</a:t>
            </a:r>
            <a:endParaRPr sz="600"/>
          </a:p>
          <a:p>
            <a:pPr indent="0" lvl="0" marL="0" rtl="0" algn="l">
              <a:lnSpc>
                <a:spcPct val="95000"/>
              </a:lnSpc>
              <a:spcBef>
                <a:spcPts val="0"/>
              </a:spcBef>
              <a:spcAft>
                <a:spcPts val="0"/>
              </a:spcAft>
              <a:buSzPts val="275"/>
              <a:buNone/>
            </a:pPr>
            <a:r>
              <a:t/>
            </a:r>
            <a:endParaRPr sz="600"/>
          </a:p>
          <a:p>
            <a:pPr indent="0" lvl="0" marL="0" rtl="0" algn="l">
              <a:lnSpc>
                <a:spcPct val="95000"/>
              </a:lnSpc>
              <a:spcBef>
                <a:spcPts val="0"/>
              </a:spcBef>
              <a:spcAft>
                <a:spcPts val="0"/>
              </a:spcAft>
              <a:buSzPts val="275"/>
              <a:buNone/>
            </a:pPr>
            <a:r>
              <a:rPr lang="en" sz="600"/>
              <a:t>{hospitalizations_section}</a:t>
            </a:r>
            <a:endParaRPr sz="600"/>
          </a:p>
          <a:p>
            <a:pPr indent="0" lvl="0" marL="0" rtl="0" algn="l">
              <a:lnSpc>
                <a:spcPct val="95000"/>
              </a:lnSpc>
              <a:spcBef>
                <a:spcPts val="0"/>
              </a:spcBef>
              <a:spcAft>
                <a:spcPts val="0"/>
              </a:spcAft>
              <a:buSzPts val="275"/>
              <a:buNone/>
            </a:pPr>
            <a:r>
              <a:t/>
            </a:r>
            <a:endParaRPr sz="600"/>
          </a:p>
          <a:p>
            <a:pPr indent="0" lvl="0" marL="0" rtl="0" algn="l">
              <a:lnSpc>
                <a:spcPct val="95000"/>
              </a:lnSpc>
              <a:spcBef>
                <a:spcPts val="0"/>
              </a:spcBef>
              <a:spcAft>
                <a:spcPts val="0"/>
              </a:spcAft>
              <a:buSzPts val="275"/>
              <a:buNone/>
            </a:pPr>
            <a:r>
              <a:rPr lang="en" sz="600"/>
              <a:t>{encounter_section}</a:t>
            </a:r>
            <a:endParaRPr sz="600"/>
          </a:p>
          <a:p>
            <a:pPr indent="0" lvl="0" marL="0" rtl="0" algn="l">
              <a:lnSpc>
                <a:spcPct val="95000"/>
              </a:lnSpc>
              <a:spcBef>
                <a:spcPts val="0"/>
              </a:spcBef>
              <a:spcAft>
                <a:spcPts val="0"/>
              </a:spcAft>
              <a:buSzPts val="275"/>
              <a:buNone/>
            </a:pPr>
            <a:r>
              <a:t/>
            </a:r>
            <a:endParaRPr sz="600"/>
          </a:p>
          <a:p>
            <a:pPr indent="0" lvl="0" marL="0" rtl="0" algn="l">
              <a:lnSpc>
                <a:spcPct val="95000"/>
              </a:lnSpc>
              <a:spcBef>
                <a:spcPts val="0"/>
              </a:spcBef>
              <a:spcAft>
                <a:spcPts val="0"/>
              </a:spcAft>
              <a:buSzPts val="275"/>
              <a:buNone/>
            </a:pPr>
            <a:r>
              <a:rPr lang="en" sz="600"/>
              <a:t>{social_section}</a:t>
            </a:r>
            <a:endParaRPr sz="600"/>
          </a:p>
          <a:p>
            <a:pPr indent="0" lvl="0" marL="0" rtl="0" algn="l">
              <a:lnSpc>
                <a:spcPct val="95000"/>
              </a:lnSpc>
              <a:spcBef>
                <a:spcPts val="0"/>
              </a:spcBef>
              <a:spcAft>
                <a:spcPts val="0"/>
              </a:spcAft>
              <a:buSzPts val="275"/>
              <a:buNone/>
            </a:pPr>
            <a:r>
              <a:t/>
            </a:r>
            <a:endParaRPr sz="600"/>
          </a:p>
          <a:p>
            <a:pPr indent="0" lvl="0" marL="0" rtl="0" algn="l">
              <a:lnSpc>
                <a:spcPct val="95000"/>
              </a:lnSpc>
              <a:spcBef>
                <a:spcPts val="0"/>
              </a:spcBef>
              <a:spcAft>
                <a:spcPts val="0"/>
              </a:spcAft>
              <a:buSzPts val="275"/>
              <a:buNone/>
            </a:pPr>
            <a:r>
              <a:rPr lang="en" sz="600"/>
              <a:t>Please provide:</a:t>
            </a:r>
            <a:endParaRPr sz="600"/>
          </a:p>
          <a:p>
            <a:pPr indent="0" lvl="0" marL="0" rtl="0" algn="l">
              <a:lnSpc>
                <a:spcPct val="95000"/>
              </a:lnSpc>
              <a:spcBef>
                <a:spcPts val="0"/>
              </a:spcBef>
              <a:spcAft>
                <a:spcPts val="0"/>
              </a:spcAft>
              <a:buSzPts val="275"/>
              <a:buNone/>
            </a:pPr>
            <a:r>
              <a:rPr lang="en" sz="600"/>
              <a:t>1. The appropriate triage category for this patient (choose ONE from the five categories above)</a:t>
            </a:r>
            <a:endParaRPr sz="600"/>
          </a:p>
          <a:p>
            <a:pPr indent="0" lvl="0" marL="0" rtl="0" algn="l">
              <a:lnSpc>
                <a:spcPct val="95000"/>
              </a:lnSpc>
              <a:spcBef>
                <a:spcPts val="0"/>
              </a:spcBef>
              <a:spcAft>
                <a:spcPts val="0"/>
              </a:spcAft>
              <a:buSzPts val="275"/>
              <a:buNone/>
            </a:pPr>
            <a:r>
              <a:rPr lang="en" sz="600"/>
              <a:t>2. A detailed clinical rationale for your classification (2-4 sentences)</a:t>
            </a:r>
            <a:endParaRPr sz="600"/>
          </a:p>
          <a:p>
            <a:pPr indent="0" lvl="0" marL="0" rtl="0" algn="l">
              <a:lnSpc>
                <a:spcPct val="95000"/>
              </a:lnSpc>
              <a:spcBef>
                <a:spcPts val="0"/>
              </a:spcBef>
              <a:spcAft>
                <a:spcPts val="0"/>
              </a:spcAft>
              <a:buSzPts val="275"/>
              <a:buNone/>
            </a:pPr>
            <a:r>
              <a:rPr lang="en" sz="600"/>
              <a:t>3. Key vital signs or symptoms of concern that influenced your decision</a:t>
            </a:r>
            <a:endParaRPr sz="600"/>
          </a:p>
          <a:p>
            <a:pPr indent="0" lvl="0" marL="0" rtl="0" algn="l">
              <a:lnSpc>
                <a:spcPct val="95000"/>
              </a:lnSpc>
              <a:spcBef>
                <a:spcPts val="0"/>
              </a:spcBef>
              <a:spcAft>
                <a:spcPts val="0"/>
              </a:spcAft>
              <a:buSzPts val="275"/>
              <a:buNone/>
            </a:pPr>
            <a:r>
              <a:rPr lang="en" sz="600"/>
              <a:t>4. Warning signs to watch for that might elevate the triage level</a:t>
            </a:r>
            <a:endParaRPr sz="600"/>
          </a:p>
          <a:p>
            <a:pPr indent="0" lvl="0" marL="0" rtl="0" algn="l">
              <a:lnSpc>
                <a:spcPct val="95000"/>
              </a:lnSpc>
              <a:spcBef>
                <a:spcPts val="0"/>
              </a:spcBef>
              <a:spcAft>
                <a:spcPts val="0"/>
              </a:spcAft>
              <a:buSzPts val="275"/>
              <a:buNone/>
            </a:pPr>
            <a:r>
              <a:rPr lang="en" sz="600"/>
              <a:t>5. Recommended immediate next steps for the healthcare team</a:t>
            </a:r>
            <a:endParaRPr sz="600"/>
          </a:p>
          <a:p>
            <a:pPr indent="0" lvl="0" marL="0" rtl="0" algn="l">
              <a:lnSpc>
                <a:spcPct val="95000"/>
              </a:lnSpc>
              <a:spcBef>
                <a:spcPts val="0"/>
              </a:spcBef>
              <a:spcAft>
                <a:spcPts val="0"/>
              </a:spcAft>
              <a:buSzPts val="275"/>
              <a:buNone/>
            </a:pPr>
            <a:r>
              <a:rPr lang="en" sz="600"/>
              <a:t>6. Any possible differential diagnoses that should be considered based on the presentation</a:t>
            </a:r>
            <a:endParaRPr sz="600"/>
          </a:p>
          <a:p>
            <a:pPr indent="0" lvl="0" marL="0" rtl="0" algn="l">
              <a:lnSpc>
                <a:spcPct val="95000"/>
              </a:lnSpc>
              <a:spcBef>
                <a:spcPts val="0"/>
              </a:spcBef>
              <a:spcAft>
                <a:spcPts val="0"/>
              </a:spcAft>
              <a:buSzPts val="275"/>
              <a:buNone/>
            </a:pPr>
            <a:r>
              <a:t/>
            </a:r>
            <a:endParaRPr sz="600"/>
          </a:p>
          <a:p>
            <a:pPr indent="0" lvl="0" marL="0" rtl="0" algn="l">
              <a:lnSpc>
                <a:spcPct val="95000"/>
              </a:lnSpc>
              <a:spcBef>
                <a:spcPts val="0"/>
              </a:spcBef>
              <a:spcAft>
                <a:spcPts val="0"/>
              </a:spcAft>
              <a:buSzPts val="275"/>
              <a:buNone/>
            </a:pPr>
            <a:r>
              <a:rPr lang="en" sz="600"/>
              <a:t>Format your output like the following:</a:t>
            </a:r>
            <a:endParaRPr sz="600"/>
          </a:p>
          <a:p>
            <a:pPr indent="0" lvl="0" marL="0" rtl="0" algn="l">
              <a:lnSpc>
                <a:spcPct val="95000"/>
              </a:lnSpc>
              <a:spcBef>
                <a:spcPts val="0"/>
              </a:spcBef>
              <a:spcAft>
                <a:spcPts val="0"/>
              </a:spcAft>
              <a:buSzPts val="275"/>
              <a:buNone/>
            </a:pPr>
            <a:r>
              <a:rPr lang="en" sz="600"/>
              <a:t>- TRIAGE CATEGORY: [Your classification]</a:t>
            </a:r>
            <a:endParaRPr sz="600"/>
          </a:p>
          <a:p>
            <a:pPr indent="0" lvl="0" marL="0" rtl="0" algn="l">
              <a:lnSpc>
                <a:spcPct val="95000"/>
              </a:lnSpc>
              <a:spcBef>
                <a:spcPts val="0"/>
              </a:spcBef>
              <a:spcAft>
                <a:spcPts val="0"/>
              </a:spcAft>
              <a:buSzPts val="275"/>
              <a:buNone/>
            </a:pPr>
            <a:r>
              <a:rPr lang="en" sz="600"/>
              <a:t>- CLINICAL RATIONALE: [Your detailed rationale]</a:t>
            </a:r>
            <a:endParaRPr sz="600"/>
          </a:p>
          <a:p>
            <a:pPr indent="0" lvl="0" marL="0" rtl="0" algn="l">
              <a:lnSpc>
                <a:spcPct val="95000"/>
              </a:lnSpc>
              <a:spcBef>
                <a:spcPts val="0"/>
              </a:spcBef>
              <a:spcAft>
                <a:spcPts val="0"/>
              </a:spcAft>
              <a:buSzPts val="275"/>
              <a:buNone/>
            </a:pPr>
            <a:r>
              <a:rPr lang="en" sz="600"/>
              <a:t>- CONCERNING FINDINGS: [Key concerns from the data]</a:t>
            </a:r>
            <a:endParaRPr sz="600"/>
          </a:p>
          <a:p>
            <a:pPr indent="0" lvl="0" marL="0" rtl="0" algn="l">
              <a:lnSpc>
                <a:spcPct val="95000"/>
              </a:lnSpc>
              <a:spcBef>
                <a:spcPts val="0"/>
              </a:spcBef>
              <a:spcAft>
                <a:spcPts val="0"/>
              </a:spcAft>
              <a:buSzPts val="275"/>
              <a:buNone/>
            </a:pPr>
            <a:r>
              <a:rPr lang="en" sz="600"/>
              <a:t>- WARNING SIGNS: [Signs to monitor that would elevate the triage category]</a:t>
            </a:r>
            <a:endParaRPr sz="600"/>
          </a:p>
          <a:p>
            <a:pPr indent="0" lvl="0" marL="0" rtl="0" algn="l">
              <a:lnSpc>
                <a:spcPct val="95000"/>
              </a:lnSpc>
              <a:spcBef>
                <a:spcPts val="0"/>
              </a:spcBef>
              <a:spcAft>
                <a:spcPts val="0"/>
              </a:spcAft>
              <a:buSzPts val="275"/>
              <a:buNone/>
            </a:pPr>
            <a:r>
              <a:rPr lang="en" sz="600"/>
              <a:t>- NEXT STEPS: [Your recommended next steps]</a:t>
            </a:r>
            <a:endParaRPr sz="600"/>
          </a:p>
          <a:p>
            <a:pPr indent="0" lvl="0" marL="0" rtl="0" algn="l">
              <a:lnSpc>
                <a:spcPct val="95000"/>
              </a:lnSpc>
              <a:spcBef>
                <a:spcPts val="0"/>
              </a:spcBef>
              <a:spcAft>
                <a:spcPts val="0"/>
              </a:spcAft>
              <a:buSzPts val="275"/>
              <a:buNone/>
            </a:pPr>
            <a:r>
              <a:rPr lang="en" sz="600"/>
              <a:t>- DIFFERENTIAL DIAGNOSES: [Possible conditions to consider]</a:t>
            </a:r>
            <a:endParaRPr sz="600"/>
          </a:p>
          <a:p>
            <a:pPr indent="0" lvl="0" marL="0" rtl="0" algn="l">
              <a:lnSpc>
                <a:spcPct val="95000"/>
              </a:lnSpc>
              <a:spcBef>
                <a:spcPts val="0"/>
              </a:spcBef>
              <a:spcAft>
                <a:spcPts val="0"/>
              </a:spcAft>
              <a:buSzPts val="275"/>
              <a:buNone/>
            </a:pPr>
            <a:r>
              <a:rPr lang="en" sz="600"/>
              <a:t>- ADDITIONAL INFO NEEDED: [Any additional information you would need]</a:t>
            </a:r>
            <a:endParaRPr sz="600"/>
          </a:p>
          <a:p>
            <a:pPr indent="0" lvl="0" marL="0" rtl="0" algn="l">
              <a:lnSpc>
                <a:spcPct val="95000"/>
              </a:lnSpc>
              <a:spcBef>
                <a:spcPts val="0"/>
              </a:spcBef>
              <a:spcAft>
                <a:spcPts val="0"/>
              </a:spcAft>
              <a:buSzPts val="275"/>
              <a:buNone/>
            </a:pPr>
            <a:r>
              <a:rPr lang="en" sz="600"/>
              <a:t>"""</a:t>
            </a:r>
            <a:endParaRPr sz="600"/>
          </a:p>
        </p:txBody>
      </p:sp>
      <p:sp>
        <p:nvSpPr>
          <p:cNvPr id="325" name="Google Shape;325;p50"/>
          <p:cNvSpPr txBox="1"/>
          <p:nvPr/>
        </p:nvSpPr>
        <p:spPr>
          <a:xfrm>
            <a:off x="5061700" y="-45300"/>
            <a:ext cx="3880200" cy="5234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100"/>
              <a:t>def extract_triage_classification(deepseek_response):</a:t>
            </a:r>
            <a:endParaRPr sz="100"/>
          </a:p>
          <a:p>
            <a:pPr indent="0" lvl="0" marL="0" rtl="0" algn="l">
              <a:lnSpc>
                <a:spcPct val="90000"/>
              </a:lnSpc>
              <a:spcBef>
                <a:spcPts val="0"/>
              </a:spcBef>
              <a:spcAft>
                <a:spcPts val="0"/>
              </a:spcAft>
              <a:buNone/>
            </a:pPr>
            <a:r>
              <a:rPr lang="en" sz="100"/>
              <a:t>	"""</a:t>
            </a:r>
            <a:endParaRPr sz="100"/>
          </a:p>
          <a:p>
            <a:pPr indent="0" lvl="0" marL="0" rtl="0" algn="l">
              <a:lnSpc>
                <a:spcPct val="90000"/>
              </a:lnSpc>
              <a:spcBef>
                <a:spcPts val="0"/>
              </a:spcBef>
              <a:spcAft>
                <a:spcPts val="0"/>
              </a:spcAft>
              <a:buNone/>
            </a:pPr>
            <a:r>
              <a:rPr lang="en" sz="100"/>
              <a:t>	Extract the triage category and rationale from the Deepseek response with improved</a:t>
            </a:r>
            <a:endParaRPr sz="100"/>
          </a:p>
          <a:p>
            <a:pPr indent="0" lvl="0" marL="0" rtl="0" algn="l">
              <a:lnSpc>
                <a:spcPct val="90000"/>
              </a:lnSpc>
              <a:spcBef>
                <a:spcPts val="0"/>
              </a:spcBef>
              <a:spcAft>
                <a:spcPts val="0"/>
              </a:spcAft>
              <a:buNone/>
            </a:pPr>
            <a:r>
              <a:rPr lang="en" sz="100"/>
              <a:t>	accuracy and handling of different response formats.</a:t>
            </a:r>
            <a:endParaRPr sz="100"/>
          </a:p>
          <a:p>
            <a:pPr indent="0" lvl="0" marL="0" rtl="0" algn="l">
              <a:lnSpc>
                <a:spcPct val="90000"/>
              </a:lnSpc>
              <a:spcBef>
                <a:spcPts val="0"/>
              </a:spcBef>
              <a:spcAft>
                <a:spcPts val="0"/>
              </a:spcAft>
              <a:buNone/>
            </a:pPr>
            <a:r>
              <a:rPr lang="en" sz="100"/>
              <a:t>	"""</a:t>
            </a:r>
            <a:endParaRPr sz="100"/>
          </a:p>
          <a:p>
            <a:pPr indent="0" lvl="0" marL="0" rtl="0" algn="l">
              <a:lnSpc>
                <a:spcPct val="90000"/>
              </a:lnSpc>
              <a:spcBef>
                <a:spcPts val="0"/>
              </a:spcBef>
              <a:spcAft>
                <a:spcPts val="0"/>
              </a:spcAft>
              <a:buNone/>
            </a:pPr>
            <a:r>
              <a:rPr lang="en" sz="100"/>
              <a:t>	import re</a:t>
            </a:r>
            <a:endParaRPr sz="100"/>
          </a:p>
          <a:p>
            <a:pPr indent="0" lvl="0" marL="0" rtl="0" algn="l">
              <a:lnSpc>
                <a:spcPct val="90000"/>
              </a:lnSpc>
              <a:spcBef>
                <a:spcPts val="0"/>
              </a:spcBef>
              <a:spcAft>
                <a:spcPts val="0"/>
              </a:spcAft>
              <a:buNone/>
            </a:pPr>
            <a:r>
              <a:rPr lang="en" sz="100"/>
              <a:t>    </a:t>
            </a:r>
            <a:endParaRPr sz="100"/>
          </a:p>
          <a:p>
            <a:pPr indent="0" lvl="0" marL="0" rtl="0" algn="l">
              <a:lnSpc>
                <a:spcPct val="90000"/>
              </a:lnSpc>
              <a:spcBef>
                <a:spcPts val="0"/>
              </a:spcBef>
              <a:spcAft>
                <a:spcPts val="0"/>
              </a:spcAft>
              <a:buNone/>
            </a:pPr>
            <a:r>
              <a:rPr lang="en" sz="100"/>
              <a:t>	# First, remove the thinking section if present</a:t>
            </a:r>
            <a:endParaRPr sz="100"/>
          </a:p>
          <a:p>
            <a:pPr indent="0" lvl="0" marL="0" rtl="0" algn="l">
              <a:lnSpc>
                <a:spcPct val="90000"/>
              </a:lnSpc>
              <a:spcBef>
                <a:spcPts val="0"/>
              </a:spcBef>
              <a:spcAft>
                <a:spcPts val="0"/>
              </a:spcAft>
              <a:buNone/>
            </a:pPr>
            <a:r>
              <a:rPr lang="en" sz="100"/>
              <a:t>	cleaned_response = deepseek_response</a:t>
            </a:r>
            <a:endParaRPr sz="100"/>
          </a:p>
          <a:p>
            <a:pPr indent="0" lvl="0" marL="0" rtl="0" algn="l">
              <a:lnSpc>
                <a:spcPct val="90000"/>
              </a:lnSpc>
              <a:spcBef>
                <a:spcPts val="0"/>
              </a:spcBef>
              <a:spcAft>
                <a:spcPts val="0"/>
              </a:spcAft>
              <a:buNone/>
            </a:pPr>
            <a:r>
              <a:rPr lang="en" sz="100"/>
              <a:t>	if "&lt;think&gt;" in deepseek_response and "&lt;/think&gt;" in deepseek_response:</a:t>
            </a:r>
            <a:endParaRPr sz="100"/>
          </a:p>
          <a:p>
            <a:pPr indent="0" lvl="0" marL="0" rtl="0" algn="l">
              <a:lnSpc>
                <a:spcPct val="90000"/>
              </a:lnSpc>
              <a:spcBef>
                <a:spcPts val="0"/>
              </a:spcBef>
              <a:spcAft>
                <a:spcPts val="0"/>
              </a:spcAft>
              <a:buNone/>
            </a:pPr>
            <a:r>
              <a:rPr lang="en" sz="100"/>
              <a:t>    	thinking_start = deepseek_response.find("&lt;think&gt;")</a:t>
            </a:r>
            <a:endParaRPr sz="100"/>
          </a:p>
          <a:p>
            <a:pPr indent="0" lvl="0" marL="0" rtl="0" algn="l">
              <a:lnSpc>
                <a:spcPct val="90000"/>
              </a:lnSpc>
              <a:spcBef>
                <a:spcPts val="0"/>
              </a:spcBef>
              <a:spcAft>
                <a:spcPts val="0"/>
              </a:spcAft>
              <a:buNone/>
            </a:pPr>
            <a:r>
              <a:rPr lang="en" sz="100"/>
              <a:t>    	thinking_end = deepseek_response.find("&lt;/think&gt;") + len("&lt;/think&gt;")</a:t>
            </a:r>
            <a:endParaRPr sz="100"/>
          </a:p>
          <a:p>
            <a:pPr indent="0" lvl="0" marL="0" rtl="0" algn="l">
              <a:lnSpc>
                <a:spcPct val="90000"/>
              </a:lnSpc>
              <a:spcBef>
                <a:spcPts val="0"/>
              </a:spcBef>
              <a:spcAft>
                <a:spcPts val="0"/>
              </a:spcAft>
              <a:buNone/>
            </a:pPr>
            <a:r>
              <a:rPr lang="en" sz="100"/>
              <a:t>    	cleaned_response = deepseek_response[:thinking_start] + deepseek_response[thinking_end:]</a:t>
            </a:r>
            <a:endParaRPr sz="100"/>
          </a:p>
          <a:p>
            <a:pPr indent="0" lvl="0" marL="0" rtl="0" algn="l">
              <a:lnSpc>
                <a:spcPct val="90000"/>
              </a:lnSpc>
              <a:spcBef>
                <a:spcPts val="0"/>
              </a:spcBef>
              <a:spcAft>
                <a:spcPts val="0"/>
              </a:spcAft>
              <a:buNone/>
            </a:pPr>
            <a:r>
              <a:t/>
            </a:r>
            <a:endParaRPr sz="100"/>
          </a:p>
          <a:p>
            <a:pPr indent="0" lvl="0" marL="0" rtl="0" algn="l">
              <a:lnSpc>
                <a:spcPct val="90000"/>
              </a:lnSpc>
              <a:spcBef>
                <a:spcPts val="0"/>
              </a:spcBef>
              <a:spcAft>
                <a:spcPts val="0"/>
              </a:spcAft>
              <a:buNone/>
            </a:pPr>
            <a:r>
              <a:rPr lang="en" sz="100"/>
              <a:t>	# Define triage categories in order of priority (from most urgent to least urgent)</a:t>
            </a:r>
            <a:endParaRPr sz="100"/>
          </a:p>
          <a:p>
            <a:pPr indent="0" lvl="0" marL="0" rtl="0" algn="l">
              <a:lnSpc>
                <a:spcPct val="90000"/>
              </a:lnSpc>
              <a:spcBef>
                <a:spcPts val="0"/>
              </a:spcBef>
              <a:spcAft>
                <a:spcPts val="0"/>
              </a:spcAft>
              <a:buNone/>
            </a:pPr>
            <a:r>
              <a:rPr lang="en" sz="100"/>
              <a:t>	# This order is important for avoiding substring matches</a:t>
            </a:r>
            <a:endParaRPr sz="100"/>
          </a:p>
          <a:p>
            <a:pPr indent="0" lvl="0" marL="0" rtl="0" algn="l">
              <a:lnSpc>
                <a:spcPct val="90000"/>
              </a:lnSpc>
              <a:spcBef>
                <a:spcPts val="0"/>
              </a:spcBef>
              <a:spcAft>
                <a:spcPts val="0"/>
              </a:spcAft>
              <a:buNone/>
            </a:pPr>
            <a:r>
              <a:rPr lang="en" sz="100"/>
              <a:t>	triage_categories = [</a:t>
            </a:r>
            <a:endParaRPr sz="100"/>
          </a:p>
          <a:p>
            <a:pPr indent="0" lvl="0" marL="0" rtl="0" algn="l">
              <a:lnSpc>
                <a:spcPct val="90000"/>
              </a:lnSpc>
              <a:spcBef>
                <a:spcPts val="0"/>
              </a:spcBef>
              <a:spcAft>
                <a:spcPts val="0"/>
              </a:spcAft>
              <a:buNone/>
            </a:pPr>
            <a:r>
              <a:rPr lang="en" sz="100"/>
              <a:t>    	"IMMEDIATE",</a:t>
            </a:r>
            <a:endParaRPr sz="100"/>
          </a:p>
          <a:p>
            <a:pPr indent="0" lvl="0" marL="0" rtl="0" algn="l">
              <a:lnSpc>
                <a:spcPct val="90000"/>
              </a:lnSpc>
              <a:spcBef>
                <a:spcPts val="0"/>
              </a:spcBef>
              <a:spcAft>
                <a:spcPts val="0"/>
              </a:spcAft>
              <a:buNone/>
            </a:pPr>
            <a:r>
              <a:rPr lang="en" sz="100"/>
              <a:t>    	"EMERGENT",</a:t>
            </a:r>
            <a:endParaRPr sz="100"/>
          </a:p>
          <a:p>
            <a:pPr indent="0" lvl="0" marL="0" rtl="0" algn="l">
              <a:lnSpc>
                <a:spcPct val="90000"/>
              </a:lnSpc>
              <a:spcBef>
                <a:spcPts val="0"/>
              </a:spcBef>
              <a:spcAft>
                <a:spcPts val="0"/>
              </a:spcAft>
              <a:buNone/>
            </a:pPr>
            <a:r>
              <a:rPr lang="en" sz="100"/>
              <a:t>    	"URGENT",</a:t>
            </a:r>
            <a:endParaRPr sz="100"/>
          </a:p>
          <a:p>
            <a:pPr indent="0" lvl="0" marL="0" rtl="0" algn="l">
              <a:lnSpc>
                <a:spcPct val="90000"/>
              </a:lnSpc>
              <a:spcBef>
                <a:spcPts val="0"/>
              </a:spcBef>
              <a:spcAft>
                <a:spcPts val="0"/>
              </a:spcAft>
              <a:buNone/>
            </a:pPr>
            <a:r>
              <a:rPr lang="en" sz="100"/>
              <a:t>    	"SEMI-URGENT",</a:t>
            </a:r>
            <a:endParaRPr sz="100"/>
          </a:p>
          <a:p>
            <a:pPr indent="0" lvl="0" marL="0" rtl="0" algn="l">
              <a:lnSpc>
                <a:spcPct val="90000"/>
              </a:lnSpc>
              <a:spcBef>
                <a:spcPts val="0"/>
              </a:spcBef>
              <a:spcAft>
                <a:spcPts val="0"/>
              </a:spcAft>
              <a:buNone/>
            </a:pPr>
            <a:r>
              <a:rPr lang="en" sz="100"/>
              <a:t>    	"NON-URGENT"</a:t>
            </a:r>
            <a:endParaRPr sz="100"/>
          </a:p>
          <a:p>
            <a:pPr indent="0" lvl="0" marL="0" rtl="0" algn="l">
              <a:lnSpc>
                <a:spcPct val="90000"/>
              </a:lnSpc>
              <a:spcBef>
                <a:spcPts val="0"/>
              </a:spcBef>
              <a:spcAft>
                <a:spcPts val="0"/>
              </a:spcAft>
              <a:buNone/>
            </a:pPr>
            <a:r>
              <a:rPr lang="en" sz="100"/>
              <a:t>	]</a:t>
            </a:r>
            <a:endParaRPr sz="100"/>
          </a:p>
          <a:p>
            <a:pPr indent="0" lvl="0" marL="0" rtl="0" algn="l">
              <a:lnSpc>
                <a:spcPct val="90000"/>
              </a:lnSpc>
              <a:spcBef>
                <a:spcPts val="0"/>
              </a:spcBef>
              <a:spcAft>
                <a:spcPts val="0"/>
              </a:spcAft>
              <a:buNone/>
            </a:pPr>
            <a:r>
              <a:rPr lang="en" sz="100"/>
              <a:t>    </a:t>
            </a:r>
            <a:endParaRPr sz="100"/>
          </a:p>
          <a:p>
            <a:pPr indent="0" lvl="0" marL="0" rtl="0" algn="l">
              <a:lnSpc>
                <a:spcPct val="90000"/>
              </a:lnSpc>
              <a:spcBef>
                <a:spcPts val="0"/>
              </a:spcBef>
              <a:spcAft>
                <a:spcPts val="0"/>
              </a:spcAft>
              <a:buNone/>
            </a:pPr>
            <a:r>
              <a:rPr lang="en" sz="100"/>
              <a:t>	# Define exact mappings with colors to avoid substring issues</a:t>
            </a:r>
            <a:endParaRPr sz="100"/>
          </a:p>
          <a:p>
            <a:pPr indent="0" lvl="0" marL="0" rtl="0" algn="l">
              <a:lnSpc>
                <a:spcPct val="90000"/>
              </a:lnSpc>
              <a:spcBef>
                <a:spcPts val="0"/>
              </a:spcBef>
              <a:spcAft>
                <a:spcPts val="0"/>
              </a:spcAft>
              <a:buNone/>
            </a:pPr>
            <a:r>
              <a:rPr lang="en" sz="100"/>
              <a:t>	triage_mapping = {</a:t>
            </a:r>
            <a:endParaRPr sz="100"/>
          </a:p>
          <a:p>
            <a:pPr indent="0" lvl="0" marL="0" rtl="0" algn="l">
              <a:lnSpc>
                <a:spcPct val="90000"/>
              </a:lnSpc>
              <a:spcBef>
                <a:spcPts val="0"/>
              </a:spcBef>
              <a:spcAft>
                <a:spcPts val="0"/>
              </a:spcAft>
              <a:buNone/>
            </a:pPr>
            <a:r>
              <a:rPr lang="en" sz="100"/>
              <a:t>    	"IMMEDIATE": ["RED", "RESUSCITATION"],</a:t>
            </a:r>
            <a:endParaRPr sz="100"/>
          </a:p>
          <a:p>
            <a:pPr indent="0" lvl="0" marL="0" rtl="0" algn="l">
              <a:lnSpc>
                <a:spcPct val="90000"/>
              </a:lnSpc>
              <a:spcBef>
                <a:spcPts val="0"/>
              </a:spcBef>
              <a:spcAft>
                <a:spcPts val="0"/>
              </a:spcAft>
              <a:buNone/>
            </a:pPr>
            <a:r>
              <a:rPr lang="en" sz="100"/>
              <a:t>    	"EMERGENT": ["ORANGE", "EMERGENCY"],</a:t>
            </a:r>
            <a:endParaRPr sz="100"/>
          </a:p>
          <a:p>
            <a:pPr indent="0" lvl="0" marL="0" rtl="0" algn="l">
              <a:lnSpc>
                <a:spcPct val="90000"/>
              </a:lnSpc>
              <a:spcBef>
                <a:spcPts val="0"/>
              </a:spcBef>
              <a:spcAft>
                <a:spcPts val="0"/>
              </a:spcAft>
              <a:buNone/>
            </a:pPr>
            <a:r>
              <a:rPr lang="en" sz="100"/>
              <a:t>    	"URGENT": ["YELLOW"],</a:t>
            </a:r>
            <a:endParaRPr sz="100"/>
          </a:p>
          <a:p>
            <a:pPr indent="0" lvl="0" marL="0" rtl="0" algn="l">
              <a:lnSpc>
                <a:spcPct val="90000"/>
              </a:lnSpc>
              <a:spcBef>
                <a:spcPts val="0"/>
              </a:spcBef>
              <a:spcAft>
                <a:spcPts val="0"/>
              </a:spcAft>
              <a:buNone/>
            </a:pPr>
            <a:r>
              <a:rPr lang="en" sz="100"/>
              <a:t>    	"SEMI-URGENT": ["GREEN"],</a:t>
            </a:r>
            <a:endParaRPr sz="100"/>
          </a:p>
          <a:p>
            <a:pPr indent="0" lvl="0" marL="0" rtl="0" algn="l">
              <a:lnSpc>
                <a:spcPct val="90000"/>
              </a:lnSpc>
              <a:spcBef>
                <a:spcPts val="0"/>
              </a:spcBef>
              <a:spcAft>
                <a:spcPts val="0"/>
              </a:spcAft>
              <a:buNone/>
            </a:pPr>
            <a:r>
              <a:rPr lang="en" sz="100"/>
              <a:t>    	"NON-URGENT": ["BLUE"]</a:t>
            </a:r>
            <a:endParaRPr sz="100"/>
          </a:p>
          <a:p>
            <a:pPr indent="0" lvl="0" marL="0" rtl="0" algn="l">
              <a:lnSpc>
                <a:spcPct val="90000"/>
              </a:lnSpc>
              <a:spcBef>
                <a:spcPts val="0"/>
              </a:spcBef>
              <a:spcAft>
                <a:spcPts val="0"/>
              </a:spcAft>
              <a:buNone/>
            </a:pPr>
            <a:r>
              <a:rPr lang="en" sz="100"/>
              <a:t>	}</a:t>
            </a:r>
            <a:endParaRPr sz="100"/>
          </a:p>
          <a:p>
            <a:pPr indent="0" lvl="0" marL="0" rtl="0" algn="l">
              <a:lnSpc>
                <a:spcPct val="90000"/>
              </a:lnSpc>
              <a:spcBef>
                <a:spcPts val="0"/>
              </a:spcBef>
              <a:spcAft>
                <a:spcPts val="0"/>
              </a:spcAft>
              <a:buNone/>
            </a:pPr>
            <a:r>
              <a:rPr lang="en" sz="100"/>
              <a:t>    </a:t>
            </a:r>
            <a:endParaRPr sz="100"/>
          </a:p>
          <a:p>
            <a:pPr indent="0" lvl="0" marL="0" rtl="0" algn="l">
              <a:lnSpc>
                <a:spcPct val="90000"/>
              </a:lnSpc>
              <a:spcBef>
                <a:spcPts val="0"/>
              </a:spcBef>
              <a:spcAft>
                <a:spcPts val="0"/>
              </a:spcAft>
              <a:buNone/>
            </a:pPr>
            <a:r>
              <a:rPr lang="en" sz="100"/>
              <a:t>	# Initialize result with default values</a:t>
            </a:r>
            <a:endParaRPr sz="100"/>
          </a:p>
          <a:p>
            <a:pPr indent="0" lvl="0" marL="0" rtl="0" algn="l">
              <a:lnSpc>
                <a:spcPct val="90000"/>
              </a:lnSpc>
              <a:spcBef>
                <a:spcPts val="0"/>
              </a:spcBef>
              <a:spcAft>
                <a:spcPts val="0"/>
              </a:spcAft>
              <a:buNone/>
            </a:pPr>
            <a:r>
              <a:rPr lang="en" sz="100"/>
              <a:t>	result = {</a:t>
            </a:r>
            <a:endParaRPr sz="100"/>
          </a:p>
          <a:p>
            <a:pPr indent="0" lvl="0" marL="0" rtl="0" algn="l">
              <a:lnSpc>
                <a:spcPct val="90000"/>
              </a:lnSpc>
              <a:spcBef>
                <a:spcPts val="0"/>
              </a:spcBef>
              <a:spcAft>
                <a:spcPts val="0"/>
              </a:spcAft>
              <a:buNone/>
            </a:pPr>
            <a:r>
              <a:rPr lang="en" sz="100"/>
              <a:t>    	"triage_category": "UNABLE TO DETERMINE",</a:t>
            </a:r>
            <a:endParaRPr sz="100"/>
          </a:p>
          <a:p>
            <a:pPr indent="0" lvl="0" marL="0" rtl="0" algn="l">
              <a:lnSpc>
                <a:spcPct val="90000"/>
              </a:lnSpc>
              <a:spcBef>
                <a:spcPts val="0"/>
              </a:spcBef>
              <a:spcAft>
                <a:spcPts val="0"/>
              </a:spcAft>
              <a:buNone/>
            </a:pPr>
            <a:r>
              <a:rPr lang="en" sz="100"/>
              <a:t>    	"full_response": cleaned_response,</a:t>
            </a:r>
            <a:endParaRPr sz="100"/>
          </a:p>
          <a:p>
            <a:pPr indent="0" lvl="0" marL="0" rtl="0" algn="l">
              <a:lnSpc>
                <a:spcPct val="90000"/>
              </a:lnSpc>
              <a:spcBef>
                <a:spcPts val="0"/>
              </a:spcBef>
              <a:spcAft>
                <a:spcPts val="0"/>
              </a:spcAft>
              <a:buNone/>
            </a:pPr>
            <a:r>
              <a:rPr lang="en" sz="100"/>
              <a:t>    	"rationale": None,</a:t>
            </a:r>
            <a:endParaRPr sz="100"/>
          </a:p>
          <a:p>
            <a:pPr indent="0" lvl="0" marL="0" rtl="0" algn="l">
              <a:lnSpc>
                <a:spcPct val="90000"/>
              </a:lnSpc>
              <a:spcBef>
                <a:spcPts val="0"/>
              </a:spcBef>
              <a:spcAft>
                <a:spcPts val="0"/>
              </a:spcAft>
              <a:buNone/>
            </a:pPr>
            <a:r>
              <a:rPr lang="en" sz="100"/>
              <a:t>    	"warning_signs": None,</a:t>
            </a:r>
            <a:endParaRPr sz="100"/>
          </a:p>
          <a:p>
            <a:pPr indent="0" lvl="0" marL="0" rtl="0" algn="l">
              <a:lnSpc>
                <a:spcPct val="90000"/>
              </a:lnSpc>
              <a:spcBef>
                <a:spcPts val="0"/>
              </a:spcBef>
              <a:spcAft>
                <a:spcPts val="0"/>
              </a:spcAft>
              <a:buNone/>
            </a:pPr>
            <a:r>
              <a:rPr lang="en" sz="100"/>
              <a:t>    	"next_steps": None</a:t>
            </a:r>
            <a:endParaRPr sz="100"/>
          </a:p>
          <a:p>
            <a:pPr indent="0" lvl="0" marL="0" rtl="0" algn="l">
              <a:lnSpc>
                <a:spcPct val="90000"/>
              </a:lnSpc>
              <a:spcBef>
                <a:spcPts val="0"/>
              </a:spcBef>
              <a:spcAft>
                <a:spcPts val="0"/>
              </a:spcAft>
              <a:buNone/>
            </a:pPr>
            <a:r>
              <a:rPr lang="en" sz="100"/>
              <a:t>	}</a:t>
            </a:r>
            <a:endParaRPr sz="100"/>
          </a:p>
          <a:p>
            <a:pPr indent="0" lvl="0" marL="0" rtl="0" algn="l">
              <a:lnSpc>
                <a:spcPct val="90000"/>
              </a:lnSpc>
              <a:spcBef>
                <a:spcPts val="0"/>
              </a:spcBef>
              <a:spcAft>
                <a:spcPts val="0"/>
              </a:spcAft>
              <a:buNone/>
            </a:pPr>
            <a:r>
              <a:rPr lang="en" sz="100"/>
              <a:t>    </a:t>
            </a:r>
            <a:endParaRPr sz="100"/>
          </a:p>
          <a:p>
            <a:pPr indent="0" lvl="0" marL="0" rtl="0" algn="l">
              <a:lnSpc>
                <a:spcPct val="90000"/>
              </a:lnSpc>
              <a:spcBef>
                <a:spcPts val="0"/>
              </a:spcBef>
              <a:spcAft>
                <a:spcPts val="0"/>
              </a:spcAft>
              <a:buNone/>
            </a:pPr>
            <a:r>
              <a:rPr lang="en" sz="100"/>
              <a:t>	# Method 1: Look for explicit category with label (highest priority)</a:t>
            </a:r>
            <a:endParaRPr sz="100"/>
          </a:p>
          <a:p>
            <a:pPr indent="0" lvl="0" marL="0" rtl="0" algn="l">
              <a:lnSpc>
                <a:spcPct val="90000"/>
              </a:lnSpc>
              <a:spcBef>
                <a:spcPts val="0"/>
              </a:spcBef>
              <a:spcAft>
                <a:spcPts val="0"/>
              </a:spcAft>
              <a:buNone/>
            </a:pPr>
            <a:r>
              <a:rPr lang="en" sz="100"/>
              <a:t>	triage_line = None</a:t>
            </a:r>
            <a:endParaRPr sz="100"/>
          </a:p>
          <a:p>
            <a:pPr indent="0" lvl="0" marL="0" rtl="0" algn="l">
              <a:lnSpc>
                <a:spcPct val="90000"/>
              </a:lnSpc>
              <a:spcBef>
                <a:spcPts val="0"/>
              </a:spcBef>
              <a:spcAft>
                <a:spcPts val="0"/>
              </a:spcAft>
              <a:buNone/>
            </a:pPr>
            <a:r>
              <a:rPr lang="en" sz="100"/>
              <a:t>	category_indicators = ["TRIAGE CATEGORY:", "TRIAGE CATEGORY :", "TRIAGE:", "TRIAGE LEVEL:"]</a:t>
            </a:r>
            <a:endParaRPr sz="100"/>
          </a:p>
          <a:p>
            <a:pPr indent="0" lvl="0" marL="0" rtl="0" algn="l">
              <a:lnSpc>
                <a:spcPct val="90000"/>
              </a:lnSpc>
              <a:spcBef>
                <a:spcPts val="0"/>
              </a:spcBef>
              <a:spcAft>
                <a:spcPts val="0"/>
              </a:spcAft>
              <a:buNone/>
            </a:pPr>
            <a:r>
              <a:rPr lang="en" sz="100"/>
              <a:t>    </a:t>
            </a:r>
            <a:endParaRPr sz="100"/>
          </a:p>
          <a:p>
            <a:pPr indent="0" lvl="0" marL="0" rtl="0" algn="l">
              <a:lnSpc>
                <a:spcPct val="90000"/>
              </a:lnSpc>
              <a:spcBef>
                <a:spcPts val="0"/>
              </a:spcBef>
              <a:spcAft>
                <a:spcPts val="0"/>
              </a:spcAft>
              <a:buNone/>
            </a:pPr>
            <a:r>
              <a:rPr lang="en" sz="100"/>
              <a:t>	for indicator in category_indicators:</a:t>
            </a:r>
            <a:endParaRPr sz="100"/>
          </a:p>
          <a:p>
            <a:pPr indent="0" lvl="0" marL="0" rtl="0" algn="l">
              <a:lnSpc>
                <a:spcPct val="90000"/>
              </a:lnSpc>
              <a:spcBef>
                <a:spcPts val="0"/>
              </a:spcBef>
              <a:spcAft>
                <a:spcPts val="0"/>
              </a:spcAft>
              <a:buNone/>
            </a:pPr>
            <a:r>
              <a:rPr lang="en" sz="100"/>
              <a:t>    	if indicator in cleaned_response.upper():</a:t>
            </a:r>
            <a:endParaRPr sz="100"/>
          </a:p>
          <a:p>
            <a:pPr indent="0" lvl="0" marL="0" rtl="0" algn="l">
              <a:lnSpc>
                <a:spcPct val="90000"/>
              </a:lnSpc>
              <a:spcBef>
                <a:spcPts val="0"/>
              </a:spcBef>
              <a:spcAft>
                <a:spcPts val="0"/>
              </a:spcAft>
              <a:buNone/>
            </a:pPr>
            <a:r>
              <a:rPr lang="en" sz="100"/>
              <a:t>        	triage_section = cleaned_response.upper().split(indicator)[1]</a:t>
            </a:r>
            <a:endParaRPr sz="100"/>
          </a:p>
          <a:p>
            <a:pPr indent="0" lvl="0" marL="0" rtl="0" algn="l">
              <a:lnSpc>
                <a:spcPct val="90000"/>
              </a:lnSpc>
              <a:spcBef>
                <a:spcPts val="0"/>
              </a:spcBef>
              <a:spcAft>
                <a:spcPts val="0"/>
              </a:spcAft>
              <a:buNone/>
            </a:pPr>
            <a:r>
              <a:rPr lang="en" sz="100"/>
              <a:t>        	# Get the line containing the category</a:t>
            </a:r>
            <a:endParaRPr sz="100"/>
          </a:p>
          <a:p>
            <a:pPr indent="0" lvl="0" marL="0" rtl="0" algn="l">
              <a:lnSpc>
                <a:spcPct val="90000"/>
              </a:lnSpc>
              <a:spcBef>
                <a:spcPts val="0"/>
              </a:spcBef>
              <a:spcAft>
                <a:spcPts val="0"/>
              </a:spcAft>
              <a:buNone/>
            </a:pPr>
            <a:r>
              <a:rPr lang="en" sz="100"/>
              <a:t>        	triage_line = triage_section.split("\n")[0].strip()</a:t>
            </a:r>
            <a:endParaRPr sz="100"/>
          </a:p>
          <a:p>
            <a:pPr indent="0" lvl="0" marL="0" rtl="0" algn="l">
              <a:lnSpc>
                <a:spcPct val="90000"/>
              </a:lnSpc>
              <a:spcBef>
                <a:spcPts val="0"/>
              </a:spcBef>
              <a:spcAft>
                <a:spcPts val="0"/>
              </a:spcAft>
              <a:buNone/>
            </a:pPr>
            <a:r>
              <a:rPr lang="en" sz="100"/>
              <a:t>        	break</a:t>
            </a:r>
            <a:endParaRPr sz="100"/>
          </a:p>
          <a:p>
            <a:pPr indent="0" lvl="0" marL="0" rtl="0" algn="l">
              <a:lnSpc>
                <a:spcPct val="90000"/>
              </a:lnSpc>
              <a:spcBef>
                <a:spcPts val="0"/>
              </a:spcBef>
              <a:spcAft>
                <a:spcPts val="0"/>
              </a:spcAft>
              <a:buNone/>
            </a:pPr>
            <a:r>
              <a:rPr lang="en" sz="100"/>
              <a:t>    </a:t>
            </a:r>
            <a:endParaRPr sz="100"/>
          </a:p>
          <a:p>
            <a:pPr indent="0" lvl="0" marL="0" rtl="0" algn="l">
              <a:lnSpc>
                <a:spcPct val="90000"/>
              </a:lnSpc>
              <a:spcBef>
                <a:spcPts val="0"/>
              </a:spcBef>
              <a:spcAft>
                <a:spcPts val="0"/>
              </a:spcAft>
              <a:buNone/>
            </a:pPr>
            <a:r>
              <a:rPr lang="en" sz="100"/>
              <a:t>	# If we found a triage line, try to extract the category from it</a:t>
            </a:r>
            <a:endParaRPr sz="100"/>
          </a:p>
          <a:p>
            <a:pPr indent="0" lvl="0" marL="0" rtl="0" algn="l">
              <a:lnSpc>
                <a:spcPct val="90000"/>
              </a:lnSpc>
              <a:spcBef>
                <a:spcPts val="0"/>
              </a:spcBef>
              <a:spcAft>
                <a:spcPts val="0"/>
              </a:spcAft>
              <a:buNone/>
            </a:pPr>
            <a:r>
              <a:rPr lang="en" sz="100"/>
              <a:t>	if triage_line:</a:t>
            </a:r>
            <a:endParaRPr sz="100"/>
          </a:p>
          <a:p>
            <a:pPr indent="0" lvl="0" marL="0" rtl="0" algn="l">
              <a:lnSpc>
                <a:spcPct val="90000"/>
              </a:lnSpc>
              <a:spcBef>
                <a:spcPts val="0"/>
              </a:spcBef>
              <a:spcAft>
                <a:spcPts val="0"/>
              </a:spcAft>
              <a:buNone/>
            </a:pPr>
            <a:r>
              <a:rPr lang="en" sz="100"/>
              <a:t>    	# Try to find exact matches for categories (to avoid "URGENT" inside "NON-URGENT")</a:t>
            </a:r>
            <a:endParaRPr sz="100"/>
          </a:p>
          <a:p>
            <a:pPr indent="0" lvl="0" marL="0" rtl="0" algn="l">
              <a:lnSpc>
                <a:spcPct val="90000"/>
              </a:lnSpc>
              <a:spcBef>
                <a:spcPts val="0"/>
              </a:spcBef>
              <a:spcAft>
                <a:spcPts val="0"/>
              </a:spcAft>
              <a:buNone/>
            </a:pPr>
            <a:r>
              <a:rPr lang="en" sz="100"/>
              <a:t>    	# Start with longer category names first to avoid partial matches</a:t>
            </a:r>
            <a:endParaRPr sz="100"/>
          </a:p>
          <a:p>
            <a:pPr indent="0" lvl="0" marL="0" rtl="0" algn="l">
              <a:lnSpc>
                <a:spcPct val="90000"/>
              </a:lnSpc>
              <a:spcBef>
                <a:spcPts val="0"/>
              </a:spcBef>
              <a:spcAft>
                <a:spcPts val="0"/>
              </a:spcAft>
              <a:buNone/>
            </a:pPr>
            <a:r>
              <a:rPr lang="en" sz="100"/>
              <a:t>    	for category in sorted(triage_categories, key=len, reverse=True):</a:t>
            </a:r>
            <a:endParaRPr sz="100"/>
          </a:p>
          <a:p>
            <a:pPr indent="0" lvl="0" marL="0" rtl="0" algn="l">
              <a:lnSpc>
                <a:spcPct val="90000"/>
              </a:lnSpc>
              <a:spcBef>
                <a:spcPts val="0"/>
              </a:spcBef>
              <a:spcAft>
                <a:spcPts val="0"/>
              </a:spcAft>
              <a:buNone/>
            </a:pPr>
            <a:r>
              <a:rPr lang="en" sz="100"/>
              <a:t>        	# Look for the category with word boundaries</a:t>
            </a:r>
            <a:endParaRPr sz="100"/>
          </a:p>
          <a:p>
            <a:pPr indent="0" lvl="0" marL="0" rtl="0" algn="l">
              <a:lnSpc>
                <a:spcPct val="90000"/>
              </a:lnSpc>
              <a:spcBef>
                <a:spcPts val="0"/>
              </a:spcBef>
              <a:spcAft>
                <a:spcPts val="0"/>
              </a:spcAft>
              <a:buNone/>
            </a:pPr>
            <a:r>
              <a:rPr lang="en" sz="100"/>
              <a:t>        	pattern = r'\b' + re.escape(category) + r'\b'</a:t>
            </a:r>
            <a:endParaRPr sz="100"/>
          </a:p>
          <a:p>
            <a:pPr indent="0" lvl="0" marL="0" rtl="0" algn="l">
              <a:lnSpc>
                <a:spcPct val="90000"/>
              </a:lnSpc>
              <a:spcBef>
                <a:spcPts val="0"/>
              </a:spcBef>
              <a:spcAft>
                <a:spcPts val="0"/>
              </a:spcAft>
              <a:buNone/>
            </a:pPr>
            <a:r>
              <a:rPr lang="en" sz="100"/>
              <a:t>        	if re.search(pattern, triage_line):</a:t>
            </a:r>
            <a:endParaRPr sz="100"/>
          </a:p>
          <a:p>
            <a:pPr indent="0" lvl="0" marL="0" rtl="0" algn="l">
              <a:lnSpc>
                <a:spcPct val="90000"/>
              </a:lnSpc>
              <a:spcBef>
                <a:spcPts val="0"/>
              </a:spcBef>
              <a:spcAft>
                <a:spcPts val="0"/>
              </a:spcAft>
              <a:buNone/>
            </a:pPr>
            <a:r>
              <a:rPr lang="en" sz="100"/>
              <a:t>            	result["triage_category"] = category</a:t>
            </a:r>
            <a:endParaRPr sz="100"/>
          </a:p>
          <a:p>
            <a:pPr indent="0" lvl="0" marL="0" rtl="0" algn="l">
              <a:lnSpc>
                <a:spcPct val="90000"/>
              </a:lnSpc>
              <a:spcBef>
                <a:spcPts val="0"/>
              </a:spcBef>
              <a:spcAft>
                <a:spcPts val="0"/>
              </a:spcAft>
              <a:buNone/>
            </a:pPr>
            <a:r>
              <a:rPr lang="en" sz="100"/>
              <a:t>            	break</a:t>
            </a:r>
            <a:endParaRPr sz="100"/>
          </a:p>
          <a:p>
            <a:pPr indent="0" lvl="0" marL="0" rtl="0" algn="l">
              <a:lnSpc>
                <a:spcPct val="90000"/>
              </a:lnSpc>
              <a:spcBef>
                <a:spcPts val="0"/>
              </a:spcBef>
              <a:spcAft>
                <a:spcPts val="0"/>
              </a:spcAft>
              <a:buNone/>
            </a:pPr>
            <a:r>
              <a:rPr lang="en" sz="100"/>
              <a:t>   	 </a:t>
            </a:r>
            <a:endParaRPr sz="100"/>
          </a:p>
          <a:p>
            <a:pPr indent="0" lvl="0" marL="0" rtl="0" algn="l">
              <a:lnSpc>
                <a:spcPct val="90000"/>
              </a:lnSpc>
              <a:spcBef>
                <a:spcPts val="0"/>
              </a:spcBef>
              <a:spcAft>
                <a:spcPts val="0"/>
              </a:spcAft>
              <a:buNone/>
            </a:pPr>
            <a:r>
              <a:rPr lang="en" sz="100"/>
              <a:t>    	# If no category found, look for the associated colors</a:t>
            </a:r>
            <a:endParaRPr sz="100"/>
          </a:p>
          <a:p>
            <a:pPr indent="0" lvl="0" marL="0" rtl="0" algn="l">
              <a:lnSpc>
                <a:spcPct val="90000"/>
              </a:lnSpc>
              <a:spcBef>
                <a:spcPts val="0"/>
              </a:spcBef>
              <a:spcAft>
                <a:spcPts val="0"/>
              </a:spcAft>
              <a:buNone/>
            </a:pPr>
            <a:r>
              <a:rPr lang="en" sz="100"/>
              <a:t>    	if result["triage_category"] == "UNABLE TO DETERMINE":</a:t>
            </a:r>
            <a:endParaRPr sz="100"/>
          </a:p>
          <a:p>
            <a:pPr indent="0" lvl="0" marL="0" rtl="0" algn="l">
              <a:lnSpc>
                <a:spcPct val="90000"/>
              </a:lnSpc>
              <a:spcBef>
                <a:spcPts val="0"/>
              </a:spcBef>
              <a:spcAft>
                <a:spcPts val="0"/>
              </a:spcAft>
              <a:buNone/>
            </a:pPr>
            <a:r>
              <a:rPr lang="en" sz="100"/>
              <a:t>        	for category, synonyms in triage_mapping.items():</a:t>
            </a:r>
            <a:endParaRPr sz="100"/>
          </a:p>
          <a:p>
            <a:pPr indent="0" lvl="0" marL="0" rtl="0" algn="l">
              <a:lnSpc>
                <a:spcPct val="90000"/>
              </a:lnSpc>
              <a:spcBef>
                <a:spcPts val="0"/>
              </a:spcBef>
              <a:spcAft>
                <a:spcPts val="0"/>
              </a:spcAft>
              <a:buNone/>
            </a:pPr>
            <a:r>
              <a:rPr lang="en" sz="100"/>
              <a:t>            	for synonym in synonyms:</a:t>
            </a:r>
            <a:endParaRPr sz="100"/>
          </a:p>
          <a:p>
            <a:pPr indent="0" lvl="0" marL="0" rtl="0" algn="l">
              <a:lnSpc>
                <a:spcPct val="90000"/>
              </a:lnSpc>
              <a:spcBef>
                <a:spcPts val="0"/>
              </a:spcBef>
              <a:spcAft>
                <a:spcPts val="0"/>
              </a:spcAft>
              <a:buNone/>
            </a:pPr>
            <a:r>
              <a:rPr lang="en" sz="100"/>
              <a:t>                	pattern = r'\b' + re.escape(synonym) + r'\b'</a:t>
            </a:r>
            <a:endParaRPr sz="100"/>
          </a:p>
          <a:p>
            <a:pPr indent="0" lvl="0" marL="0" rtl="0" algn="l">
              <a:lnSpc>
                <a:spcPct val="90000"/>
              </a:lnSpc>
              <a:spcBef>
                <a:spcPts val="0"/>
              </a:spcBef>
              <a:spcAft>
                <a:spcPts val="0"/>
              </a:spcAft>
              <a:buNone/>
            </a:pPr>
            <a:r>
              <a:rPr lang="en" sz="100"/>
              <a:t>                	if re.search(pattern, triage_line):</a:t>
            </a:r>
            <a:endParaRPr sz="100"/>
          </a:p>
          <a:p>
            <a:pPr indent="0" lvl="0" marL="0" rtl="0" algn="l">
              <a:lnSpc>
                <a:spcPct val="90000"/>
              </a:lnSpc>
              <a:spcBef>
                <a:spcPts val="0"/>
              </a:spcBef>
              <a:spcAft>
                <a:spcPts val="0"/>
              </a:spcAft>
              <a:buNone/>
            </a:pPr>
            <a:r>
              <a:rPr lang="en" sz="100"/>
              <a:t>                    	result["triage_category"] = category</a:t>
            </a:r>
            <a:endParaRPr sz="100"/>
          </a:p>
          <a:p>
            <a:pPr indent="0" lvl="0" marL="0" rtl="0" algn="l">
              <a:lnSpc>
                <a:spcPct val="90000"/>
              </a:lnSpc>
              <a:spcBef>
                <a:spcPts val="0"/>
              </a:spcBef>
              <a:spcAft>
                <a:spcPts val="0"/>
              </a:spcAft>
              <a:buNone/>
            </a:pPr>
            <a:r>
              <a:rPr lang="en" sz="100"/>
              <a:t>                    	break</a:t>
            </a:r>
            <a:endParaRPr sz="100"/>
          </a:p>
          <a:p>
            <a:pPr indent="0" lvl="0" marL="0" rtl="0" algn="l">
              <a:lnSpc>
                <a:spcPct val="90000"/>
              </a:lnSpc>
              <a:spcBef>
                <a:spcPts val="0"/>
              </a:spcBef>
              <a:spcAft>
                <a:spcPts val="0"/>
              </a:spcAft>
              <a:buNone/>
            </a:pPr>
            <a:r>
              <a:rPr lang="en" sz="100"/>
              <a:t>            	if result["triage_category"] != "UNABLE TO DETERMINE":</a:t>
            </a:r>
            <a:endParaRPr sz="100"/>
          </a:p>
          <a:p>
            <a:pPr indent="0" lvl="0" marL="0" rtl="0" algn="l">
              <a:lnSpc>
                <a:spcPct val="90000"/>
              </a:lnSpc>
              <a:spcBef>
                <a:spcPts val="0"/>
              </a:spcBef>
              <a:spcAft>
                <a:spcPts val="0"/>
              </a:spcAft>
              <a:buNone/>
            </a:pPr>
            <a:r>
              <a:rPr lang="en" sz="100"/>
              <a:t>                	break</a:t>
            </a:r>
            <a:endParaRPr sz="100"/>
          </a:p>
          <a:p>
            <a:pPr indent="0" lvl="0" marL="0" rtl="0" algn="l">
              <a:lnSpc>
                <a:spcPct val="90000"/>
              </a:lnSpc>
              <a:spcBef>
                <a:spcPts val="0"/>
              </a:spcBef>
              <a:spcAft>
                <a:spcPts val="0"/>
              </a:spcAft>
              <a:buNone/>
            </a:pPr>
            <a:r>
              <a:rPr lang="en" sz="100"/>
              <a:t>    </a:t>
            </a:r>
            <a:endParaRPr sz="100"/>
          </a:p>
          <a:p>
            <a:pPr indent="0" lvl="0" marL="0" rtl="0" algn="l">
              <a:lnSpc>
                <a:spcPct val="90000"/>
              </a:lnSpc>
              <a:spcBef>
                <a:spcPts val="0"/>
              </a:spcBef>
              <a:spcAft>
                <a:spcPts val="0"/>
              </a:spcAft>
              <a:buNone/>
            </a:pPr>
            <a:r>
              <a:rPr lang="en" sz="100"/>
              <a:t>	# Method 2: Look for categories explicitly mentioned throughout the text</a:t>
            </a:r>
            <a:endParaRPr sz="100"/>
          </a:p>
          <a:p>
            <a:pPr indent="0" lvl="0" marL="0" rtl="0" algn="l">
              <a:lnSpc>
                <a:spcPct val="90000"/>
              </a:lnSpc>
              <a:spcBef>
                <a:spcPts val="0"/>
              </a:spcBef>
              <a:spcAft>
                <a:spcPts val="0"/>
              </a:spcAft>
              <a:buNone/>
            </a:pPr>
            <a:r>
              <a:rPr lang="en" sz="100"/>
              <a:t>	# Only use this method if we couldn't find it with the first method</a:t>
            </a:r>
            <a:endParaRPr sz="100"/>
          </a:p>
          <a:p>
            <a:pPr indent="0" lvl="0" marL="0" rtl="0" algn="l">
              <a:lnSpc>
                <a:spcPct val="90000"/>
              </a:lnSpc>
              <a:spcBef>
                <a:spcPts val="0"/>
              </a:spcBef>
              <a:spcAft>
                <a:spcPts val="0"/>
              </a:spcAft>
              <a:buNone/>
            </a:pPr>
            <a:r>
              <a:rPr lang="en" sz="100"/>
              <a:t>	if result["triage_category"] == "UNABLE TO DETERMINE":</a:t>
            </a:r>
            <a:endParaRPr sz="100"/>
          </a:p>
          <a:p>
            <a:pPr indent="0" lvl="0" marL="0" rtl="0" algn="l">
              <a:lnSpc>
                <a:spcPct val="90000"/>
              </a:lnSpc>
              <a:spcBef>
                <a:spcPts val="0"/>
              </a:spcBef>
              <a:spcAft>
                <a:spcPts val="0"/>
              </a:spcAft>
              <a:buNone/>
            </a:pPr>
            <a:r>
              <a:rPr lang="en" sz="100"/>
              <a:t>    	# Must search in exact order to avoid substring matches</a:t>
            </a:r>
            <a:endParaRPr sz="100"/>
          </a:p>
          <a:p>
            <a:pPr indent="0" lvl="0" marL="0" rtl="0" algn="l">
              <a:lnSpc>
                <a:spcPct val="90000"/>
              </a:lnSpc>
              <a:spcBef>
                <a:spcPts val="0"/>
              </a:spcBef>
              <a:spcAft>
                <a:spcPts val="0"/>
              </a:spcAft>
              <a:buNone/>
            </a:pPr>
            <a:r>
              <a:rPr lang="en" sz="100"/>
              <a:t>    	# Start with the longer category names first</a:t>
            </a:r>
            <a:endParaRPr sz="100"/>
          </a:p>
          <a:p>
            <a:pPr indent="0" lvl="0" marL="0" rtl="0" algn="l">
              <a:lnSpc>
                <a:spcPct val="90000"/>
              </a:lnSpc>
              <a:spcBef>
                <a:spcPts val="0"/>
              </a:spcBef>
              <a:spcAft>
                <a:spcPts val="0"/>
              </a:spcAft>
              <a:buNone/>
            </a:pPr>
            <a:r>
              <a:rPr lang="en" sz="100"/>
              <a:t>    	for category in sorted(triage_categories, key=len, reverse=True):</a:t>
            </a:r>
            <a:endParaRPr sz="100"/>
          </a:p>
          <a:p>
            <a:pPr indent="0" lvl="0" marL="0" rtl="0" algn="l">
              <a:lnSpc>
                <a:spcPct val="90000"/>
              </a:lnSpc>
              <a:spcBef>
                <a:spcPts val="0"/>
              </a:spcBef>
              <a:spcAft>
                <a:spcPts val="0"/>
              </a:spcAft>
              <a:buNone/>
            </a:pPr>
            <a:r>
              <a:rPr lang="en" sz="100"/>
              <a:t>        	# First check for exact matches with word boundaries</a:t>
            </a:r>
            <a:endParaRPr sz="100"/>
          </a:p>
          <a:p>
            <a:pPr indent="0" lvl="0" marL="0" rtl="0" algn="l">
              <a:lnSpc>
                <a:spcPct val="90000"/>
              </a:lnSpc>
              <a:spcBef>
                <a:spcPts val="0"/>
              </a:spcBef>
              <a:spcAft>
                <a:spcPts val="0"/>
              </a:spcAft>
              <a:buNone/>
            </a:pPr>
            <a:r>
              <a:rPr lang="en" sz="100"/>
              <a:t>        	pattern = r'\b' + re.escape(category) + r'\b'</a:t>
            </a:r>
            <a:endParaRPr sz="100"/>
          </a:p>
          <a:p>
            <a:pPr indent="0" lvl="0" marL="0" rtl="0" algn="l">
              <a:lnSpc>
                <a:spcPct val="90000"/>
              </a:lnSpc>
              <a:spcBef>
                <a:spcPts val="0"/>
              </a:spcBef>
              <a:spcAft>
                <a:spcPts val="0"/>
              </a:spcAft>
              <a:buNone/>
            </a:pPr>
            <a:r>
              <a:rPr lang="en" sz="100"/>
              <a:t>        	if re.search(pattern, cleaned_response.upper()):</a:t>
            </a:r>
            <a:endParaRPr sz="100"/>
          </a:p>
          <a:p>
            <a:pPr indent="0" lvl="0" marL="0" rtl="0" algn="l">
              <a:lnSpc>
                <a:spcPct val="90000"/>
              </a:lnSpc>
              <a:spcBef>
                <a:spcPts val="0"/>
              </a:spcBef>
              <a:spcAft>
                <a:spcPts val="0"/>
              </a:spcAft>
              <a:buNone/>
            </a:pPr>
            <a:r>
              <a:rPr lang="en" sz="100"/>
              <a:t>            	result["triage_category"] = category</a:t>
            </a:r>
            <a:endParaRPr sz="100"/>
          </a:p>
          <a:p>
            <a:pPr indent="0" lvl="0" marL="0" rtl="0" algn="l">
              <a:lnSpc>
                <a:spcPct val="90000"/>
              </a:lnSpc>
              <a:spcBef>
                <a:spcPts val="0"/>
              </a:spcBef>
              <a:spcAft>
                <a:spcPts val="0"/>
              </a:spcAft>
              <a:buNone/>
            </a:pPr>
            <a:r>
              <a:rPr lang="en" sz="100"/>
              <a:t>            	break</a:t>
            </a:r>
            <a:endParaRPr sz="100"/>
          </a:p>
          <a:p>
            <a:pPr indent="0" lvl="0" marL="0" rtl="0" algn="l">
              <a:lnSpc>
                <a:spcPct val="90000"/>
              </a:lnSpc>
              <a:spcBef>
                <a:spcPts val="0"/>
              </a:spcBef>
              <a:spcAft>
                <a:spcPts val="0"/>
              </a:spcAft>
              <a:buNone/>
            </a:pPr>
            <a:r>
              <a:rPr lang="en" sz="100"/>
              <a:t>   	 </a:t>
            </a:r>
            <a:endParaRPr sz="100"/>
          </a:p>
          <a:p>
            <a:pPr indent="0" lvl="0" marL="0" rtl="0" algn="l">
              <a:lnSpc>
                <a:spcPct val="90000"/>
              </a:lnSpc>
              <a:spcBef>
                <a:spcPts val="0"/>
              </a:spcBef>
              <a:spcAft>
                <a:spcPts val="0"/>
              </a:spcAft>
              <a:buNone/>
            </a:pPr>
            <a:r>
              <a:rPr lang="en" sz="100"/>
              <a:t>    	# If still not found, try colors with exact matching</a:t>
            </a:r>
            <a:endParaRPr sz="100"/>
          </a:p>
          <a:p>
            <a:pPr indent="0" lvl="0" marL="0" rtl="0" algn="l">
              <a:lnSpc>
                <a:spcPct val="90000"/>
              </a:lnSpc>
              <a:spcBef>
                <a:spcPts val="0"/>
              </a:spcBef>
              <a:spcAft>
                <a:spcPts val="0"/>
              </a:spcAft>
              <a:buNone/>
            </a:pPr>
            <a:r>
              <a:rPr lang="en" sz="100"/>
              <a:t>    	if result["triage_category"] == "UNABLE TO DETERMINE":</a:t>
            </a:r>
            <a:endParaRPr sz="100"/>
          </a:p>
          <a:p>
            <a:pPr indent="0" lvl="0" marL="0" rtl="0" algn="l">
              <a:lnSpc>
                <a:spcPct val="90000"/>
              </a:lnSpc>
              <a:spcBef>
                <a:spcPts val="0"/>
              </a:spcBef>
              <a:spcAft>
                <a:spcPts val="0"/>
              </a:spcAft>
              <a:buNone/>
            </a:pPr>
            <a:r>
              <a:rPr lang="en" sz="100"/>
              <a:t>        	for category, synonyms in triage_mapping.items():</a:t>
            </a:r>
            <a:endParaRPr sz="100"/>
          </a:p>
          <a:p>
            <a:pPr indent="0" lvl="0" marL="0" rtl="0" algn="l">
              <a:lnSpc>
                <a:spcPct val="90000"/>
              </a:lnSpc>
              <a:spcBef>
                <a:spcPts val="0"/>
              </a:spcBef>
              <a:spcAft>
                <a:spcPts val="0"/>
              </a:spcAft>
              <a:buNone/>
            </a:pPr>
            <a:r>
              <a:rPr lang="en" sz="100"/>
              <a:t>            	for synonym in synonyms:</a:t>
            </a:r>
            <a:endParaRPr sz="100"/>
          </a:p>
          <a:p>
            <a:pPr indent="0" lvl="0" marL="0" rtl="0" algn="l">
              <a:lnSpc>
                <a:spcPct val="90000"/>
              </a:lnSpc>
              <a:spcBef>
                <a:spcPts val="0"/>
              </a:spcBef>
              <a:spcAft>
                <a:spcPts val="0"/>
              </a:spcAft>
              <a:buNone/>
            </a:pPr>
            <a:r>
              <a:rPr lang="en" sz="100"/>
              <a:t>                	pattern = r'\b' + re.escape(synonym) + r'\b'</a:t>
            </a:r>
            <a:endParaRPr sz="100"/>
          </a:p>
          <a:p>
            <a:pPr indent="0" lvl="0" marL="0" rtl="0" algn="l">
              <a:lnSpc>
                <a:spcPct val="90000"/>
              </a:lnSpc>
              <a:spcBef>
                <a:spcPts val="0"/>
              </a:spcBef>
              <a:spcAft>
                <a:spcPts val="0"/>
              </a:spcAft>
              <a:buNone/>
            </a:pPr>
            <a:r>
              <a:rPr lang="en" sz="100"/>
              <a:t>                	if re.search(pattern, cleaned_response.upper()):</a:t>
            </a:r>
            <a:endParaRPr sz="100"/>
          </a:p>
          <a:p>
            <a:pPr indent="0" lvl="0" marL="0" rtl="0" algn="l">
              <a:lnSpc>
                <a:spcPct val="90000"/>
              </a:lnSpc>
              <a:spcBef>
                <a:spcPts val="0"/>
              </a:spcBef>
              <a:spcAft>
                <a:spcPts val="0"/>
              </a:spcAft>
              <a:buNone/>
            </a:pPr>
            <a:r>
              <a:rPr lang="en" sz="100"/>
              <a:t>                    	result["triage_category"] = category</a:t>
            </a:r>
            <a:endParaRPr sz="100"/>
          </a:p>
          <a:p>
            <a:pPr indent="0" lvl="0" marL="0" rtl="0" algn="l">
              <a:lnSpc>
                <a:spcPct val="90000"/>
              </a:lnSpc>
              <a:spcBef>
                <a:spcPts val="0"/>
              </a:spcBef>
              <a:spcAft>
                <a:spcPts val="0"/>
              </a:spcAft>
              <a:buNone/>
            </a:pPr>
            <a:r>
              <a:rPr lang="en" sz="100"/>
              <a:t>                    	break</a:t>
            </a:r>
            <a:endParaRPr sz="100"/>
          </a:p>
          <a:p>
            <a:pPr indent="0" lvl="0" marL="0" rtl="0" algn="l">
              <a:lnSpc>
                <a:spcPct val="90000"/>
              </a:lnSpc>
              <a:spcBef>
                <a:spcPts val="0"/>
              </a:spcBef>
              <a:spcAft>
                <a:spcPts val="0"/>
              </a:spcAft>
              <a:buNone/>
            </a:pPr>
            <a:r>
              <a:rPr lang="en" sz="100"/>
              <a:t>            	if result["triage_category"] != "UNABLE TO DETERMINE":</a:t>
            </a:r>
            <a:endParaRPr sz="100"/>
          </a:p>
          <a:p>
            <a:pPr indent="0" lvl="0" marL="0" rtl="0" algn="l">
              <a:lnSpc>
                <a:spcPct val="90000"/>
              </a:lnSpc>
              <a:spcBef>
                <a:spcPts val="0"/>
              </a:spcBef>
              <a:spcAft>
                <a:spcPts val="0"/>
              </a:spcAft>
              <a:buNone/>
            </a:pPr>
            <a:r>
              <a:rPr lang="en" sz="100"/>
              <a:t>                	break</a:t>
            </a:r>
            <a:endParaRPr sz="100"/>
          </a:p>
          <a:p>
            <a:pPr indent="0" lvl="0" marL="0" rtl="0" algn="l">
              <a:lnSpc>
                <a:spcPct val="90000"/>
              </a:lnSpc>
              <a:spcBef>
                <a:spcPts val="0"/>
              </a:spcBef>
              <a:spcAft>
                <a:spcPts val="0"/>
              </a:spcAft>
              <a:buNone/>
            </a:pPr>
            <a:r>
              <a:rPr lang="en" sz="100"/>
              <a:t>    </a:t>
            </a:r>
            <a:endParaRPr sz="100"/>
          </a:p>
          <a:p>
            <a:pPr indent="0" lvl="0" marL="0" rtl="0" algn="l">
              <a:lnSpc>
                <a:spcPct val="90000"/>
              </a:lnSpc>
              <a:spcBef>
                <a:spcPts val="0"/>
              </a:spcBef>
              <a:spcAft>
                <a:spcPts val="0"/>
              </a:spcAft>
              <a:buNone/>
            </a:pPr>
            <a:r>
              <a:rPr lang="en" sz="100"/>
              <a:t>	# Extract rationale</a:t>
            </a:r>
            <a:endParaRPr sz="100"/>
          </a:p>
          <a:p>
            <a:pPr indent="0" lvl="0" marL="0" rtl="0" algn="l">
              <a:lnSpc>
                <a:spcPct val="90000"/>
              </a:lnSpc>
              <a:spcBef>
                <a:spcPts val="0"/>
              </a:spcBef>
              <a:spcAft>
                <a:spcPts val="0"/>
              </a:spcAft>
              <a:buNone/>
            </a:pPr>
            <a:r>
              <a:rPr lang="en" sz="100"/>
              <a:t>	rationale_indicators = ["RATIONALE:", "REASONING:", "REASON:"]</a:t>
            </a:r>
            <a:endParaRPr sz="100"/>
          </a:p>
          <a:p>
            <a:pPr indent="0" lvl="0" marL="0" rtl="0" algn="l">
              <a:lnSpc>
                <a:spcPct val="90000"/>
              </a:lnSpc>
              <a:spcBef>
                <a:spcPts val="0"/>
              </a:spcBef>
              <a:spcAft>
                <a:spcPts val="0"/>
              </a:spcAft>
              <a:buNone/>
            </a:pPr>
            <a:r>
              <a:rPr lang="en" sz="100"/>
              <a:t>	for indicator in rationale_indicators:</a:t>
            </a:r>
            <a:endParaRPr sz="100"/>
          </a:p>
          <a:p>
            <a:pPr indent="0" lvl="0" marL="0" rtl="0" algn="l">
              <a:lnSpc>
                <a:spcPct val="90000"/>
              </a:lnSpc>
              <a:spcBef>
                <a:spcPts val="0"/>
              </a:spcBef>
              <a:spcAft>
                <a:spcPts val="0"/>
              </a:spcAft>
              <a:buNone/>
            </a:pPr>
            <a:r>
              <a:rPr lang="en" sz="100"/>
              <a:t>    	if indicator in cleaned_response.upper():</a:t>
            </a:r>
            <a:endParaRPr sz="100"/>
          </a:p>
          <a:p>
            <a:pPr indent="0" lvl="0" marL="0" rtl="0" algn="l">
              <a:lnSpc>
                <a:spcPct val="90000"/>
              </a:lnSpc>
              <a:spcBef>
                <a:spcPts val="0"/>
              </a:spcBef>
              <a:spcAft>
                <a:spcPts val="0"/>
              </a:spcAft>
              <a:buNone/>
            </a:pPr>
            <a:r>
              <a:rPr lang="en" sz="100"/>
              <a:t>        	rationale_section = cleaned_response.upper().split(indicator)[1]</a:t>
            </a:r>
            <a:endParaRPr sz="100"/>
          </a:p>
          <a:p>
            <a:pPr indent="0" lvl="0" marL="0" rtl="0" algn="l">
              <a:lnSpc>
                <a:spcPct val="90000"/>
              </a:lnSpc>
              <a:spcBef>
                <a:spcPts val="0"/>
              </a:spcBef>
              <a:spcAft>
                <a:spcPts val="0"/>
              </a:spcAft>
              <a:buNone/>
            </a:pPr>
            <a:r>
              <a:rPr lang="en" sz="100"/>
              <a:t>        	# Find where the rationale section ends</a:t>
            </a:r>
            <a:endParaRPr sz="100"/>
          </a:p>
          <a:p>
            <a:pPr indent="0" lvl="0" marL="0" rtl="0" algn="l">
              <a:lnSpc>
                <a:spcPct val="90000"/>
              </a:lnSpc>
              <a:spcBef>
                <a:spcPts val="0"/>
              </a:spcBef>
              <a:spcAft>
                <a:spcPts val="0"/>
              </a:spcAft>
              <a:buNone/>
            </a:pPr>
            <a:r>
              <a:rPr lang="en" sz="100"/>
              <a:t>        	end_markers = ["\n- ", "\n-", "\n\n", "\n*", "**"]</a:t>
            </a:r>
            <a:endParaRPr sz="100"/>
          </a:p>
          <a:p>
            <a:pPr indent="0" lvl="0" marL="0" rtl="0" algn="l">
              <a:lnSpc>
                <a:spcPct val="90000"/>
              </a:lnSpc>
              <a:spcBef>
                <a:spcPts val="0"/>
              </a:spcBef>
              <a:spcAft>
                <a:spcPts val="0"/>
              </a:spcAft>
              <a:buNone/>
            </a:pPr>
            <a:r>
              <a:rPr lang="en" sz="100"/>
              <a:t>        	end_positions = []</a:t>
            </a:r>
            <a:endParaRPr sz="100"/>
          </a:p>
          <a:p>
            <a:pPr indent="0" lvl="0" marL="0" rtl="0" algn="l">
              <a:lnSpc>
                <a:spcPct val="90000"/>
              </a:lnSpc>
              <a:spcBef>
                <a:spcPts val="0"/>
              </a:spcBef>
              <a:spcAft>
                <a:spcPts val="0"/>
              </a:spcAft>
              <a:buNone/>
            </a:pPr>
            <a:r>
              <a:rPr lang="en" sz="100"/>
              <a:t>       	 </a:t>
            </a:r>
            <a:endParaRPr sz="100"/>
          </a:p>
          <a:p>
            <a:pPr indent="0" lvl="0" marL="0" rtl="0" algn="l">
              <a:lnSpc>
                <a:spcPct val="90000"/>
              </a:lnSpc>
              <a:spcBef>
                <a:spcPts val="0"/>
              </a:spcBef>
              <a:spcAft>
                <a:spcPts val="0"/>
              </a:spcAft>
              <a:buNone/>
            </a:pPr>
            <a:r>
              <a:rPr lang="en" sz="100"/>
              <a:t>        	for marker in end_markers:</a:t>
            </a:r>
            <a:endParaRPr sz="100"/>
          </a:p>
          <a:p>
            <a:pPr indent="0" lvl="0" marL="0" rtl="0" algn="l">
              <a:lnSpc>
                <a:spcPct val="90000"/>
              </a:lnSpc>
              <a:spcBef>
                <a:spcPts val="0"/>
              </a:spcBef>
              <a:spcAft>
                <a:spcPts val="0"/>
              </a:spcAft>
              <a:buNone/>
            </a:pPr>
            <a:r>
              <a:rPr lang="en" sz="100"/>
              <a:t>            	pos = rationale_section.find(marker)</a:t>
            </a:r>
            <a:endParaRPr sz="100"/>
          </a:p>
          <a:p>
            <a:pPr indent="0" lvl="0" marL="0" rtl="0" algn="l">
              <a:lnSpc>
                <a:spcPct val="90000"/>
              </a:lnSpc>
              <a:spcBef>
                <a:spcPts val="0"/>
              </a:spcBef>
              <a:spcAft>
                <a:spcPts val="0"/>
              </a:spcAft>
              <a:buNone/>
            </a:pPr>
            <a:r>
              <a:rPr lang="en" sz="100"/>
              <a:t>            	if pos &gt;= 0:</a:t>
            </a:r>
            <a:endParaRPr sz="100"/>
          </a:p>
          <a:p>
            <a:pPr indent="0" lvl="0" marL="0" rtl="0" algn="l">
              <a:lnSpc>
                <a:spcPct val="90000"/>
              </a:lnSpc>
              <a:spcBef>
                <a:spcPts val="0"/>
              </a:spcBef>
              <a:spcAft>
                <a:spcPts val="0"/>
              </a:spcAft>
              <a:buNone/>
            </a:pPr>
            <a:r>
              <a:rPr lang="en" sz="100"/>
              <a:t>                	end_positions.append(pos)</a:t>
            </a:r>
            <a:endParaRPr sz="100"/>
          </a:p>
          <a:p>
            <a:pPr indent="0" lvl="0" marL="0" rtl="0" algn="l">
              <a:lnSpc>
                <a:spcPct val="90000"/>
              </a:lnSpc>
              <a:spcBef>
                <a:spcPts val="0"/>
              </a:spcBef>
              <a:spcAft>
                <a:spcPts val="0"/>
              </a:spcAft>
              <a:buNone/>
            </a:pPr>
            <a:r>
              <a:rPr lang="en" sz="100"/>
              <a:t>       	 </a:t>
            </a:r>
            <a:endParaRPr sz="100"/>
          </a:p>
          <a:p>
            <a:pPr indent="0" lvl="0" marL="0" rtl="0" algn="l">
              <a:lnSpc>
                <a:spcPct val="90000"/>
              </a:lnSpc>
              <a:spcBef>
                <a:spcPts val="0"/>
              </a:spcBef>
              <a:spcAft>
                <a:spcPts val="0"/>
              </a:spcAft>
              <a:buNone/>
            </a:pPr>
            <a:r>
              <a:rPr lang="en" sz="100"/>
              <a:t>        	# Get the end position</a:t>
            </a:r>
            <a:endParaRPr sz="100"/>
          </a:p>
          <a:p>
            <a:pPr indent="0" lvl="0" marL="0" rtl="0" algn="l">
              <a:lnSpc>
                <a:spcPct val="90000"/>
              </a:lnSpc>
              <a:spcBef>
                <a:spcPts val="0"/>
              </a:spcBef>
              <a:spcAft>
                <a:spcPts val="0"/>
              </a:spcAft>
              <a:buNone/>
            </a:pPr>
            <a:r>
              <a:rPr lang="en" sz="100"/>
              <a:t>        	if end_positions:</a:t>
            </a:r>
            <a:endParaRPr sz="100"/>
          </a:p>
          <a:p>
            <a:pPr indent="0" lvl="0" marL="0" rtl="0" algn="l">
              <a:lnSpc>
                <a:spcPct val="90000"/>
              </a:lnSpc>
              <a:spcBef>
                <a:spcPts val="0"/>
              </a:spcBef>
              <a:spcAft>
                <a:spcPts val="0"/>
              </a:spcAft>
              <a:buNone/>
            </a:pPr>
            <a:r>
              <a:rPr lang="en" sz="100"/>
              <a:t>            	end_pos = min(end_positions)</a:t>
            </a:r>
            <a:endParaRPr sz="100"/>
          </a:p>
          <a:p>
            <a:pPr indent="0" lvl="0" marL="0" rtl="0" algn="l">
              <a:lnSpc>
                <a:spcPct val="90000"/>
              </a:lnSpc>
              <a:spcBef>
                <a:spcPts val="0"/>
              </a:spcBef>
              <a:spcAft>
                <a:spcPts val="0"/>
              </a:spcAft>
              <a:buNone/>
            </a:pPr>
            <a:r>
              <a:rPr lang="en" sz="100"/>
              <a:t>            	result["rationale"] = rationale_section[:end_pos].strip()</a:t>
            </a:r>
            <a:endParaRPr sz="100"/>
          </a:p>
          <a:p>
            <a:pPr indent="0" lvl="0" marL="0" rtl="0" algn="l">
              <a:lnSpc>
                <a:spcPct val="90000"/>
              </a:lnSpc>
              <a:spcBef>
                <a:spcPts val="0"/>
              </a:spcBef>
              <a:spcAft>
                <a:spcPts val="0"/>
              </a:spcAft>
              <a:buNone/>
            </a:pPr>
            <a:r>
              <a:rPr lang="en" sz="100"/>
              <a:t>        	else:</a:t>
            </a:r>
            <a:endParaRPr sz="100"/>
          </a:p>
          <a:p>
            <a:pPr indent="0" lvl="0" marL="0" rtl="0" algn="l">
              <a:lnSpc>
                <a:spcPct val="90000"/>
              </a:lnSpc>
              <a:spcBef>
                <a:spcPts val="0"/>
              </a:spcBef>
              <a:spcAft>
                <a:spcPts val="0"/>
              </a:spcAft>
              <a:buNone/>
            </a:pPr>
            <a:r>
              <a:rPr lang="en" sz="100"/>
              <a:t>            	# If no end marker, take the first paragraph</a:t>
            </a:r>
            <a:endParaRPr sz="100"/>
          </a:p>
          <a:p>
            <a:pPr indent="0" lvl="0" marL="0" rtl="0" algn="l">
              <a:lnSpc>
                <a:spcPct val="90000"/>
              </a:lnSpc>
              <a:spcBef>
                <a:spcPts val="0"/>
              </a:spcBef>
              <a:spcAft>
                <a:spcPts val="0"/>
              </a:spcAft>
              <a:buNone/>
            </a:pPr>
            <a:r>
              <a:rPr lang="en" sz="100"/>
              <a:t>            	result["rationale"] = rationale_section.split("\n\n")[0].strip()</a:t>
            </a:r>
            <a:endParaRPr sz="100"/>
          </a:p>
          <a:p>
            <a:pPr indent="0" lvl="0" marL="0" rtl="0" algn="l">
              <a:lnSpc>
                <a:spcPct val="90000"/>
              </a:lnSpc>
              <a:spcBef>
                <a:spcPts val="0"/>
              </a:spcBef>
              <a:spcAft>
                <a:spcPts val="0"/>
              </a:spcAft>
              <a:buNone/>
            </a:pPr>
            <a:r>
              <a:rPr lang="en" sz="100"/>
              <a:t>        	break</a:t>
            </a:r>
            <a:endParaRPr sz="100"/>
          </a:p>
          <a:p>
            <a:pPr indent="0" lvl="0" marL="0" rtl="0" algn="l">
              <a:lnSpc>
                <a:spcPct val="90000"/>
              </a:lnSpc>
              <a:spcBef>
                <a:spcPts val="0"/>
              </a:spcBef>
              <a:spcAft>
                <a:spcPts val="0"/>
              </a:spcAft>
              <a:buNone/>
            </a:pPr>
            <a:r>
              <a:rPr lang="en" sz="100"/>
              <a:t>    </a:t>
            </a:r>
            <a:endParaRPr sz="100"/>
          </a:p>
          <a:p>
            <a:pPr indent="0" lvl="0" marL="0" rtl="0" algn="l">
              <a:lnSpc>
                <a:spcPct val="90000"/>
              </a:lnSpc>
              <a:spcBef>
                <a:spcPts val="0"/>
              </a:spcBef>
              <a:spcAft>
                <a:spcPts val="0"/>
              </a:spcAft>
              <a:buNone/>
            </a:pPr>
            <a:r>
              <a:rPr lang="en" sz="100"/>
              <a:t>	# Extract warning signs</a:t>
            </a:r>
            <a:endParaRPr sz="100"/>
          </a:p>
          <a:p>
            <a:pPr indent="0" lvl="0" marL="0" rtl="0" algn="l">
              <a:lnSpc>
                <a:spcPct val="90000"/>
              </a:lnSpc>
              <a:spcBef>
                <a:spcPts val="0"/>
              </a:spcBef>
              <a:spcAft>
                <a:spcPts val="0"/>
              </a:spcAft>
              <a:buNone/>
            </a:pPr>
            <a:r>
              <a:rPr lang="en" sz="100"/>
              <a:t>	if "WARNING SIGNS:" in cleaned_response.upper():</a:t>
            </a:r>
            <a:endParaRPr sz="100"/>
          </a:p>
          <a:p>
            <a:pPr indent="0" lvl="0" marL="0" rtl="0" algn="l">
              <a:lnSpc>
                <a:spcPct val="90000"/>
              </a:lnSpc>
              <a:spcBef>
                <a:spcPts val="0"/>
              </a:spcBef>
              <a:spcAft>
                <a:spcPts val="0"/>
              </a:spcAft>
              <a:buNone/>
            </a:pPr>
            <a:r>
              <a:rPr lang="en" sz="100"/>
              <a:t>    	warnings_section = cleaned_response.upper().split("WARNING SIGNS:")[1]</a:t>
            </a:r>
            <a:endParaRPr sz="100"/>
          </a:p>
          <a:p>
            <a:pPr indent="0" lvl="0" marL="0" rtl="0" algn="l">
              <a:lnSpc>
                <a:spcPct val="90000"/>
              </a:lnSpc>
              <a:spcBef>
                <a:spcPts val="0"/>
              </a:spcBef>
              <a:spcAft>
                <a:spcPts val="0"/>
              </a:spcAft>
              <a:buNone/>
            </a:pPr>
            <a:r>
              <a:rPr lang="en" sz="100"/>
              <a:t>    	# Find where the warning signs section ends</a:t>
            </a:r>
            <a:endParaRPr sz="100"/>
          </a:p>
          <a:p>
            <a:pPr indent="0" lvl="0" marL="0" rtl="0" algn="l">
              <a:lnSpc>
                <a:spcPct val="90000"/>
              </a:lnSpc>
              <a:spcBef>
                <a:spcPts val="0"/>
              </a:spcBef>
              <a:spcAft>
                <a:spcPts val="0"/>
              </a:spcAft>
              <a:buNone/>
            </a:pPr>
            <a:r>
              <a:rPr lang="en" sz="100"/>
              <a:t>    	end_markers = ["\n- ", "\n-", "\n\n", "\n*", "**"]</a:t>
            </a:r>
            <a:endParaRPr sz="100"/>
          </a:p>
          <a:p>
            <a:pPr indent="0" lvl="0" marL="0" rtl="0" algn="l">
              <a:lnSpc>
                <a:spcPct val="90000"/>
              </a:lnSpc>
              <a:spcBef>
                <a:spcPts val="0"/>
              </a:spcBef>
              <a:spcAft>
                <a:spcPts val="0"/>
              </a:spcAft>
              <a:buNone/>
            </a:pPr>
            <a:r>
              <a:rPr lang="en" sz="100"/>
              <a:t>    	end_positions = []</a:t>
            </a:r>
            <a:endParaRPr sz="100"/>
          </a:p>
          <a:p>
            <a:pPr indent="0" lvl="0" marL="0" rtl="0" algn="l">
              <a:lnSpc>
                <a:spcPct val="90000"/>
              </a:lnSpc>
              <a:spcBef>
                <a:spcPts val="0"/>
              </a:spcBef>
              <a:spcAft>
                <a:spcPts val="0"/>
              </a:spcAft>
              <a:buNone/>
            </a:pPr>
            <a:r>
              <a:rPr lang="en" sz="100"/>
              <a:t>   	 </a:t>
            </a:r>
            <a:endParaRPr sz="100"/>
          </a:p>
          <a:p>
            <a:pPr indent="0" lvl="0" marL="0" rtl="0" algn="l">
              <a:lnSpc>
                <a:spcPct val="90000"/>
              </a:lnSpc>
              <a:spcBef>
                <a:spcPts val="0"/>
              </a:spcBef>
              <a:spcAft>
                <a:spcPts val="0"/>
              </a:spcAft>
              <a:buNone/>
            </a:pPr>
            <a:r>
              <a:rPr lang="en" sz="100"/>
              <a:t>    	for marker in end_markers:</a:t>
            </a:r>
            <a:endParaRPr sz="100"/>
          </a:p>
          <a:p>
            <a:pPr indent="0" lvl="0" marL="0" rtl="0" algn="l">
              <a:lnSpc>
                <a:spcPct val="90000"/>
              </a:lnSpc>
              <a:spcBef>
                <a:spcPts val="0"/>
              </a:spcBef>
              <a:spcAft>
                <a:spcPts val="0"/>
              </a:spcAft>
              <a:buNone/>
            </a:pPr>
            <a:r>
              <a:rPr lang="en" sz="100"/>
              <a:t>        	pos = warnings_section.find(marker)</a:t>
            </a:r>
            <a:endParaRPr sz="100"/>
          </a:p>
          <a:p>
            <a:pPr indent="0" lvl="0" marL="0" rtl="0" algn="l">
              <a:lnSpc>
                <a:spcPct val="90000"/>
              </a:lnSpc>
              <a:spcBef>
                <a:spcPts val="0"/>
              </a:spcBef>
              <a:spcAft>
                <a:spcPts val="0"/>
              </a:spcAft>
              <a:buNone/>
            </a:pPr>
            <a:r>
              <a:rPr lang="en" sz="100"/>
              <a:t>        	if pos &gt;= 0:</a:t>
            </a:r>
            <a:endParaRPr sz="100"/>
          </a:p>
          <a:p>
            <a:pPr indent="0" lvl="0" marL="0" rtl="0" algn="l">
              <a:lnSpc>
                <a:spcPct val="90000"/>
              </a:lnSpc>
              <a:spcBef>
                <a:spcPts val="0"/>
              </a:spcBef>
              <a:spcAft>
                <a:spcPts val="0"/>
              </a:spcAft>
              <a:buNone/>
            </a:pPr>
            <a:r>
              <a:rPr lang="en" sz="100"/>
              <a:t>            	end_positions.append(pos)</a:t>
            </a:r>
            <a:endParaRPr sz="100"/>
          </a:p>
          <a:p>
            <a:pPr indent="0" lvl="0" marL="0" rtl="0" algn="l">
              <a:lnSpc>
                <a:spcPct val="90000"/>
              </a:lnSpc>
              <a:spcBef>
                <a:spcPts val="0"/>
              </a:spcBef>
              <a:spcAft>
                <a:spcPts val="0"/>
              </a:spcAft>
              <a:buNone/>
            </a:pPr>
            <a:r>
              <a:rPr lang="en" sz="100"/>
              <a:t>   	 </a:t>
            </a:r>
            <a:endParaRPr sz="100"/>
          </a:p>
          <a:p>
            <a:pPr indent="0" lvl="0" marL="0" rtl="0" algn="l">
              <a:lnSpc>
                <a:spcPct val="90000"/>
              </a:lnSpc>
              <a:spcBef>
                <a:spcPts val="0"/>
              </a:spcBef>
              <a:spcAft>
                <a:spcPts val="0"/>
              </a:spcAft>
              <a:buNone/>
            </a:pPr>
            <a:r>
              <a:rPr lang="en" sz="100"/>
              <a:t>    	# Get the end position</a:t>
            </a:r>
            <a:endParaRPr sz="100"/>
          </a:p>
          <a:p>
            <a:pPr indent="0" lvl="0" marL="0" rtl="0" algn="l">
              <a:lnSpc>
                <a:spcPct val="90000"/>
              </a:lnSpc>
              <a:spcBef>
                <a:spcPts val="0"/>
              </a:spcBef>
              <a:spcAft>
                <a:spcPts val="0"/>
              </a:spcAft>
              <a:buNone/>
            </a:pPr>
            <a:r>
              <a:rPr lang="en" sz="100"/>
              <a:t>    	if end_positions:</a:t>
            </a:r>
            <a:endParaRPr sz="100"/>
          </a:p>
          <a:p>
            <a:pPr indent="0" lvl="0" marL="0" rtl="0" algn="l">
              <a:lnSpc>
                <a:spcPct val="90000"/>
              </a:lnSpc>
              <a:spcBef>
                <a:spcPts val="0"/>
              </a:spcBef>
              <a:spcAft>
                <a:spcPts val="0"/>
              </a:spcAft>
              <a:buNone/>
            </a:pPr>
            <a:r>
              <a:rPr lang="en" sz="100"/>
              <a:t>        	end_pos = min(end_positions)</a:t>
            </a:r>
            <a:endParaRPr sz="100"/>
          </a:p>
          <a:p>
            <a:pPr indent="0" lvl="0" marL="0" rtl="0" algn="l">
              <a:lnSpc>
                <a:spcPct val="90000"/>
              </a:lnSpc>
              <a:spcBef>
                <a:spcPts val="0"/>
              </a:spcBef>
              <a:spcAft>
                <a:spcPts val="0"/>
              </a:spcAft>
              <a:buNone/>
            </a:pPr>
            <a:r>
              <a:rPr lang="en" sz="100"/>
              <a:t>        	result["warning_signs"] = warnings_section[:end_pos].strip()</a:t>
            </a:r>
            <a:endParaRPr sz="100"/>
          </a:p>
          <a:p>
            <a:pPr indent="0" lvl="0" marL="0" rtl="0" algn="l">
              <a:lnSpc>
                <a:spcPct val="90000"/>
              </a:lnSpc>
              <a:spcBef>
                <a:spcPts val="0"/>
              </a:spcBef>
              <a:spcAft>
                <a:spcPts val="0"/>
              </a:spcAft>
              <a:buNone/>
            </a:pPr>
            <a:r>
              <a:rPr lang="en" sz="100"/>
              <a:t>    	else:</a:t>
            </a:r>
            <a:endParaRPr sz="100"/>
          </a:p>
          <a:p>
            <a:pPr indent="0" lvl="0" marL="0" rtl="0" algn="l">
              <a:lnSpc>
                <a:spcPct val="90000"/>
              </a:lnSpc>
              <a:spcBef>
                <a:spcPts val="0"/>
              </a:spcBef>
              <a:spcAft>
                <a:spcPts val="0"/>
              </a:spcAft>
              <a:buNone/>
            </a:pPr>
            <a:r>
              <a:rPr lang="en" sz="100"/>
              <a:t>        	# If no end marker, take the first paragraph</a:t>
            </a:r>
            <a:endParaRPr sz="100"/>
          </a:p>
          <a:p>
            <a:pPr indent="0" lvl="0" marL="0" rtl="0" algn="l">
              <a:lnSpc>
                <a:spcPct val="90000"/>
              </a:lnSpc>
              <a:spcBef>
                <a:spcPts val="0"/>
              </a:spcBef>
              <a:spcAft>
                <a:spcPts val="0"/>
              </a:spcAft>
              <a:buNone/>
            </a:pPr>
            <a:r>
              <a:rPr lang="en" sz="100"/>
              <a:t>        	result["warning_signs"] = warnings_section.split("\n\n")[0].strip()</a:t>
            </a:r>
            <a:endParaRPr sz="100"/>
          </a:p>
          <a:p>
            <a:pPr indent="0" lvl="0" marL="0" rtl="0" algn="l">
              <a:lnSpc>
                <a:spcPct val="90000"/>
              </a:lnSpc>
              <a:spcBef>
                <a:spcPts val="0"/>
              </a:spcBef>
              <a:spcAft>
                <a:spcPts val="0"/>
              </a:spcAft>
              <a:buNone/>
            </a:pPr>
            <a:r>
              <a:rPr lang="en" sz="100"/>
              <a:t>    </a:t>
            </a:r>
            <a:endParaRPr sz="100"/>
          </a:p>
          <a:p>
            <a:pPr indent="0" lvl="0" marL="0" rtl="0" algn="l">
              <a:lnSpc>
                <a:spcPct val="90000"/>
              </a:lnSpc>
              <a:spcBef>
                <a:spcPts val="0"/>
              </a:spcBef>
              <a:spcAft>
                <a:spcPts val="0"/>
              </a:spcAft>
              <a:buNone/>
            </a:pPr>
            <a:r>
              <a:rPr lang="en" sz="100"/>
              <a:t>	# Extract next steps</a:t>
            </a:r>
            <a:endParaRPr sz="100"/>
          </a:p>
          <a:p>
            <a:pPr indent="0" lvl="0" marL="0" rtl="0" algn="l">
              <a:lnSpc>
                <a:spcPct val="90000"/>
              </a:lnSpc>
              <a:spcBef>
                <a:spcPts val="0"/>
              </a:spcBef>
              <a:spcAft>
                <a:spcPts val="0"/>
              </a:spcAft>
              <a:buNone/>
            </a:pPr>
            <a:r>
              <a:rPr lang="en" sz="100"/>
              <a:t>	if "NEXT STEPS:" in cleaned_response.upper():</a:t>
            </a:r>
            <a:endParaRPr sz="100"/>
          </a:p>
          <a:p>
            <a:pPr indent="0" lvl="0" marL="0" rtl="0" algn="l">
              <a:lnSpc>
                <a:spcPct val="90000"/>
              </a:lnSpc>
              <a:spcBef>
                <a:spcPts val="0"/>
              </a:spcBef>
              <a:spcAft>
                <a:spcPts val="0"/>
              </a:spcAft>
              <a:buNone/>
            </a:pPr>
            <a:r>
              <a:rPr lang="en" sz="100"/>
              <a:t>    	steps_section = cleaned_response.upper().split("NEXT STEPS:")[1]</a:t>
            </a:r>
            <a:endParaRPr sz="100"/>
          </a:p>
          <a:p>
            <a:pPr indent="0" lvl="0" marL="0" rtl="0" algn="l">
              <a:lnSpc>
                <a:spcPct val="90000"/>
              </a:lnSpc>
              <a:spcBef>
                <a:spcPts val="0"/>
              </a:spcBef>
              <a:spcAft>
                <a:spcPts val="0"/>
              </a:spcAft>
              <a:buNone/>
            </a:pPr>
            <a:r>
              <a:rPr lang="en" sz="100"/>
              <a:t>    	# Find where the next steps section ends</a:t>
            </a:r>
            <a:endParaRPr sz="100"/>
          </a:p>
          <a:p>
            <a:pPr indent="0" lvl="0" marL="0" rtl="0" algn="l">
              <a:lnSpc>
                <a:spcPct val="90000"/>
              </a:lnSpc>
              <a:spcBef>
                <a:spcPts val="0"/>
              </a:spcBef>
              <a:spcAft>
                <a:spcPts val="0"/>
              </a:spcAft>
              <a:buNone/>
            </a:pPr>
            <a:r>
              <a:rPr lang="en" sz="100"/>
              <a:t>    	end_markers = ["\n- ", "\n-", "\n\n", "\n*", "**", "ADDITIONAL INFO"]</a:t>
            </a:r>
            <a:endParaRPr sz="100"/>
          </a:p>
          <a:p>
            <a:pPr indent="0" lvl="0" marL="0" rtl="0" algn="l">
              <a:lnSpc>
                <a:spcPct val="90000"/>
              </a:lnSpc>
              <a:spcBef>
                <a:spcPts val="0"/>
              </a:spcBef>
              <a:spcAft>
                <a:spcPts val="0"/>
              </a:spcAft>
              <a:buNone/>
            </a:pPr>
            <a:r>
              <a:rPr lang="en" sz="100"/>
              <a:t>    	end_positions = []</a:t>
            </a:r>
            <a:endParaRPr sz="100"/>
          </a:p>
          <a:p>
            <a:pPr indent="0" lvl="0" marL="0" rtl="0" algn="l">
              <a:lnSpc>
                <a:spcPct val="90000"/>
              </a:lnSpc>
              <a:spcBef>
                <a:spcPts val="0"/>
              </a:spcBef>
              <a:spcAft>
                <a:spcPts val="0"/>
              </a:spcAft>
              <a:buNone/>
            </a:pPr>
            <a:r>
              <a:rPr lang="en" sz="100"/>
              <a:t>   	 </a:t>
            </a:r>
            <a:endParaRPr sz="100"/>
          </a:p>
          <a:p>
            <a:pPr indent="0" lvl="0" marL="0" rtl="0" algn="l">
              <a:lnSpc>
                <a:spcPct val="90000"/>
              </a:lnSpc>
              <a:spcBef>
                <a:spcPts val="0"/>
              </a:spcBef>
              <a:spcAft>
                <a:spcPts val="0"/>
              </a:spcAft>
              <a:buNone/>
            </a:pPr>
            <a:r>
              <a:rPr lang="en" sz="100"/>
              <a:t>    	for marker in end_markers:</a:t>
            </a:r>
            <a:endParaRPr sz="100"/>
          </a:p>
          <a:p>
            <a:pPr indent="0" lvl="0" marL="0" rtl="0" algn="l">
              <a:lnSpc>
                <a:spcPct val="90000"/>
              </a:lnSpc>
              <a:spcBef>
                <a:spcPts val="0"/>
              </a:spcBef>
              <a:spcAft>
                <a:spcPts val="0"/>
              </a:spcAft>
              <a:buNone/>
            </a:pPr>
            <a:r>
              <a:rPr lang="en" sz="100"/>
              <a:t>        	pos = steps_section.find(marker)</a:t>
            </a:r>
            <a:endParaRPr sz="100"/>
          </a:p>
          <a:p>
            <a:pPr indent="0" lvl="0" marL="0" rtl="0" algn="l">
              <a:lnSpc>
                <a:spcPct val="90000"/>
              </a:lnSpc>
              <a:spcBef>
                <a:spcPts val="0"/>
              </a:spcBef>
              <a:spcAft>
                <a:spcPts val="0"/>
              </a:spcAft>
              <a:buNone/>
            </a:pPr>
            <a:r>
              <a:rPr lang="en" sz="100"/>
              <a:t>        	if pos &gt;= 0:</a:t>
            </a:r>
            <a:endParaRPr sz="100"/>
          </a:p>
          <a:p>
            <a:pPr indent="0" lvl="0" marL="0" rtl="0" algn="l">
              <a:lnSpc>
                <a:spcPct val="90000"/>
              </a:lnSpc>
              <a:spcBef>
                <a:spcPts val="0"/>
              </a:spcBef>
              <a:spcAft>
                <a:spcPts val="0"/>
              </a:spcAft>
              <a:buNone/>
            </a:pPr>
            <a:r>
              <a:rPr lang="en" sz="100"/>
              <a:t>            	end_positions.append(pos)</a:t>
            </a:r>
            <a:endParaRPr sz="100"/>
          </a:p>
          <a:p>
            <a:pPr indent="0" lvl="0" marL="0" rtl="0" algn="l">
              <a:lnSpc>
                <a:spcPct val="90000"/>
              </a:lnSpc>
              <a:spcBef>
                <a:spcPts val="0"/>
              </a:spcBef>
              <a:spcAft>
                <a:spcPts val="0"/>
              </a:spcAft>
              <a:buNone/>
            </a:pPr>
            <a:r>
              <a:rPr lang="en" sz="100"/>
              <a:t>   	 </a:t>
            </a:r>
            <a:endParaRPr sz="100"/>
          </a:p>
          <a:p>
            <a:pPr indent="0" lvl="0" marL="0" rtl="0" algn="l">
              <a:lnSpc>
                <a:spcPct val="90000"/>
              </a:lnSpc>
              <a:spcBef>
                <a:spcPts val="0"/>
              </a:spcBef>
              <a:spcAft>
                <a:spcPts val="0"/>
              </a:spcAft>
              <a:buNone/>
            </a:pPr>
            <a:r>
              <a:rPr lang="en" sz="100"/>
              <a:t>    	# Get the end position</a:t>
            </a:r>
            <a:endParaRPr sz="100"/>
          </a:p>
          <a:p>
            <a:pPr indent="0" lvl="0" marL="0" rtl="0" algn="l">
              <a:lnSpc>
                <a:spcPct val="90000"/>
              </a:lnSpc>
              <a:spcBef>
                <a:spcPts val="0"/>
              </a:spcBef>
              <a:spcAft>
                <a:spcPts val="0"/>
              </a:spcAft>
              <a:buNone/>
            </a:pPr>
            <a:r>
              <a:rPr lang="en" sz="100"/>
              <a:t>    	if end_positions:</a:t>
            </a:r>
            <a:endParaRPr sz="100"/>
          </a:p>
          <a:p>
            <a:pPr indent="0" lvl="0" marL="0" rtl="0" algn="l">
              <a:lnSpc>
                <a:spcPct val="90000"/>
              </a:lnSpc>
              <a:spcBef>
                <a:spcPts val="0"/>
              </a:spcBef>
              <a:spcAft>
                <a:spcPts val="0"/>
              </a:spcAft>
              <a:buNone/>
            </a:pPr>
            <a:r>
              <a:rPr lang="en" sz="100"/>
              <a:t>        	end_pos = min(end_positions)</a:t>
            </a:r>
            <a:endParaRPr sz="100"/>
          </a:p>
          <a:p>
            <a:pPr indent="0" lvl="0" marL="0" rtl="0" algn="l">
              <a:lnSpc>
                <a:spcPct val="90000"/>
              </a:lnSpc>
              <a:spcBef>
                <a:spcPts val="0"/>
              </a:spcBef>
              <a:spcAft>
                <a:spcPts val="0"/>
              </a:spcAft>
              <a:buNone/>
            </a:pPr>
            <a:r>
              <a:rPr lang="en" sz="100"/>
              <a:t>        	result["next_steps"] = steps_section[:end_pos].strip()</a:t>
            </a:r>
            <a:endParaRPr sz="100"/>
          </a:p>
          <a:p>
            <a:pPr indent="0" lvl="0" marL="0" rtl="0" algn="l">
              <a:lnSpc>
                <a:spcPct val="90000"/>
              </a:lnSpc>
              <a:spcBef>
                <a:spcPts val="0"/>
              </a:spcBef>
              <a:spcAft>
                <a:spcPts val="0"/>
              </a:spcAft>
              <a:buNone/>
            </a:pPr>
            <a:r>
              <a:rPr lang="en" sz="100"/>
              <a:t>    	else:</a:t>
            </a:r>
            <a:endParaRPr sz="100"/>
          </a:p>
          <a:p>
            <a:pPr indent="0" lvl="0" marL="0" rtl="0" algn="l">
              <a:lnSpc>
                <a:spcPct val="90000"/>
              </a:lnSpc>
              <a:spcBef>
                <a:spcPts val="0"/>
              </a:spcBef>
              <a:spcAft>
                <a:spcPts val="0"/>
              </a:spcAft>
              <a:buNone/>
            </a:pPr>
            <a:r>
              <a:rPr lang="en" sz="100"/>
              <a:t>        	# If no end marker, take the first paragraph</a:t>
            </a:r>
            <a:endParaRPr sz="100"/>
          </a:p>
          <a:p>
            <a:pPr indent="0" lvl="0" marL="0" rtl="0" algn="l">
              <a:lnSpc>
                <a:spcPct val="90000"/>
              </a:lnSpc>
              <a:spcBef>
                <a:spcPts val="0"/>
              </a:spcBef>
              <a:spcAft>
                <a:spcPts val="0"/>
              </a:spcAft>
              <a:buNone/>
            </a:pPr>
            <a:r>
              <a:rPr lang="en" sz="100"/>
              <a:t>        	result["next_steps"] = steps_section.split("\n\n")[0].strip()</a:t>
            </a:r>
            <a:endParaRPr sz="100"/>
          </a:p>
          <a:p>
            <a:pPr indent="0" lvl="0" marL="0" rtl="0" algn="l">
              <a:lnSpc>
                <a:spcPct val="90000"/>
              </a:lnSpc>
              <a:spcBef>
                <a:spcPts val="0"/>
              </a:spcBef>
              <a:spcAft>
                <a:spcPts val="0"/>
              </a:spcAft>
              <a:buNone/>
            </a:pPr>
            <a:r>
              <a:rPr lang="en" sz="100"/>
              <a:t>    </a:t>
            </a:r>
            <a:endParaRPr sz="100"/>
          </a:p>
          <a:p>
            <a:pPr indent="0" lvl="0" marL="0" rtl="0" algn="l">
              <a:lnSpc>
                <a:spcPct val="90000"/>
              </a:lnSpc>
              <a:spcBef>
                <a:spcPts val="0"/>
              </a:spcBef>
              <a:spcAft>
                <a:spcPts val="0"/>
              </a:spcAft>
              <a:buNone/>
            </a:pPr>
            <a:r>
              <a:rPr lang="en" sz="100"/>
              <a:t>	return result</a:t>
            </a:r>
            <a:endParaRPr sz="1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51"/>
          <p:cNvSpPr txBox="1"/>
          <p:nvPr>
            <p:ph type="title"/>
          </p:nvPr>
        </p:nvSpPr>
        <p:spPr>
          <a:xfrm>
            <a:off x="311700" y="555600"/>
            <a:ext cx="83802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Deepseek R1 Triage Classification: Non-Serious Case</a:t>
            </a:r>
            <a:endParaRPr/>
          </a:p>
        </p:txBody>
      </p:sp>
      <p:sp>
        <p:nvSpPr>
          <p:cNvPr id="331" name="Google Shape;331;p51"/>
          <p:cNvSpPr txBox="1"/>
          <p:nvPr>
            <p:ph idx="1" type="body"/>
          </p:nvPr>
        </p:nvSpPr>
        <p:spPr>
          <a:xfrm>
            <a:off x="311700" y="1389600"/>
            <a:ext cx="8253000" cy="3179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None/>
            </a:pPr>
            <a:r>
              <a:rPr lang="en" sz="400">
                <a:solidFill>
                  <a:schemeClr val="dk1"/>
                </a:solidFill>
                <a:latin typeface="Courier New"/>
                <a:ea typeface="Courier New"/>
                <a:cs typeface="Courier New"/>
                <a:sym typeface="Courier New"/>
              </a:rPr>
              <a:t>Calling Deepseek for triage classification...</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None/>
            </a:pPr>
            <a:r>
              <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None/>
            </a:pPr>
            <a:r>
              <a:rPr lang="en" sz="400">
                <a:solidFill>
                  <a:schemeClr val="dk1"/>
                </a:solidFill>
                <a:latin typeface="Courier New"/>
                <a:ea typeface="Courier New"/>
                <a:cs typeface="Courier New"/>
                <a:sym typeface="Courier New"/>
              </a:rPr>
              <a:t>Deepseek response:</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None/>
            </a:pPr>
            <a:r>
              <a:rPr lang="en" sz="400">
                <a:solidFill>
                  <a:schemeClr val="dk1"/>
                </a:solidFill>
                <a:latin typeface="Courier New"/>
                <a:ea typeface="Courier New"/>
                <a:cs typeface="Courier New"/>
                <a:sym typeface="Courier New"/>
              </a:rPr>
              <a:t>--------------------------------------------------------------------------------</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None/>
            </a:pPr>
            <a:r>
              <a:rPr lang="en" sz="400">
                <a:solidFill>
                  <a:schemeClr val="dk1"/>
                </a:solidFill>
                <a:latin typeface="Courier New"/>
                <a:ea typeface="Courier New"/>
                <a:cs typeface="Courier New"/>
                <a:sym typeface="Courier New"/>
              </a:rPr>
              <a:t>&lt;think&gt;</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None/>
            </a:pPr>
            <a:r>
              <a:rPr lang="en" sz="400">
                <a:solidFill>
                  <a:schemeClr val="dk1"/>
                </a:solidFill>
                <a:latin typeface="Courier New"/>
                <a:ea typeface="Courier New"/>
                <a:cs typeface="Courier New"/>
                <a:sym typeface="Courier New"/>
              </a:rPr>
              <a:t>Okay, so I've been given a patient presentation and asked to determine their triage level based on the provided data. The patient is a 4-year-old male with no recent vital signs recorded. He has viral sinusitis from April to May 2021 but otherwise hasn't had any other health issues recently. He went for a wellness visit, which was his only recent medical encounter.</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None/>
            </a:pPr>
            <a:r>
              <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None/>
            </a:pPr>
            <a:r>
              <a:rPr lang="en" sz="400">
                <a:solidFill>
                  <a:schemeClr val="dk1"/>
                </a:solidFill>
                <a:latin typeface="Courier New"/>
                <a:ea typeface="Courier New"/>
                <a:cs typeface="Courier New"/>
                <a:sym typeface="Courier New"/>
              </a:rPr>
              <a:t>First, I need to understand the triage categories: IMMEDIATE (RED), EMERGENT (ORANGE), URGENT (YELLOW), SEMI-URGENT (GREEN), and NON-URGENT (BLUE). Each has specific criteria based on the patient's condition, symptoms, and immediate needs.</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None/>
            </a:pPr>
            <a:r>
              <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None/>
            </a:pPr>
            <a:r>
              <a:rPr lang="en" sz="400">
                <a:solidFill>
                  <a:schemeClr val="dk1"/>
                </a:solidFill>
                <a:latin typeface="Courier New"/>
                <a:ea typeface="Courier New"/>
                <a:cs typeface="Courier New"/>
                <a:sym typeface="Courier New"/>
              </a:rPr>
              <a:t>Looking at the patient's data, there are no recent vital signs. That's a red flag because normal vital signs like temperature, heart rate, etc., indicate whether someone is unwell or if they're okay. The absence of these could mean he's not feeling well but didn't get checked, or maybe it's just been too long since his last visit.</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None/>
            </a:pPr>
            <a:r>
              <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None/>
            </a:pPr>
            <a:r>
              <a:rPr lang="en" sz="400">
                <a:solidFill>
                  <a:schemeClr val="dk1"/>
                </a:solidFill>
                <a:latin typeface="Courier New"/>
                <a:ea typeface="Courier New"/>
                <a:cs typeface="Courier New"/>
                <a:sym typeface="Courier New"/>
              </a:rPr>
              <a:t>He has viral sinusitis from April to May 2021. That's about a month ago. So the condition was present before his most recent visit, which was a wellness check in October. Since then, there hasn't been any worsening symptoms. However, it's still possible that the sinusitis is causing ongoing issues.</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None/>
            </a:pPr>
            <a:r>
              <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None/>
            </a:pPr>
            <a:r>
              <a:rPr lang="en" sz="400">
                <a:solidFill>
                  <a:schemeClr val="dk1"/>
                </a:solidFill>
                <a:latin typeface="Courier New"/>
                <a:ea typeface="Courier New"/>
                <a:cs typeface="Courier New"/>
                <a:sym typeface="Courier New"/>
              </a:rPr>
              <a:t>Viral sinusitis can lead to symptoms like congestion, runny nose, sore throat, maybe some headache or fever if it's severe. But since he had a well child visit without symptoms noted (as per the most recent medical encounter), perhaps his current presentation isn't acute. No signs of shock, confusion, high fever, etc., so nothing immediately life-threatening.</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None/>
            </a:pPr>
            <a:r>
              <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None/>
            </a:pPr>
            <a:r>
              <a:rPr lang="en" sz="400">
                <a:solidFill>
                  <a:schemeClr val="dk1"/>
                </a:solidFill>
                <a:latin typeface="Courier New"/>
                <a:ea typeface="Courier New"/>
                <a:cs typeface="Courier New"/>
                <a:sym typeface="Courier New"/>
              </a:rPr>
              <a:t>He doesn't have any chronic conditions, recent procedures, or hospitalizations. His medications are clean too. So no known complications from ongoing treatments.</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None/>
            </a:pPr>
            <a:r>
              <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None/>
            </a:pPr>
            <a:r>
              <a:rPr lang="en" sz="400">
                <a:solidFill>
                  <a:schemeClr val="dk1"/>
                </a:solidFill>
                <a:latin typeface="Courier New"/>
                <a:ea typeface="Courier New"/>
                <a:cs typeface="Courier New"/>
                <a:sym typeface="Courier New"/>
              </a:rPr>
              <a:t>Considering all this, the patient's symptoms (if any) may not be severe enough to require immediate attention beyond follow-up. The lack of vital signs suggests that there isn't an emergency situation, but without symptoms, it's hard to say definitively.</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None/>
            </a:pPr>
            <a:r>
              <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None/>
            </a:pPr>
            <a:r>
              <a:rPr lang="en" sz="400">
                <a:solidFill>
                  <a:schemeClr val="dk1"/>
                </a:solidFill>
                <a:latin typeface="Courier New"/>
                <a:ea typeface="Courier New"/>
                <a:cs typeface="Courier New"/>
                <a:sym typeface="Courier New"/>
              </a:rPr>
              <a:t>The most recent visit was a wellness check, so maybe he's just getting regular check-ups and hasn't had any issues. If the viral sinusitis resolved on its own or if he doesn't have active symptoms now, it might be semi-urgent or urgent based on how severe the symptoms are now.</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None/>
            </a:pPr>
            <a:r>
              <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None/>
            </a:pPr>
            <a:r>
              <a:rPr lang="en" sz="400">
                <a:solidFill>
                  <a:schemeClr val="dk1"/>
                </a:solidFill>
                <a:latin typeface="Courier New"/>
                <a:ea typeface="Courier New"/>
                <a:cs typeface="Courier New"/>
                <a:sym typeface="Courier New"/>
              </a:rPr>
              <a:t>But since there's no information about current symptoms and no vital signs, I'm leaning towards non-urgent because there's no acute condition indicated. If anything, his viral sinusitis could be a minor issue that can be managed at a primary care level without needing to escalate beyond yellow or green categories.</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None/>
            </a:pPr>
            <a:r>
              <a:rPr lang="en" sz="400">
                <a:solidFill>
                  <a:schemeClr val="dk1"/>
                </a:solidFill>
                <a:latin typeface="Courier New"/>
                <a:ea typeface="Courier New"/>
                <a:cs typeface="Courier New"/>
                <a:sym typeface="Courier New"/>
              </a:rPr>
              <a:t>&lt;/think&gt;</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None/>
            </a:pPr>
            <a:r>
              <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None/>
            </a:pPr>
            <a:r>
              <a:rPr lang="en" sz="400">
                <a:solidFill>
                  <a:schemeClr val="dk1"/>
                </a:solidFill>
                <a:latin typeface="Courier New"/>
                <a:ea typeface="Courier New"/>
                <a:cs typeface="Courier New"/>
                <a:sym typeface="Courier New"/>
              </a:rPr>
              <a:t>**Triage Category:** NON-URGENT (BLUE)</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None/>
            </a:pPr>
            <a:r>
              <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None/>
            </a:pPr>
            <a:r>
              <a:rPr lang="en" sz="400">
                <a:solidFill>
                  <a:schemeClr val="dk1"/>
                </a:solidFill>
                <a:latin typeface="Courier New"/>
                <a:ea typeface="Courier New"/>
                <a:cs typeface="Courier New"/>
                <a:sym typeface="Courier New"/>
              </a:rPr>
              <a:t>**Clinical Rationale:**</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None/>
            </a:pPr>
            <a:r>
              <a:rPr lang="en" sz="400">
                <a:solidFill>
                  <a:schemeClr val="dk1"/>
                </a:solidFill>
                <a:latin typeface="Courier New"/>
                <a:ea typeface="Courier New"/>
                <a:cs typeface="Courier New"/>
                <a:sym typeface="Courier New"/>
              </a:rPr>
              <a:t>The patient is a 4-year-old male with viral sinusitis resolved approximately one month ago. He underwent a well-child visit in October but showed no symptoms, indicating no acute condition.</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None/>
            </a:pPr>
            <a:r>
              <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None/>
            </a:pPr>
            <a:r>
              <a:rPr lang="en" sz="400">
                <a:solidFill>
                  <a:schemeClr val="dk1"/>
                </a:solidFill>
                <a:latin typeface="Courier New"/>
                <a:ea typeface="Courier New"/>
                <a:cs typeface="Courier New"/>
                <a:sym typeface="Courier New"/>
              </a:rPr>
              <a:t>**Concerning Findings:**</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None/>
            </a:pPr>
            <a:r>
              <a:rPr lang="en" sz="400">
                <a:solidFill>
                  <a:schemeClr val="dk1"/>
                </a:solidFill>
                <a:latin typeface="Courier New"/>
                <a:ea typeface="Courier New"/>
                <a:cs typeface="Courier New"/>
                <a:sym typeface="Courier New"/>
              </a:rPr>
              <a:t>No recent vital signs or symptoms are reported, suggesting he may be asymptomatic post-viral sinusitis resolution.</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None/>
            </a:pPr>
            <a:r>
              <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None/>
            </a:pPr>
            <a:r>
              <a:rPr lang="en" sz="400">
                <a:solidFill>
                  <a:schemeClr val="dk1"/>
                </a:solidFill>
                <a:latin typeface="Courier New"/>
                <a:ea typeface="Courier New"/>
                <a:cs typeface="Courier New"/>
                <a:sym typeface="Courier New"/>
              </a:rPr>
              <a:t>**Warning Signs to Monitor:**</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None/>
            </a:pPr>
            <a:r>
              <a:rPr lang="en" sz="400">
                <a:solidFill>
                  <a:schemeClr val="dk1"/>
                </a:solidFill>
                <a:latin typeface="Courier New"/>
                <a:ea typeface="Courier New"/>
                <a:cs typeface="Courier New"/>
                <a:sym typeface="Courier New"/>
              </a:rPr>
              <a:t>Watch for potential worsening symptoms like fever, severe headache, or new respiratory issues that could elevate his triage level.</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None/>
            </a:pPr>
            <a:r>
              <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None/>
            </a:pPr>
            <a:r>
              <a:rPr lang="en" sz="400">
                <a:solidFill>
                  <a:schemeClr val="dk1"/>
                </a:solidFill>
                <a:latin typeface="Courier New"/>
                <a:ea typeface="Courier New"/>
                <a:cs typeface="Courier New"/>
                <a:sym typeface="Courier New"/>
              </a:rPr>
              <a:t>**Next Steps:**</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None/>
            </a:pPr>
            <a:r>
              <a:rPr lang="en" sz="400">
                <a:solidFill>
                  <a:schemeClr val="dk1"/>
                </a:solidFill>
                <a:latin typeface="Courier New"/>
                <a:ea typeface="Courier New"/>
                <a:cs typeface="Courier New"/>
                <a:sym typeface="Courier New"/>
              </a:rPr>
              <a:t>Continue monitoring for any signs of severe illness. If no active symptoms develop, follow standard preventive care.</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None/>
            </a:pPr>
            <a:r>
              <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None/>
            </a:pPr>
            <a:r>
              <a:rPr lang="en" sz="400">
                <a:solidFill>
                  <a:schemeClr val="dk1"/>
                </a:solidFill>
                <a:latin typeface="Courier New"/>
                <a:ea typeface="Courier New"/>
                <a:cs typeface="Courier New"/>
                <a:sym typeface="Courier New"/>
              </a:rPr>
              <a:t>**Differential Diagnoses:**</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None/>
            </a:pPr>
            <a:r>
              <a:rPr lang="en" sz="400">
                <a:solidFill>
                  <a:schemeClr val="dk1"/>
                </a:solidFill>
                <a:latin typeface="Courier New"/>
                <a:ea typeface="Courier New"/>
                <a:cs typeface="Courier New"/>
                <a:sym typeface="Courier New"/>
              </a:rPr>
              <a:t>Possible viral sinusitis resolution or other minor conditions with no significant impact on health status.</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None/>
            </a:pPr>
            <a:r>
              <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None/>
            </a:pPr>
            <a:r>
              <a:rPr lang="en" sz="400">
                <a:solidFill>
                  <a:schemeClr val="dk1"/>
                </a:solidFill>
                <a:latin typeface="Courier New"/>
                <a:ea typeface="Courier New"/>
                <a:cs typeface="Courier New"/>
                <a:sym typeface="Courier New"/>
              </a:rPr>
              <a:t>**Additional Info Needed:**</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None/>
            </a:pPr>
            <a:r>
              <a:rPr lang="en" sz="400">
                <a:solidFill>
                  <a:schemeClr val="dk1"/>
                </a:solidFill>
                <a:latin typeface="Courier New"/>
                <a:ea typeface="Courier New"/>
                <a:cs typeface="Courier New"/>
                <a:sym typeface="Courier New"/>
              </a:rPr>
              <a:t>Details on current symptoms and any changes from his previous visit to ensure thorough assessment.</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None/>
            </a:pPr>
            <a:r>
              <a:rPr lang="en" sz="400">
                <a:solidFill>
                  <a:schemeClr val="dk1"/>
                </a:solidFill>
                <a:latin typeface="Courier New"/>
                <a:ea typeface="Courier New"/>
                <a:cs typeface="Courier New"/>
                <a:sym typeface="Courier New"/>
              </a:rPr>
              <a:t>--------------------------------------------------------------------------------</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None/>
            </a:pPr>
            <a:r>
              <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400">
                <a:solidFill>
                  <a:schemeClr val="dk1"/>
                </a:solidFill>
                <a:latin typeface="Courier New"/>
                <a:ea typeface="Courier New"/>
                <a:cs typeface="Courier New"/>
                <a:sym typeface="Courier New"/>
              </a:rPr>
              <a:t>Triage Classification: NON-URGENT</a:t>
            </a:r>
            <a:endParaRPr sz="400">
              <a:solidFill>
                <a:schemeClr val="dk1"/>
              </a:solidFill>
              <a:latin typeface="Courier New"/>
              <a:ea typeface="Courier New"/>
              <a:cs typeface="Courier New"/>
              <a:sym typeface="Courier New"/>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52"/>
          <p:cNvSpPr txBox="1"/>
          <p:nvPr>
            <p:ph type="title"/>
          </p:nvPr>
        </p:nvSpPr>
        <p:spPr>
          <a:xfrm>
            <a:off x="304200" y="376675"/>
            <a:ext cx="85356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Deepseek R1 Triage Classification: Serious Case</a:t>
            </a:r>
            <a:endParaRPr/>
          </a:p>
        </p:txBody>
      </p:sp>
      <p:sp>
        <p:nvSpPr>
          <p:cNvPr id="337" name="Google Shape;337;p52"/>
          <p:cNvSpPr txBox="1"/>
          <p:nvPr>
            <p:ph idx="1" type="body"/>
          </p:nvPr>
        </p:nvSpPr>
        <p:spPr>
          <a:xfrm>
            <a:off x="311700" y="1238925"/>
            <a:ext cx="8253000" cy="3179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275"/>
              <a:buNone/>
            </a:pPr>
            <a:r>
              <a:rPr lang="en" sz="500">
                <a:solidFill>
                  <a:schemeClr val="dk1"/>
                </a:solidFill>
                <a:latin typeface="Courier New"/>
                <a:ea typeface="Courier New"/>
                <a:cs typeface="Courier New"/>
                <a:sym typeface="Courier New"/>
              </a:rPr>
              <a:t>Calling Deepseek for triage classification...</a:t>
            </a:r>
            <a:endParaRPr sz="5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5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500">
                <a:solidFill>
                  <a:schemeClr val="dk1"/>
                </a:solidFill>
                <a:latin typeface="Courier New"/>
                <a:ea typeface="Courier New"/>
                <a:cs typeface="Courier New"/>
                <a:sym typeface="Courier New"/>
              </a:rPr>
              <a:t>Deepseek response:</a:t>
            </a:r>
            <a:endParaRPr sz="5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500">
                <a:solidFill>
                  <a:schemeClr val="dk1"/>
                </a:solidFill>
                <a:latin typeface="Courier New"/>
                <a:ea typeface="Courier New"/>
                <a:cs typeface="Courier New"/>
                <a:sym typeface="Courier New"/>
              </a:rPr>
              <a:t>--------------------------------------------------------------------------------</a:t>
            </a:r>
            <a:endParaRPr sz="5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500">
                <a:solidFill>
                  <a:schemeClr val="dk1"/>
                </a:solidFill>
                <a:latin typeface="Courier New"/>
                <a:ea typeface="Courier New"/>
                <a:cs typeface="Courier New"/>
                <a:sym typeface="Courier New"/>
              </a:rPr>
              <a:t>&lt;think&gt;</a:t>
            </a:r>
            <a:endParaRPr sz="5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500">
                <a:solidFill>
                  <a:schemeClr val="dk1"/>
                </a:solidFill>
                <a:latin typeface="Courier New"/>
                <a:ea typeface="Courier New"/>
                <a:cs typeface="Courier New"/>
                <a:sym typeface="Courier New"/>
              </a:rPr>
              <a:t>Okay, so I'm trying to figure out how to determine the triage level for this patient. Let me start by going through all the information provided.</a:t>
            </a:r>
            <a:endParaRPr sz="5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5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500">
                <a:solidFill>
                  <a:schemeClr val="dk1"/>
                </a:solidFill>
                <a:latin typeface="Courier New"/>
                <a:ea typeface="Courier New"/>
                <a:cs typeface="Courier New"/>
                <a:sym typeface="Courier New"/>
              </a:rPr>
              <a:t>The patient is a 49-year-old male with no recent vital signs recorded. He has a history of epilepsy and seizure disorders since 1990. His most recent hospital visit was in 1991, where he died from sudden cardiac arrest during a wellness check. That's pretty significant because it suggests there might be some comorbid conditions that led to this event.</a:t>
            </a:r>
            <a:endParaRPr sz="5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5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500">
                <a:solidFill>
                  <a:schemeClr val="dk1"/>
                </a:solidFill>
                <a:latin typeface="Courier New"/>
                <a:ea typeface="Courier New"/>
                <a:cs typeface="Courier New"/>
                <a:sym typeface="Courier New"/>
              </a:rPr>
              <a:t>Looking at his medications, the only one listed is Diazepam, which is an antiepileptic drug. But since he has a history of seizures and died from cardiac arrest, maybe there are other underlying issues contributing to his condition beyond what's on his medication list.</a:t>
            </a:r>
            <a:endParaRPr sz="5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5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500">
                <a:solidFill>
                  <a:schemeClr val="dk1"/>
                </a:solidFill>
                <a:latin typeface="Courier New"/>
                <a:ea typeface="Courier New"/>
                <a:cs typeface="Courier New"/>
                <a:sym typeface="Courier New"/>
              </a:rPr>
              <a:t>His recent health conditions include acute viral pharyngitis, bronchitis, and sinusitis from 1986 to 1990. These infections could have been exacerbated by his epilepsy or seizures. However, without current symptoms related to these conditions, it's hard to say if they are active contributors.</a:t>
            </a:r>
            <a:endParaRPr sz="5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5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500">
                <a:solidFill>
                  <a:schemeClr val="dk1"/>
                </a:solidFill>
                <a:latin typeface="Courier New"/>
                <a:ea typeface="Courier New"/>
                <a:cs typeface="Courier New"/>
                <a:sym typeface="Courier New"/>
              </a:rPr>
              <a:t>Considering the timeline, he died in 1991 after a long period since his last visit and death. The fact that he was under medical supervision with an ECG showing T wave inversion might indicate pre-existing heart issues contributing to the sudden cardiac arrest.</a:t>
            </a:r>
            <a:endParaRPr sz="5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5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500">
                <a:solidFill>
                  <a:schemeClr val="dk1"/>
                </a:solidFill>
                <a:latin typeface="Courier New"/>
                <a:ea typeface="Courier New"/>
                <a:cs typeface="Courier New"/>
                <a:sym typeface="Courier New"/>
              </a:rPr>
              <a:t>He doesn't have any allergies or other recent procedures mentioned. His current medications don't seem to relate directly to his cardiac issue, but considering his age and potential for age-related changes in metabolism, that's something to keep in mind.</a:t>
            </a:r>
            <a:endParaRPr sz="5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5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500">
                <a:solidFill>
                  <a:schemeClr val="dk1"/>
                </a:solidFill>
                <a:latin typeface="Courier New"/>
                <a:ea typeface="Courier New"/>
                <a:cs typeface="Courier New"/>
                <a:sym typeface="Courier New"/>
              </a:rPr>
              <a:t>So, putting it all together: he has a history of seizures, which could potentially affect heart function, especially with the death certificate noting a T wave inversion. The sudden cardiac death is a critical event, indicating a life-threatening condition even without current symptoms. Since there are no vital signs now but a history that points to a prior medical emergency, this patient likely requires immediate attention.</a:t>
            </a:r>
            <a:endParaRPr sz="5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5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500">
                <a:solidFill>
                  <a:schemeClr val="dk1"/>
                </a:solidFill>
                <a:latin typeface="Courier New"/>
                <a:ea typeface="Courier New"/>
                <a:cs typeface="Courier New"/>
                <a:sym typeface="Courier New"/>
              </a:rPr>
              <a:t>Therefore, he should be classified under IMMEDIATE (RED) triage because the sudden cardiac death suggests a potentially life-threatening situation despite not currently presenting with it.</a:t>
            </a:r>
            <a:endParaRPr sz="5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500">
                <a:solidFill>
                  <a:schemeClr val="dk1"/>
                </a:solidFill>
                <a:latin typeface="Courier New"/>
                <a:ea typeface="Courier New"/>
                <a:cs typeface="Courier New"/>
                <a:sym typeface="Courier New"/>
              </a:rPr>
              <a:t>&lt;/think&gt;</a:t>
            </a:r>
            <a:endParaRPr sz="5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5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500">
                <a:solidFill>
                  <a:schemeClr val="dk1"/>
                </a:solidFill>
                <a:latin typeface="Courier New"/>
                <a:ea typeface="Courier New"/>
                <a:cs typeface="Courier New"/>
                <a:sym typeface="Courier New"/>
              </a:rPr>
              <a:t>**Triage Category: IMMEDIATE (RED)**</a:t>
            </a:r>
            <a:endParaRPr sz="5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5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500">
                <a:solidFill>
                  <a:schemeClr val="dk1"/>
                </a:solidFill>
                <a:latin typeface="Courier New"/>
                <a:ea typeface="Courier New"/>
                <a:cs typeface="Courier New"/>
                <a:sym typeface="Courier New"/>
              </a:rPr>
              <a:t>**Clinical Rationale:** The patient's history of seizures and a prior sudden cardiac death during a wellness check, despite no current symptoms, indicates a critical condition requiring immediate intervention.</a:t>
            </a:r>
            <a:endParaRPr sz="5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5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500">
                <a:solidFill>
                  <a:schemeClr val="dk1"/>
                </a:solidFill>
                <a:latin typeface="Courier New"/>
                <a:ea typeface="Courier New"/>
                <a:cs typeface="Courier New"/>
                <a:sym typeface="Courier New"/>
              </a:rPr>
              <a:t>**Concerning Findings:** The absence of vital signs and the presence of pre-existing conditions like epilepsy, along with the noted T wave inversion on ECG, suggest underlying heart issues that may require urgent medical attention.</a:t>
            </a:r>
            <a:endParaRPr sz="5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5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500">
                <a:solidFill>
                  <a:schemeClr val="dk1"/>
                </a:solidFill>
                <a:latin typeface="Courier New"/>
                <a:ea typeface="Courier New"/>
                <a:cs typeface="Courier New"/>
                <a:sym typeface="Courier New"/>
              </a:rPr>
              <a:t>**Warning Signs to Elevate Triage Level:** The sudden cardiac death history, potential heart disease due to age, and unexplained ECG changes are key indicators elevating the triage level.</a:t>
            </a:r>
            <a:endParaRPr sz="5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5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500">
                <a:solidFill>
                  <a:schemeClr val="dk1"/>
                </a:solidFill>
                <a:latin typeface="Courier New"/>
                <a:ea typeface="Courier New"/>
                <a:cs typeface="Courier New"/>
                <a:sym typeface="Courier New"/>
              </a:rPr>
              <a:t>**Next Steps for Healthcare Team:**</a:t>
            </a:r>
            <a:endParaRPr sz="5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500">
                <a:solidFill>
                  <a:schemeClr val="dk1"/>
                </a:solidFill>
                <a:latin typeface="Courier New"/>
                <a:ea typeface="Courier New"/>
                <a:cs typeface="Courier New"/>
                <a:sym typeface="Courier New"/>
              </a:rPr>
              <a:t>1. Confirm the cause of death with the medical examiner.</a:t>
            </a:r>
            <a:endParaRPr sz="5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500">
                <a:solidFill>
                  <a:schemeClr val="dk1"/>
                </a:solidFill>
                <a:latin typeface="Courier New"/>
                <a:ea typeface="Courier New"/>
                <a:cs typeface="Courier New"/>
                <a:sym typeface="Courier New"/>
              </a:rPr>
              <a:t>2. Perform a comprehensive cardiovascular assessment.</a:t>
            </a:r>
            <a:endParaRPr sz="5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500">
                <a:solidFill>
                  <a:schemeClr val="dk1"/>
                </a:solidFill>
                <a:latin typeface="Courier New"/>
                <a:ea typeface="Courier New"/>
                <a:cs typeface="Courier New"/>
                <a:sym typeface="Courier New"/>
              </a:rPr>
              <a:t>3. Initiate emergency care measures such as defibrillation if possible.</a:t>
            </a:r>
            <a:endParaRPr sz="5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500">
                <a:solidFill>
                  <a:schemeClr val="dk1"/>
                </a:solidFill>
                <a:latin typeface="Courier New"/>
                <a:ea typeface="Courier New"/>
                <a:cs typeface="Courier New"/>
                <a:sym typeface="Courier New"/>
              </a:rPr>
              <a:t>4. Prepare an Advanced Tra-life Support (ATLS) plan, including transport to an EMT/EMS capable facility.</a:t>
            </a:r>
            <a:endParaRPr sz="5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5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500">
                <a:solidFill>
                  <a:schemeClr val="dk1"/>
                </a:solidFill>
                <a:latin typeface="Courier New"/>
                <a:ea typeface="Courier New"/>
                <a:cs typeface="Courier New"/>
                <a:sym typeface="Courier New"/>
              </a:rPr>
              <a:t>**Differential Diagnoses:** Possible conditions include hypertrophic cardiomyopathy, heart failure, electrolyte imbalances due to seizures, and unexplained T wave inversion.</a:t>
            </a:r>
            <a:endParaRPr sz="5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5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500">
                <a:solidFill>
                  <a:schemeClr val="dk1"/>
                </a:solidFill>
                <a:latin typeface="Courier New"/>
                <a:ea typeface="Courier New"/>
                <a:cs typeface="Courier New"/>
                <a:sym typeface="Courier New"/>
              </a:rPr>
              <a:t>**Additional Information Needed:** Detailed medical history beyond 1990, results of the ECG used for T wave inversion evaluation, cause of death findings, and updated vital signs.</a:t>
            </a:r>
            <a:endParaRPr sz="5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500">
                <a:solidFill>
                  <a:schemeClr val="dk1"/>
                </a:solidFill>
                <a:latin typeface="Courier New"/>
                <a:ea typeface="Courier New"/>
                <a:cs typeface="Courier New"/>
                <a:sym typeface="Courier New"/>
              </a:rPr>
              <a:t>--------------------------------------------------------------------------------</a:t>
            </a:r>
            <a:endParaRPr sz="5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5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500">
                <a:solidFill>
                  <a:schemeClr val="dk1"/>
                </a:solidFill>
                <a:latin typeface="Courier New"/>
                <a:ea typeface="Courier New"/>
                <a:cs typeface="Courier New"/>
                <a:sym typeface="Courier New"/>
              </a:rPr>
              <a:t>Triage Classification: IMMEDIATE</a:t>
            </a:r>
            <a:endParaRPr sz="500">
              <a:solidFill>
                <a:schemeClr val="dk1"/>
              </a:solidFill>
              <a:latin typeface="Courier New"/>
              <a:ea typeface="Courier New"/>
              <a:cs typeface="Courier New"/>
              <a:sym typeface="Courier New"/>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53"/>
          <p:cNvSpPr txBox="1"/>
          <p:nvPr>
            <p:ph type="title"/>
          </p:nvPr>
        </p:nvSpPr>
        <p:spPr>
          <a:xfrm>
            <a:off x="311700" y="555600"/>
            <a:ext cx="83802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Deepseek R1 Triage Classification: Semi-Serious Case</a:t>
            </a:r>
            <a:endParaRPr/>
          </a:p>
        </p:txBody>
      </p:sp>
      <p:sp>
        <p:nvSpPr>
          <p:cNvPr id="343" name="Google Shape;343;p53"/>
          <p:cNvSpPr txBox="1"/>
          <p:nvPr>
            <p:ph idx="1" type="body"/>
          </p:nvPr>
        </p:nvSpPr>
        <p:spPr>
          <a:xfrm>
            <a:off x="311700" y="1389600"/>
            <a:ext cx="8253000" cy="3179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275"/>
              <a:buNone/>
            </a:pPr>
            <a:r>
              <a:rPr lang="en" sz="400">
                <a:solidFill>
                  <a:schemeClr val="dk1"/>
                </a:solidFill>
                <a:latin typeface="Courier New"/>
                <a:ea typeface="Courier New"/>
                <a:cs typeface="Courier New"/>
                <a:sym typeface="Courier New"/>
              </a:rPr>
              <a:t>Calling Deepseek for triage classification...</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400">
                <a:solidFill>
                  <a:schemeClr val="dk1"/>
                </a:solidFill>
                <a:latin typeface="Courier New"/>
                <a:ea typeface="Courier New"/>
                <a:cs typeface="Courier New"/>
                <a:sym typeface="Courier New"/>
              </a:rPr>
              <a:t>Deepseek response:</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400">
                <a:solidFill>
                  <a:schemeClr val="dk1"/>
                </a:solidFill>
                <a:latin typeface="Courier New"/>
                <a:ea typeface="Courier New"/>
                <a:cs typeface="Courier New"/>
                <a:sym typeface="Courier New"/>
              </a:rPr>
              <a:t>--------------------------------------------------------------------------------</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400">
                <a:solidFill>
                  <a:schemeClr val="dk1"/>
                </a:solidFill>
                <a:latin typeface="Courier New"/>
                <a:ea typeface="Courier New"/>
                <a:cs typeface="Courier New"/>
                <a:sym typeface="Courier New"/>
              </a:rPr>
              <a:t>&lt;think&gt;</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400">
                <a:solidFill>
                  <a:schemeClr val="dk1"/>
                </a:solidFill>
                <a:latin typeface="Courier New"/>
                <a:ea typeface="Courier New"/>
                <a:cs typeface="Courier New"/>
                <a:sym typeface="Courier New"/>
              </a:rPr>
              <a:t>Alright, so I'm trying to figure out this patient's triage level. Let me start by going through all the provided data step by step.</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400">
                <a:solidFill>
                  <a:schemeClr val="dk1"/>
                </a:solidFill>
                <a:latin typeface="Courier New"/>
                <a:ea typeface="Courier New"/>
                <a:cs typeface="Courier New"/>
                <a:sym typeface="Courier New"/>
              </a:rPr>
              <a:t>First, looking at the demographics: 109 years old, male, non-Hispanic, married. Seems like a senior living situation.</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400">
                <a:solidFill>
                  <a:schemeClr val="dk1"/>
                </a:solidFill>
                <a:latin typeface="Courier New"/>
                <a:ea typeface="Courier New"/>
                <a:cs typeface="Courier New"/>
                <a:sym typeface="Courier New"/>
              </a:rPr>
              <a:t>Now, onto vital signs—there are no recent readings listed. That’s unusual because for someone that old, regular monitoring is standard. Without vital signs, I wonder if there's any underlying issue that could be causing concern indirectly.</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400">
                <a:solidFill>
                  <a:schemeClr val="dk1"/>
                </a:solidFill>
                <a:latin typeface="Courier New"/>
                <a:ea typeface="Courier New"/>
                <a:cs typeface="Courier New"/>
                <a:sym typeface="Courier New"/>
              </a:rPr>
              <a:t>Moving on to chronic health conditions. There's a lot here: Osteoporosis and Alzheimer's disease both since 2006, which dates back to at least 15 years ago. Also, hypertension is noted since 1934. So, multiple chronic conditions over the years. That could be contributing to their current state.</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400">
                <a:solidFill>
                  <a:schemeClr val="dk1"/>
                </a:solidFill>
                <a:latin typeface="Courier New"/>
                <a:ea typeface="Courier New"/>
                <a:cs typeface="Courier New"/>
                <a:sym typeface="Courier New"/>
              </a:rPr>
              <a:t>Looking at recent health conditions—acute bacterial sinusitis from August 8, 2011, to September 26, 2011. That's about two months. The most recent visit was in January 2012 for a wellness check that resulted in death certification due to Alzheimer's.</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400">
                <a:solidFill>
                  <a:schemeClr val="dk1"/>
                </a:solidFill>
                <a:latin typeface="Courier New"/>
                <a:ea typeface="Courier New"/>
                <a:cs typeface="Courier New"/>
                <a:sym typeface="Courier New"/>
              </a:rPr>
              <a:t>The medications include warfarin, digoxin, verapamil, blood pressure meds, anti-ALzheimer's drugs like memantine and Alendronic acid, Leuprolide acetate, and Taxel. The last visit was in January 2012 with no hospitalization or recent procedures.</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400">
                <a:solidFill>
                  <a:schemeClr val="dk1"/>
                </a:solidFill>
                <a:latin typeface="Courier New"/>
                <a:ea typeface="Courier New"/>
                <a:cs typeface="Courier New"/>
                <a:sym typeface="Courier New"/>
              </a:rPr>
              <a:t>Allergies are clear—none noted. No recent tests either. So, the main issue seems to be related to their chronic conditions, specifically Alzheimer's disease.</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400">
                <a:solidFill>
                  <a:schemeClr val="dk1"/>
                </a:solidFill>
                <a:latin typeface="Courier New"/>
                <a:ea typeface="Courier New"/>
                <a:cs typeface="Courier New"/>
                <a:sym typeface="Courier New"/>
              </a:rPr>
              <a:t>Considering triage categories:</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400">
                <a:solidFill>
                  <a:schemeClr val="dk1"/>
                </a:solidFill>
                <a:latin typeface="Courier New"/>
                <a:ea typeface="Courier New"/>
                <a:cs typeface="Courier New"/>
                <a:sym typeface="Courier New"/>
              </a:rPr>
              <a:t>1. IMMEDIATE: Life-threatening. The patient is 109 and has multiple chronic issues, but no immediate symptoms like heart failure or sepsis.</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400">
                <a:solidFill>
                  <a:schemeClr val="dk1"/>
                </a:solidFill>
                <a:latin typeface="Courier New"/>
                <a:ea typeface="Courier New"/>
                <a:cs typeface="Courier New"/>
                <a:sym typeface="Courier New"/>
              </a:rPr>
              <a:t>2. EMERGENT: Potentially life-threatening. Still doesn't look like it; though Alzheimer's can be debilitating.</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400">
                <a:solidFill>
                  <a:schemeClr val="dk1"/>
                </a:solidFill>
                <a:latin typeface="Courier New"/>
                <a:ea typeface="Courier New"/>
                <a:cs typeface="Courier New"/>
                <a:sym typeface="Courier New"/>
              </a:rPr>
              <a:t>3. URGENT: Serious condition needing attention within hours. No signs of severe distress in the data provided. They were certified for death due to Alzheimer's, but that was a previous event.</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400">
                <a:solidFill>
                  <a:schemeClr val="dk1"/>
                </a:solidFill>
                <a:latin typeface="Courier New"/>
                <a:ea typeface="Courier New"/>
                <a:cs typeface="Courier New"/>
                <a:sym typeface="Courier New"/>
              </a:rPr>
              <a:t>4. SEMI-URGENT: Condition requiring medical attention but not immediately life-threatening. Given their age and multiple chronic issues, this seems fitting if there are no new acute symptoms.</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400">
                <a:solidFill>
                  <a:schemeClr val="dk1"/>
                </a:solidFill>
                <a:latin typeface="Courier New"/>
                <a:ea typeface="Courier New"/>
                <a:cs typeface="Courier New"/>
                <a:sym typeface="Courier New"/>
              </a:rPr>
              <a:t>5. NON-URGENT: Minor condition treatable in primary care. But with chronic issues present, it's more than a minor condition.</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400">
                <a:solidFill>
                  <a:schemeClr val="dk1"/>
                </a:solidFill>
                <a:latin typeface="Courier New"/>
                <a:ea typeface="Courier New"/>
                <a:cs typeface="Courier New"/>
                <a:sym typeface="Courier New"/>
              </a:rPr>
              <a:t>The patient is 109; without recent vital signs, maybe something underlying is wrong, but the data doesn't show any immediate red flags like hypotension or tachycardia. The most pressing issue was the death certification from Alzheimer's in 2012, which might indicate a significant decline.</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400">
                <a:solidFill>
                  <a:schemeClr val="dk1"/>
                </a:solidFill>
                <a:latin typeface="Courier New"/>
                <a:ea typeface="Courier New"/>
                <a:cs typeface="Courier New"/>
                <a:sym typeface="Courier New"/>
              </a:rPr>
              <a:t>So, I'm leaning towards SEMI-URGENT because they have multiple chronic conditions that could lead to severe issues if not managed, but there's no immediate indication of needing emergency attention beyond what primary care can offer. They are at high risk for complications from their hypertension, stroke history, and chronic kidney disease (from the medications like Warfarin), which could be monitored more closely.</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400">
                <a:solidFill>
                  <a:schemeClr val="dk1"/>
                </a:solidFill>
                <a:latin typeface="Courier New"/>
                <a:ea typeface="Courier New"/>
                <a:cs typeface="Courier New"/>
                <a:sym typeface="Courier New"/>
              </a:rPr>
              <a:t>Possible differentials: Could it be something like chronic kidney disease progressing due to hypertension or kidney stones? Or maybe a decline in cognitive status leading to other complications. But without acute symptoms, focusing on managing existing conditions is probably best.</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400">
                <a:solidFill>
                  <a:schemeClr val="dk1"/>
                </a:solidFill>
                <a:latin typeface="Courier New"/>
                <a:ea typeface="Courier New"/>
                <a:cs typeface="Courier New"/>
                <a:sym typeface="Courier New"/>
              </a:rPr>
              <a:t>&lt;/think&gt;</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400">
                <a:solidFill>
                  <a:schemeClr val="dk1"/>
                </a:solidFill>
                <a:latin typeface="Courier New"/>
                <a:ea typeface="Courier New"/>
                <a:cs typeface="Courier New"/>
                <a:sym typeface="Courier New"/>
              </a:rPr>
              <a:t>** TRIAGE CATEGORY: Semi-Urgent (GREEN) **</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400">
                <a:solidFill>
                  <a:schemeClr val="dk1"/>
                </a:solidFill>
                <a:latin typeface="Courier New"/>
                <a:ea typeface="Courier New"/>
                <a:cs typeface="Courier New"/>
                <a:sym typeface="Courier New"/>
              </a:rPr>
              <a:t>**CLINICAL RATIONALE:** The patient is 109 years old with chronic conditions including hypertension and a history of multiple chronic diseases since the early 2000s. The most recent event was death certification due to Alzheimer's, indicating significant decline but not immediate life-threatening need beyond what primary care can manage.</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400">
                <a:solidFill>
                  <a:schemeClr val="dk1"/>
                </a:solidFill>
                <a:latin typeface="Courier New"/>
                <a:ea typeface="Courier New"/>
                <a:cs typeface="Courier New"/>
                <a:sym typeface="Courier New"/>
              </a:rPr>
              <a:t>**CONCERNING FINDINGS:** Multiple chronic conditions (Alzheimer's, hypertension) with no recent vital signs, suggesting potential for underlying issues needing monitoring.</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400">
                <a:solidFill>
                  <a:schemeClr val="dk1"/>
                </a:solidFill>
                <a:latin typeface="Courier New"/>
                <a:ea typeface="Courier New"/>
                <a:cs typeface="Courier New"/>
                <a:sym typeface="Courier New"/>
              </a:rPr>
              <a:t>**WARNING SIGNS:** High risk of complications from hypertension and chronic kidney disease; need to monitor for cognitive decline affecting independence.</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400">
                <a:solidFill>
                  <a:schemeClr val="dk1"/>
                </a:solidFill>
                <a:latin typeface="Courier New"/>
                <a:ea typeface="Courier New"/>
                <a:cs typeface="Courier New"/>
                <a:sym typeface="Courier New"/>
              </a:rPr>
              <a:t>**NEXT STEPS:** Evaluate for potential chronic disease management needs, consider cognitive screening, and ensure follow-up on cardiovascular risks.</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400">
                <a:solidFill>
                  <a:schemeClr val="dk1"/>
                </a:solidFill>
                <a:latin typeface="Courier New"/>
                <a:ea typeface="Courier New"/>
                <a:cs typeface="Courier New"/>
                <a:sym typeface="Courier New"/>
              </a:rPr>
              <a:t>**DIFFERENTIAL DIAGNOSES:** Consider chronic kidney disease progressing or hypertension-related issues. Monitor for comorbidities like stroke risk.</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400">
                <a:solidFill>
                  <a:schemeClr val="dk1"/>
                </a:solidFill>
                <a:latin typeface="Courier New"/>
                <a:ea typeface="Courier New"/>
                <a:cs typeface="Courier New"/>
                <a:sym typeface="Courier New"/>
              </a:rPr>
              <a:t>**ADDITIONAL INFO NEEDED:** Regular monitoring of vital signs to assess for severe complications from existing conditions.</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400">
                <a:solidFill>
                  <a:schemeClr val="dk1"/>
                </a:solidFill>
                <a:latin typeface="Courier New"/>
                <a:ea typeface="Courier New"/>
                <a:cs typeface="Courier New"/>
                <a:sym typeface="Courier New"/>
              </a:rPr>
              <a:t>--------------------------------------------------------------------------------</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t/>
            </a:r>
            <a:endParaRPr sz="400">
              <a:solidFill>
                <a:schemeClr val="dk1"/>
              </a:solidFill>
              <a:latin typeface="Courier New"/>
              <a:ea typeface="Courier New"/>
              <a:cs typeface="Courier New"/>
              <a:sym typeface="Courier New"/>
            </a:endParaRPr>
          </a:p>
          <a:p>
            <a:pPr indent="0" lvl="0" marL="0" rtl="0" algn="l">
              <a:lnSpc>
                <a:spcPct val="95000"/>
              </a:lnSpc>
              <a:spcBef>
                <a:spcPts val="0"/>
              </a:spcBef>
              <a:spcAft>
                <a:spcPts val="0"/>
              </a:spcAft>
              <a:buSzPts val="275"/>
              <a:buNone/>
            </a:pPr>
            <a:r>
              <a:rPr lang="en" sz="400">
                <a:solidFill>
                  <a:schemeClr val="dk1"/>
                </a:solidFill>
                <a:latin typeface="Courier New"/>
                <a:ea typeface="Courier New"/>
                <a:cs typeface="Courier New"/>
                <a:sym typeface="Courier New"/>
              </a:rPr>
              <a:t>Triage Classification: SEMI-URGENT</a:t>
            </a:r>
            <a:endParaRPr sz="400">
              <a:solidFill>
                <a:schemeClr val="dk1"/>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a:t>
            </a:r>
            <a:endParaRPr/>
          </a:p>
        </p:txBody>
      </p:sp>
      <p:sp>
        <p:nvSpPr>
          <p:cNvPr id="349" name="Google Shape;349;p5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sz="1100">
                <a:solidFill>
                  <a:srgbClr val="000000"/>
                </a:solidFill>
                <a:latin typeface="Arial"/>
                <a:ea typeface="Arial"/>
                <a:cs typeface="Arial"/>
                <a:sym typeface="Arial"/>
              </a:rPr>
              <a:t>Large Language Models (LLMs) show significant promise for improving </a:t>
            </a:r>
            <a:r>
              <a:rPr b="1" lang="en" sz="1100">
                <a:solidFill>
                  <a:srgbClr val="000000"/>
                </a:solidFill>
                <a:latin typeface="Arial"/>
                <a:ea typeface="Arial"/>
                <a:cs typeface="Arial"/>
                <a:sym typeface="Arial"/>
              </a:rPr>
              <a:t>medical communication, summarization, and decision support</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They can </a:t>
            </a:r>
            <a:r>
              <a:rPr b="1" lang="en" sz="1100">
                <a:solidFill>
                  <a:srgbClr val="000000"/>
                </a:solidFill>
                <a:latin typeface="Arial"/>
                <a:ea typeface="Arial"/>
                <a:cs typeface="Arial"/>
                <a:sym typeface="Arial"/>
              </a:rPr>
              <a:t>interpret and simplify complex clinical cases</a:t>
            </a:r>
            <a:r>
              <a:rPr lang="en" sz="1100">
                <a:solidFill>
                  <a:srgbClr val="000000"/>
                </a:solidFill>
                <a:latin typeface="Arial"/>
                <a:ea typeface="Arial"/>
                <a:cs typeface="Arial"/>
                <a:sym typeface="Arial"/>
              </a:rPr>
              <a:t>, enabling more accessible documentation and communication across care teams.</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LLMs excel at generating structured outputs from </a:t>
            </a:r>
            <a:r>
              <a:rPr b="1" lang="en" sz="1100">
                <a:solidFill>
                  <a:srgbClr val="000000"/>
                </a:solidFill>
                <a:latin typeface="Arial"/>
                <a:ea typeface="Arial"/>
                <a:cs typeface="Arial"/>
                <a:sym typeface="Arial"/>
              </a:rPr>
              <a:t>unstructured plain text data</a:t>
            </a:r>
            <a:r>
              <a:rPr lang="en" sz="1100">
                <a:solidFill>
                  <a:srgbClr val="000000"/>
                </a:solidFill>
                <a:latin typeface="Arial"/>
                <a:ea typeface="Arial"/>
                <a:cs typeface="Arial"/>
                <a:sym typeface="Arial"/>
              </a:rPr>
              <a:t>, making them ideal for use cases like </a:t>
            </a:r>
            <a:r>
              <a:rPr b="1" lang="en" sz="1100">
                <a:solidFill>
                  <a:srgbClr val="000000"/>
                </a:solidFill>
                <a:latin typeface="Arial"/>
                <a:ea typeface="Arial"/>
                <a:cs typeface="Arial"/>
                <a:sym typeface="Arial"/>
              </a:rPr>
              <a:t>triage, classification, and clinical prioritization</a:t>
            </a:r>
            <a:r>
              <a:rPr lang="en" sz="1100">
                <a:solidFill>
                  <a:srgbClr val="000000"/>
                </a:solidFill>
                <a:latin typeface="Arial"/>
                <a:ea typeface="Arial"/>
                <a:cs typeface="Arial"/>
                <a:sym typeface="Arial"/>
              </a:rPr>
              <a:t>.</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By adapting to diverse input types and clinical contexts, LLMs support more dynamic, responsive decision-making in real-world healthcare workflows.</a:t>
            </a: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This work demonstrates their potential as foundational tools in next-generation clinical systems.</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